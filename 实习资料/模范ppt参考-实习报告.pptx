
<file path=[Content_Types].xml><?xml version="1.0" encoding="utf-8"?>
<Types xmlns="http://schemas.openxmlformats.org/package/2006/content-types">
  <Default Extension="xml" ContentType="application/xml"/>
  <Default Extension="xlsx" ContentType="application/vnd.openxmlformats-officedocument.spreadsheetml.sheet"/>
  <Default Extension="png" ContentType="image/png"/>
  <Default Extension="jpeg" ContentType="image/jpeg"/>
  <Default Extension="JPG" ContentType="image/.jpg"/>
  <Default Extension="wdp" ContentType="image/vnd.ms-photo"/>
  <Default Extension="rels" ContentType="application/vnd.openxmlformats-package.relationships+xml"/>
  <Override PartName="/customXml/itemProps202.xml" ContentType="application/vnd.openxmlformats-officedocument.customXmlProperties+xml"/>
  <Override PartName="/customXml/itemProps203.xml" ContentType="application/vnd.openxmlformats-officedocument.customXmlProperties+xml"/>
  <Override PartName="/customXml/itemProps204.xml" ContentType="application/vnd.openxmlformats-officedocument.customXmlProperties+xml"/>
  <Override PartName="/customXml/itemProps205.xml" ContentType="application/vnd.openxmlformats-officedocument.customXmlProperties+xml"/>
  <Override PartName="/customXml/itemProps206.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ommentAuthors.xml" ContentType="application/vnd.openxmlformats-officedocument.presentationml.commentAuthors+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2.svg" ContentType="image/svg+xml"/>
  <Override PartName="/ppt/media/image44.svg" ContentType="image/svg+xml"/>
  <Override PartName="/ppt/media/image49.svg" ContentType="image/svg+xml"/>
  <Override PartName="/ppt/media/image5.svg" ContentType="image/svg+xml"/>
  <Override PartName="/ppt/media/image51.svg" ContentType="image/svg+xml"/>
  <Override PartName="/ppt/media/image53.svg" ContentType="image/svg+xml"/>
  <Override PartName="/ppt/media/image63.svg" ContentType="image/svg+xml"/>
  <Override PartName="/ppt/media/image66.svg" ContentType="image/svg+xml"/>
  <Override PartName="/ppt/media/image7.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1.svg" ContentType="image/svg+xml"/>
  <Override PartName="/ppt/media/image9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7.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4" r:id="rId4"/>
    <p:sldMasterId id="2147483666" r:id="rId5"/>
    <p:sldMasterId id="2147483668" r:id="rId6"/>
    <p:sldMasterId id="2147483670" r:id="rId7"/>
    <p:sldMasterId id="2147483672" r:id="rId8"/>
    <p:sldMasterId id="2147483676" r:id="rId9"/>
    <p:sldMasterId id="2147483680" r:id="rId10"/>
  </p:sldMasterIdLst>
  <p:notesMasterIdLst>
    <p:notesMasterId r:id="rId12"/>
  </p:notesMasterIdLst>
  <p:sldIdLst>
    <p:sldId id="256" r:id="rId11"/>
    <p:sldId id="257" r:id="rId13"/>
    <p:sldId id="277" r:id="rId14"/>
    <p:sldId id="258" r:id="rId15"/>
    <p:sldId id="259" r:id="rId16"/>
    <p:sldId id="271" r:id="rId17"/>
    <p:sldId id="260" r:id="rId18"/>
    <p:sldId id="278" r:id="rId19"/>
    <p:sldId id="261" r:id="rId20"/>
    <p:sldId id="262" r:id="rId21"/>
    <p:sldId id="263" r:id="rId22"/>
    <p:sldId id="264" r:id="rId23"/>
    <p:sldId id="265" r:id="rId24"/>
    <p:sldId id="300" r:id="rId25"/>
    <p:sldId id="279" r:id="rId26"/>
    <p:sldId id="266" r:id="rId27"/>
    <p:sldId id="273" r:id="rId28"/>
    <p:sldId id="274" r:id="rId29"/>
    <p:sldId id="275" r:id="rId30"/>
    <p:sldId id="280" r:id="rId31"/>
    <p:sldId id="267" r:id="rId32"/>
    <p:sldId id="282" r:id="rId33"/>
    <p:sldId id="281" r:id="rId34"/>
    <p:sldId id="268" r:id="rId35"/>
    <p:sldId id="269" r:id="rId36"/>
    <p:sldId id="302" r:id="rId37"/>
    <p:sldId id="303" r:id="rId38"/>
  </p:sldIdLst>
  <p:sldSz cx="12192000" cy="6858000"/>
  <p:notesSz cx="6858000" cy="9144000"/>
  <p:custDataLst>
    <p:tags r:id="rId49"/>
  </p:custDataLst>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758" userDrawn="1">
          <p15:clr>
            <a:srgbClr val="747775"/>
          </p15:clr>
        </p15:guide>
        <p15:guide id="2" pos="2872"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靳敬东" initials="靳敬东" lastIdx="0" clrIdx="0"/>
  <p:cmAuthor id="2" name="Chi Shawn" initials="CS" lastIdx="0" clrIdx="1"/>
  <p:cmAuthor id="3" name="DS-调研4楼" initials="D" lastIdx="0"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758"/>
        <p:guide pos="2872"/>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9" Type="http://schemas.openxmlformats.org/officeDocument/2006/relationships/tags" Target="tags/tag207.xml"/><Relationship Id="rId48" Type="http://schemas.openxmlformats.org/officeDocument/2006/relationships/customXml" Target="../customXml/item5.xml"/><Relationship Id="rId47" Type="http://schemas.openxmlformats.org/officeDocument/2006/relationships/customXml" Target="../customXml/item4.xml"/><Relationship Id="rId46" Type="http://schemas.openxmlformats.org/officeDocument/2006/relationships/customXml" Target="../customXml/item3.xml"/><Relationship Id="rId45" Type="http://schemas.openxmlformats.org/officeDocument/2006/relationships/customXml" Target="../customXml/item2.xml"/><Relationship Id="rId44" Type="http://schemas.openxmlformats.org/officeDocument/2006/relationships/customXml" Target="../customXml/item1.xml"/><Relationship Id="rId43" Type="http://schemas.openxmlformats.org/officeDocument/2006/relationships/customXmlProps" Target="../customXml/itemProps202.xml"/><Relationship Id="rId42" Type="http://schemas.openxmlformats.org/officeDocument/2006/relationships/commentAuthors" Target="commentAuthors.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Master" Target="slideMasters/slideMaster3.xml"/><Relationship Id="rId39" Type="http://schemas.openxmlformats.org/officeDocument/2006/relationships/presProps" Target="presProps.xml"/><Relationship Id="rId38" Type="http://schemas.openxmlformats.org/officeDocument/2006/relationships/slide" Target="slides/slide27.xml"/><Relationship Id="rId37" Type="http://schemas.openxmlformats.org/officeDocument/2006/relationships/slide" Target="slides/slide26.xml"/><Relationship Id="rId36" Type="http://schemas.openxmlformats.org/officeDocument/2006/relationships/slide" Target="slides/slide25.xml"/><Relationship Id="rId35" Type="http://schemas.openxmlformats.org/officeDocument/2006/relationships/slide" Target="slides/slide24.xml"/><Relationship Id="rId34" Type="http://schemas.openxmlformats.org/officeDocument/2006/relationships/slide" Target="slides/slide23.xml"/><Relationship Id="rId33" Type="http://schemas.openxmlformats.org/officeDocument/2006/relationships/slide" Target="slides/slide22.xml"/><Relationship Id="rId32" Type="http://schemas.openxmlformats.org/officeDocument/2006/relationships/slide" Target="slides/slide21.xml"/><Relationship Id="rId31" Type="http://schemas.openxmlformats.org/officeDocument/2006/relationships/slide" Target="slides/slide20.xml"/><Relationship Id="rId30" Type="http://schemas.openxmlformats.org/officeDocument/2006/relationships/slide" Target="slides/slide19.xml"/><Relationship Id="rId3" Type="http://schemas.openxmlformats.org/officeDocument/2006/relationships/slideMaster" Target="slideMasters/slideMaster2.xml"/><Relationship Id="rId29" Type="http://schemas.openxmlformats.org/officeDocument/2006/relationships/slide" Target="slides/slide18.xml"/><Relationship Id="rId28" Type="http://schemas.openxmlformats.org/officeDocument/2006/relationships/slide" Target="slides/slide17.xml"/><Relationship Id="rId27" Type="http://schemas.openxmlformats.org/officeDocument/2006/relationships/slide" Target="slides/slide16.xml"/><Relationship Id="rId26" Type="http://schemas.openxmlformats.org/officeDocument/2006/relationships/slide" Target="slides/slide15.xml"/><Relationship Id="rId25" Type="http://schemas.openxmlformats.org/officeDocument/2006/relationships/slide" Target="slides/slide14.xml"/><Relationship Id="rId24" Type="http://schemas.openxmlformats.org/officeDocument/2006/relationships/slide" Target="slides/slide13.xml"/><Relationship Id="rId23" Type="http://schemas.openxmlformats.org/officeDocument/2006/relationships/slide" Target="slides/slide12.xml"/><Relationship Id="rId22" Type="http://schemas.openxmlformats.org/officeDocument/2006/relationships/slide" Target="slides/slide11.xml"/><Relationship Id="rId21" Type="http://schemas.openxmlformats.org/officeDocument/2006/relationships/slide" Target="slides/slide10.xml"/><Relationship Id="rId20" Type="http://schemas.openxmlformats.org/officeDocument/2006/relationships/slide" Target="slides/slide9.xml"/><Relationship Id="rId2" Type="http://schemas.openxmlformats.org/officeDocument/2006/relationships/theme" Target="theme/theme1.xml"/><Relationship Id="rId19" Type="http://schemas.openxmlformats.org/officeDocument/2006/relationships/slide" Target="slides/slide8.xml"/><Relationship Id="rId18" Type="http://schemas.openxmlformats.org/officeDocument/2006/relationships/slide" Target="slides/slide7.xml"/><Relationship Id="rId17" Type="http://schemas.openxmlformats.org/officeDocument/2006/relationships/slide" Target="slides/slide6.xml"/><Relationship Id="rId16" Type="http://schemas.openxmlformats.org/officeDocument/2006/relationships/slide" Target="slides/slide5.xml"/><Relationship Id="rId15" Type="http://schemas.openxmlformats.org/officeDocument/2006/relationships/slide" Target="slides/slide4.xml"/><Relationship Id="rId14" Type="http://schemas.openxmlformats.org/officeDocument/2006/relationships/slide" Target="slides/slide3.xml"/><Relationship Id="rId13" Type="http://schemas.openxmlformats.org/officeDocument/2006/relationships/slide" Target="slides/slide2.xml"/><Relationship Id="rId12" Type="http://schemas.openxmlformats.org/officeDocument/2006/relationships/notesMaster" Target="notesMasters/notesMaster1.xml"/><Relationship Id="rId11" Type="http://schemas.openxmlformats.org/officeDocument/2006/relationships/slide" Target="slides/slide1.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image" Target="../media/image61.png"/><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sz="1800"/>
              <a:t>成长曲线</a:t>
            </a:r>
            <a:endParaRPr sz="1800"/>
          </a:p>
        </c:rich>
      </c:tx>
      <c:layout/>
      <c:overlay val="0"/>
      <c:spPr>
        <a:noFill/>
        <a:ln>
          <a:noFill/>
        </a:ln>
        <a:effectLst/>
      </c:spPr>
    </c:title>
    <c:autoTitleDeleted val="0"/>
    <c:plotArea>
      <c:layout/>
      <c:lineChart>
        <c:grouping val="standard"/>
        <c:varyColors val="0"/>
        <c:ser>
          <c:idx val="0"/>
          <c:order val="0"/>
          <c:tx>
            <c:strRef>
              <c:f>Sheet1!$B$1</c:f>
              <c:strCache>
                <c:ptCount val="1"/>
                <c:pt idx="0">
                  <c:v>适应上手程度</c:v>
                </c:pt>
              </c:strCache>
            </c:strRef>
          </c:tx>
          <c:spPr>
            <a:ln w="28575" cap="rnd">
              <a:solidFill>
                <a:schemeClr val="accent1"/>
              </a:solidFill>
              <a:round/>
            </a:ln>
            <a:effectLst/>
          </c:spPr>
          <c:marker>
            <c:symbol val="none"/>
          </c:marker>
          <c:dLbls>
            <c:delete val="1"/>
          </c:dLbls>
          <c:cat>
            <c:strRef>
              <c:f>Sheet1!$A$2:$A$5</c:f>
              <c:strCache>
                <c:ptCount val="4"/>
                <c:pt idx="0">
                  <c:v>W1入场</c:v>
                </c:pt>
                <c:pt idx="1">
                  <c:v>W2Teamgo+视频制作</c:v>
                </c:pt>
                <c:pt idx="2">
                  <c:v>W3V6+Teamgo</c:v>
                </c:pt>
                <c:pt idx="3">
                  <c:v>W4BOM调研+复盘</c:v>
                </c:pt>
              </c:strCache>
            </c:strRef>
          </c:cat>
          <c:val>
            <c:numRef>
              <c:f>Sheet1!$B$2:$B$5</c:f>
              <c:numCache>
                <c:formatCode>General</c:formatCode>
                <c:ptCount val="4"/>
                <c:pt idx="0">
                  <c:v>0.5</c:v>
                </c:pt>
                <c:pt idx="1">
                  <c:v>1</c:v>
                </c:pt>
                <c:pt idx="2">
                  <c:v>2.5</c:v>
                </c:pt>
                <c:pt idx="3">
                  <c:v>3</c:v>
                </c:pt>
              </c:numCache>
            </c:numRef>
          </c:val>
          <c:smooth val="0"/>
        </c:ser>
        <c:ser>
          <c:idx val="3"/>
          <c:order val="1"/>
          <c:tx>
            <c:strRef>
              <c:f>"W3BOM调研+复盘"</c:f>
              <c:strCache>
                <c:ptCount val="1"/>
                <c:pt idx="0">
                  <c:v>W3BOM调研+复盘</c:v>
                </c:pt>
              </c:strCache>
            </c:strRef>
          </c:tx>
          <c:spPr>
            <a:ln w="28575" cap="rnd">
              <a:solidFill>
                <a:schemeClr val="accent4"/>
              </a:solidFill>
              <a:round/>
            </a:ln>
            <a:effectLst/>
          </c:spPr>
          <c:marker>
            <c:symbol val="none"/>
          </c:marker>
          <c:dLbls>
            <c:delete val="1"/>
          </c:dLbls>
          <c:cat>
            <c:strRef>
              <c:f>Sheet1!$A$2:$A$5</c:f>
              <c:strCache>
                <c:ptCount val="4"/>
                <c:pt idx="0">
                  <c:v>W1入场</c:v>
                </c:pt>
                <c:pt idx="1">
                  <c:v>W2Teamgo+视频制作</c:v>
                </c:pt>
                <c:pt idx="2">
                  <c:v>W3V6+Teamgo</c:v>
                </c:pt>
                <c:pt idx="3">
                  <c:v>W4BOM调研+复盘</c:v>
                </c:pt>
              </c:strCache>
            </c:strRef>
          </c:cat>
          <c:val>
            <c:numRef>
              <c:f>{1}</c:f>
              <c:numCache>
                <c:formatCode>General</c:formatCode>
                <c:ptCount val="1"/>
                <c:pt idx="0">
                  <c:v>1</c:v>
                </c:pt>
              </c:numCache>
            </c:numRef>
          </c:val>
          <c:smooth val="0"/>
        </c:ser>
        <c:dLbls>
          <c:showLegendKey val="0"/>
          <c:showVal val="0"/>
          <c:showCatName val="0"/>
          <c:showSerName val="0"/>
          <c:showPercent val="0"/>
          <c:showBubbleSize val="0"/>
        </c:dLbls>
        <c:marker val="0"/>
        <c:smooth val="0"/>
        <c:axId val="238095804"/>
        <c:axId val="45459030"/>
      </c:lineChart>
      <c:catAx>
        <c:axId val="23809580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45459030"/>
        <c:crosses val="autoZero"/>
        <c:auto val="1"/>
        <c:lblAlgn val="ctr"/>
        <c:lblOffset val="100"/>
        <c:noMultiLvlLbl val="0"/>
      </c:catAx>
      <c:valAx>
        <c:axId val="45459030"/>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38095804"/>
        <c:crosses val="autoZero"/>
        <c:crossBetween val="between"/>
      </c:valAx>
      <c:spPr>
        <a:noFill/>
        <a:ln>
          <a:noFill/>
        </a:ln>
        <a:effectLst/>
      </c:spPr>
    </c:plotArea>
    <c:legend>
      <c:legendPos val="b"/>
      <c:legendEntry>
        <c:idx val="1"/>
        <c:delete val="1"/>
      </c:legendEntry>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solidFill>
        <a:schemeClr val="accent1"/>
      </a:solid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en-US" altLang="zh-CN" sz="1600"/>
              <a:t>AI</a:t>
            </a:r>
            <a:r>
              <a:rPr altLang="en-US" sz="1600"/>
              <a:t>应用能力图谱</a:t>
            </a:r>
            <a:endParaRPr altLang="en-US" sz="1600"/>
          </a:p>
        </c:rich>
      </c:tx>
      <c:layout/>
      <c:overlay val="0"/>
      <c:spPr>
        <a:noFill/>
        <a:ln>
          <a:noFill/>
        </a:ln>
        <a:effectLst/>
      </c:spPr>
    </c:title>
    <c:autoTitleDeleted val="0"/>
    <c:plotArea>
      <c:layout/>
      <c:radarChart>
        <c:radarStyle val="marker"/>
        <c:varyColors val="0"/>
        <c:ser>
          <c:idx val="1"/>
          <c:order val="0"/>
          <c:tx>
            <c:strRef>
              <c:f>Sheet1!$C$1</c:f>
              <c:strCache>
                <c:ptCount val="1"/>
                <c:pt idx="0">
                  <c:v>AI应用能力</c:v>
                </c:pt>
              </c:strCache>
            </c:strRef>
          </c:tx>
          <c:spPr>
            <a:ln w="28575" cap="rnd">
              <a:solidFill>
                <a:schemeClr val="accent1">
                  <a:tint val="76667"/>
                </a:schemeClr>
              </a:solidFill>
              <a:round/>
            </a:ln>
            <a:effectLst/>
          </c:spPr>
          <c:marker>
            <c:symbol val="none"/>
          </c:marker>
          <c:dLbls>
            <c:delete val="1"/>
          </c:dLbls>
          <c:cat>
            <c:strRef>
              <c:f>Sheet1!$A$2:$A$6</c:f>
              <c:strCache>
                <c:ptCount val="5"/>
                <c:pt idx="0" c:formatCode="yyyy/m/d">
                  <c:v>AI工作流</c:v>
                </c:pt>
                <c:pt idx="1" c:formatCode="yyyy/m/d">
                  <c:v>资料处理</c:v>
                </c:pt>
                <c:pt idx="2" c:formatCode="yyyy/m/d">
                  <c:v>调研分析</c:v>
                </c:pt>
                <c:pt idx="3" c:formatCode="yyyy/m/d">
                  <c:v>自动化</c:v>
                </c:pt>
                <c:pt idx="4" c:formatCode="yyyy/m/d">
                  <c:v>代码编写</c:v>
                </c:pt>
              </c:strCache>
            </c:strRef>
          </c:cat>
          <c:val>
            <c:numRef>
              <c:f>Sheet1!$C$2:$C$6</c:f>
              <c:numCache>
                <c:formatCode>General</c:formatCode>
                <c:ptCount val="5"/>
                <c:pt idx="0">
                  <c:v>20</c:v>
                </c:pt>
                <c:pt idx="1">
                  <c:v>25</c:v>
                </c:pt>
                <c:pt idx="2">
                  <c:v>15</c:v>
                </c:pt>
                <c:pt idx="3">
                  <c:v>15</c:v>
                </c:pt>
                <c:pt idx="4">
                  <c:v>10</c:v>
                </c:pt>
              </c:numCache>
            </c:numRef>
          </c:val>
        </c:ser>
        <c:dLbls>
          <c:showLegendKey val="0"/>
          <c:showVal val="0"/>
          <c:showCatName val="0"/>
          <c:showSerName val="0"/>
          <c:showPercent val="0"/>
          <c:showBubbleSize val="0"/>
        </c:dLbls>
        <c:axId val="395292010"/>
        <c:axId val="246939532"/>
      </c:radarChart>
      <c:catAx>
        <c:axId val="39529201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246939532"/>
        <c:crosses val="autoZero"/>
        <c:auto val="1"/>
        <c:lblAlgn val="ctr"/>
        <c:lblOffset val="100"/>
        <c:noMultiLvlLbl val="0"/>
      </c:catAx>
      <c:valAx>
        <c:axId val="246939532"/>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395292010"/>
        <c:crosses val="autoZero"/>
        <c:crossBetween val="between"/>
      </c:valAx>
      <c:spPr>
        <a:blipFill rotWithShape="1">
          <a:blip xmlns:r="http://schemas.openxmlformats.org/officeDocument/2006/relationships" r:embed="rId2"/>
          <a:stretch>
            <a:fillRect/>
          </a:stretch>
        </a:blipFill>
        <a:ln>
          <a:noFill/>
        </a:ln>
        <a:effectLst/>
      </c:spPr>
    </c:plotArea>
    <c:legend>
      <c:legendPos val="t"/>
      <c:layou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chart>
  <c:spPr>
    <a:noFill/>
    <a:ln w="6350" cap="flat" cmpd="sng" algn="ctr">
      <a:noFill/>
      <a:round/>
    </a:ln>
    <a:effectLst/>
  </c:spPr>
  <c:txPr>
    <a:bodyPr/>
    <a:lstStyle/>
    <a:p>
      <a:pPr>
        <a:defRPr lang="zh-CN">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沟通能力：实习前</a:t>
            </a:r>
            <a:r>
              <a:rPr lang="en-US" altLang="zh-CN"/>
              <a:t>VS</a:t>
            </a:r>
            <a:r>
              <a:rPr altLang="en-US"/>
              <a:t>实习后</a:t>
            </a:r>
            <a:endParaRPr altLang="en-US"/>
          </a:p>
        </c:rich>
      </c:tx>
      <c:layout>
        <c:manualLayout>
          <c:xMode val="edge"/>
          <c:yMode val="edge"/>
          <c:x val="0.282880879943833"/>
          <c:y val="0.0658212560386473"/>
        </c:manualLayout>
      </c:layout>
      <c:overlay val="0"/>
      <c:spPr>
        <a:noFill/>
        <a:ln>
          <a:noFill/>
        </a:ln>
        <a:effectLst/>
      </c:spPr>
    </c:title>
    <c:autoTitleDeleted val="0"/>
    <c:plotArea>
      <c:layout/>
      <c:barChart>
        <c:barDir val="bar"/>
        <c:grouping val="clustered"/>
        <c:varyColors val="0"/>
        <c:ser>
          <c:idx val="0"/>
          <c:order val="0"/>
          <c:tx>
            <c:strRef>
              <c:f>Sheet1!$B$1</c:f>
              <c:strCache>
                <c:ptCount val="1"/>
                <c:pt idx="0">
                  <c:v>实习前</c:v>
                </c:pt>
              </c:strCache>
            </c:strRef>
          </c:tx>
          <c:spPr>
            <a:solidFill>
              <a:schemeClr val="accent1">
                <a:shade val="76667"/>
              </a:schemeClr>
            </a:solidFill>
            <a:ln>
              <a:noFill/>
            </a:ln>
            <a:effectLst/>
          </c:spPr>
          <c:invertIfNegative val="0"/>
          <c:dLbls>
            <c:delete val="1"/>
          </c:dLbls>
          <c:cat>
            <c:strRef>
              <c:f>Sheet1!$A$2:$A$5</c:f>
              <c:strCache>
                <c:ptCount val="4"/>
                <c:pt idx="0">
                  <c:v>倾听</c:v>
                </c:pt>
                <c:pt idx="1">
                  <c:v>跨公司经验</c:v>
                </c:pt>
                <c:pt idx="2">
                  <c:v>闭环推进</c:v>
                </c:pt>
                <c:pt idx="3">
                  <c:v>纪要留痕</c:v>
                </c:pt>
              </c:strCache>
            </c:strRef>
          </c:cat>
          <c:val>
            <c:numRef>
              <c:f>Sheet1!$B$2:$B$5</c:f>
              <c:numCache>
                <c:formatCode>General</c:formatCode>
                <c:ptCount val="4"/>
                <c:pt idx="0">
                  <c:v>2.4</c:v>
                </c:pt>
                <c:pt idx="1">
                  <c:v>2.5</c:v>
                </c:pt>
                <c:pt idx="2">
                  <c:v>1.5</c:v>
                </c:pt>
                <c:pt idx="3">
                  <c:v>2.5</c:v>
                </c:pt>
              </c:numCache>
            </c:numRef>
          </c:val>
        </c:ser>
        <c:ser>
          <c:idx val="1"/>
          <c:order val="1"/>
          <c:tx>
            <c:strRef>
              <c:f>Sheet1!$C$1</c:f>
              <c:strCache>
                <c:ptCount val="1"/>
                <c:pt idx="0">
                  <c:v>实习后</c:v>
                </c:pt>
              </c:strCache>
            </c:strRef>
          </c:tx>
          <c:spPr>
            <a:solidFill>
              <a:schemeClr val="accent1">
                <a:tint val="76667"/>
              </a:schemeClr>
            </a:solidFill>
            <a:ln>
              <a:noFill/>
            </a:ln>
            <a:effectLst/>
          </c:spPr>
          <c:invertIfNegative val="0"/>
          <c:dLbls>
            <c:delete val="1"/>
          </c:dLbls>
          <c:cat>
            <c:strRef>
              <c:f>Sheet1!$A$2:$A$5</c:f>
              <c:strCache>
                <c:ptCount val="4"/>
                <c:pt idx="0">
                  <c:v>倾听</c:v>
                </c:pt>
                <c:pt idx="1">
                  <c:v>跨公司经验</c:v>
                </c:pt>
                <c:pt idx="2">
                  <c:v>闭环推进</c:v>
                </c:pt>
                <c:pt idx="3">
                  <c:v>纪要留痕</c:v>
                </c:pt>
              </c:strCache>
            </c:strRef>
          </c:cat>
          <c:val>
            <c:numRef>
              <c:f>Sheet1!$C$2:$C$5</c:f>
              <c:numCache>
                <c:formatCode>General</c:formatCode>
                <c:ptCount val="4"/>
                <c:pt idx="0">
                  <c:v>4.3</c:v>
                </c:pt>
                <c:pt idx="1">
                  <c:v>4.4</c:v>
                </c:pt>
                <c:pt idx="2">
                  <c:v>3.8</c:v>
                </c:pt>
                <c:pt idx="3">
                  <c:v>4.5</c:v>
                </c:pt>
              </c:numCache>
            </c:numRef>
          </c:val>
        </c:ser>
        <c:dLbls>
          <c:showLegendKey val="0"/>
          <c:showVal val="0"/>
          <c:showCatName val="0"/>
          <c:showSerName val="0"/>
          <c:showPercent val="0"/>
          <c:showBubbleSize val="0"/>
        </c:dLbls>
        <c:gapWidth val="189"/>
        <c:overlap val="-22"/>
        <c:axId val="894314653"/>
        <c:axId val="124427140"/>
      </c:barChart>
      <c:catAx>
        <c:axId val="894314653"/>
        <c:scaling>
          <c:orientation val="minMax"/>
        </c:scaling>
        <c:delete val="0"/>
        <c:axPos val="l"/>
        <c:numFmt formatCode="General" sourceLinked="1"/>
        <c:majorTickMark val="none"/>
        <c:minorTickMark val="none"/>
        <c:tickLblPos val="nextTo"/>
        <c:spPr>
          <a:noFill/>
          <a:ln w="6350" cap="flat" cmpd="sng" algn="ctr">
            <a:solidFill>
              <a:schemeClr val="tx1">
                <a:lumMod val="50000"/>
                <a:lumOff val="50000"/>
                <a:alpha val="2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124427140"/>
        <c:crosses val="autoZero"/>
        <c:auto val="1"/>
        <c:lblAlgn val="ctr"/>
        <c:lblOffset val="100"/>
        <c:noMultiLvlLbl val="0"/>
      </c:catAx>
      <c:valAx>
        <c:axId val="124427140"/>
        <c:scaling>
          <c:orientation val="minMax"/>
        </c:scaling>
        <c:delete val="0"/>
        <c:axPos val="b"/>
        <c:numFmt formatCode="General"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894314653"/>
        <c:crosses val="autoZero"/>
        <c:crossBetween val="between"/>
      </c:valAx>
      <c:spPr>
        <a:noFill/>
        <a:ln>
          <a:noFill/>
        </a:ln>
        <a:effectLst/>
      </c:spPr>
    </c:plotArea>
    <c:legend>
      <c:legendPos val="t"/>
      <c:layout>
        <c:manualLayout>
          <c:xMode val="edge"/>
          <c:yMode val="edge"/>
          <c:x val="0.393121678303263"/>
          <c:y val="0.154559546717982"/>
        </c:manualLayout>
      </c:layou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chart>
  <c:spPr>
    <a:noFill/>
    <a:ln w="6350" cap="flat" cmpd="sng" algn="ctr">
      <a:noFill/>
      <a:round/>
    </a:ln>
    <a:effectLst>
      <a:outerShdw blurRad="63500" dist="37357" dir="2700000" sx="0" sy="0" rotWithShape="0">
        <a:scrgbClr r="0" g="0" b="0"/>
      </a:outerShdw>
    </a:effectLst>
  </c:spPr>
  <c:txPr>
    <a:bodyPr/>
    <a:lstStyle/>
    <a:p>
      <a:pPr>
        <a:defRPr lang="zh-CN">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实习后能力图谱</a:t>
            </a:r>
          </a:p>
        </c:rich>
      </c:tx>
      <c:layout/>
      <c:overlay val="0"/>
      <c:spPr>
        <a:noFill/>
        <a:ln>
          <a:noFill/>
        </a:ln>
        <a:effectLst/>
      </c:spPr>
    </c:title>
    <c:autoTitleDeleted val="0"/>
    <c:plotArea>
      <c:layout/>
      <c:radarChart>
        <c:radarStyle val="marker"/>
        <c:varyColors val="0"/>
        <c:ser>
          <c:idx val="0"/>
          <c:order val="0"/>
          <c:tx>
            <c:strRef>
              <c:f>Sheet1!$B$1</c:f>
              <c:strCache>
                <c:ptCount val="1"/>
                <c:pt idx="0">
                  <c:v>实习前</c:v>
                </c:pt>
              </c:strCache>
            </c:strRef>
          </c:tx>
          <c:spPr>
            <a:ln w="28575" cap="rnd">
              <a:solidFill>
                <a:schemeClr val="accent1"/>
              </a:solidFill>
              <a:round/>
            </a:ln>
            <a:effectLst/>
          </c:spPr>
          <c:marker>
            <c:symbol val="none"/>
          </c:marker>
          <c:dLbls>
            <c:delete val="1"/>
          </c:dLbls>
          <c:cat>
            <c:strRef>
              <c:f>Sheet1!$A$2:$A$6</c:f>
              <c:strCache>
                <c:ptCount val="5"/>
                <c:pt idx="0" c:formatCode="yyyy/m/d">
                  <c:v>AI应用</c:v>
                </c:pt>
                <c:pt idx="1" c:formatCode="yyyy/m/d">
                  <c:v>跨角色沟通</c:v>
                </c:pt>
                <c:pt idx="2" c:formatCode="yyyy/m/d">
                  <c:v>架构理解</c:v>
                </c:pt>
                <c:pt idx="3" c:formatCode="yyyy/m/d">
                  <c:v>成本意识</c:v>
                </c:pt>
                <c:pt idx="4" c:formatCode="yyyy/m/d">
                  <c:v>工程化</c:v>
                </c:pt>
              </c:strCache>
            </c:strRef>
          </c:cat>
          <c:val>
            <c:numRef>
              <c:f>Sheet1!$B$2:$B$6</c:f>
              <c:numCache>
                <c:formatCode>General</c:formatCode>
                <c:ptCount val="5"/>
                <c:pt idx="0">
                  <c:v>10</c:v>
                </c:pt>
                <c:pt idx="1">
                  <c:v>15</c:v>
                </c:pt>
                <c:pt idx="2">
                  <c:v>10</c:v>
                </c:pt>
                <c:pt idx="3">
                  <c:v>10</c:v>
                </c:pt>
                <c:pt idx="4">
                  <c:v>5</c:v>
                </c:pt>
              </c:numCache>
            </c:numRef>
          </c:val>
        </c:ser>
        <c:ser>
          <c:idx val="1"/>
          <c:order val="1"/>
          <c:tx>
            <c:strRef>
              <c:f>Sheet1!$C$1</c:f>
              <c:strCache>
                <c:ptCount val="1"/>
                <c:pt idx="0">
                  <c:v>实习后</c:v>
                </c:pt>
              </c:strCache>
            </c:strRef>
          </c:tx>
          <c:spPr>
            <a:ln w="28575" cap="rnd">
              <a:solidFill>
                <a:schemeClr val="accent2"/>
              </a:solidFill>
              <a:round/>
            </a:ln>
            <a:effectLst/>
          </c:spPr>
          <c:marker>
            <c:symbol val="none"/>
          </c:marker>
          <c:dLbls>
            <c:delete val="1"/>
          </c:dLbls>
          <c:cat>
            <c:strRef>
              <c:f>Sheet1!$A$2:$A$6</c:f>
              <c:strCache>
                <c:ptCount val="5"/>
                <c:pt idx="0" c:formatCode="yyyy/m/d">
                  <c:v>AI应用</c:v>
                </c:pt>
                <c:pt idx="1" c:formatCode="yyyy/m/d">
                  <c:v>跨角色沟通</c:v>
                </c:pt>
                <c:pt idx="2" c:formatCode="yyyy/m/d">
                  <c:v>架构理解</c:v>
                </c:pt>
                <c:pt idx="3" c:formatCode="yyyy/m/d">
                  <c:v>成本意识</c:v>
                </c:pt>
                <c:pt idx="4" c:formatCode="yyyy/m/d">
                  <c:v>工程化</c:v>
                </c:pt>
              </c:strCache>
            </c:strRef>
          </c:cat>
          <c:val>
            <c:numRef>
              <c:f>Sheet1!$C$2:$C$6</c:f>
              <c:numCache>
                <c:formatCode>General</c:formatCode>
                <c:ptCount val="5"/>
                <c:pt idx="0">
                  <c:v>35</c:v>
                </c:pt>
                <c:pt idx="1">
                  <c:v>25</c:v>
                </c:pt>
                <c:pt idx="2">
                  <c:v>15</c:v>
                </c:pt>
                <c:pt idx="3">
                  <c:v>25</c:v>
                </c:pt>
                <c:pt idx="4">
                  <c:v>10</c:v>
                </c:pt>
              </c:numCache>
            </c:numRef>
          </c:val>
        </c:ser>
        <c:dLbls>
          <c:showLegendKey val="0"/>
          <c:showVal val="0"/>
          <c:showCatName val="0"/>
          <c:showSerName val="0"/>
          <c:showPercent val="0"/>
          <c:showBubbleSize val="0"/>
        </c:dLbls>
        <c:axId val="146514594"/>
        <c:axId val="777944762"/>
      </c:radarChart>
      <c:catAx>
        <c:axId val="14651459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77944762"/>
        <c:crosses val="autoZero"/>
        <c:auto val="1"/>
        <c:lblAlgn val="ctr"/>
        <c:lblOffset val="100"/>
        <c:noMultiLvlLbl val="0"/>
      </c:catAx>
      <c:valAx>
        <c:axId val="777944762"/>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46514594"/>
        <c:crosses val="autoZero"/>
        <c:crossBetween val="between"/>
      </c:valAx>
      <c:spPr>
        <a:noFill/>
        <a:ln>
          <a:noFill/>
        </a:ln>
        <a:effectLst/>
      </c:spPr>
    </c:plotArea>
    <c:legend>
      <c:legendPos val="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27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是梁海翘。非常荣幸能在这里向各位汇报我在大圣科技供应链系统部为期四周的实习成果与心得。这份报告将围绕我的实习概览、项目参与、核心产出、成长收获以及未来展望五个方面展开。希望通过这次分享，能让大家对我的实习工作有一个全面的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六个部分。首先，我会介绍我的实习概览，包括公司背景和我的岗位。接着，将重点分享我参与的几个核心项目。之后，我会总结我的核心产出与亮点。第四部分是关于我的成长与收获。第五部分是对自身不足的反思和未来的提升计划。最后，是我的总结与致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简单介绍一下我的实习单位和岗位。我实习的公司是大圣科技，它是广汽集团的核心数字化供应商。我所在的部门是供应链系统部，担任项目助理实习生。我选择这里，是希望能接触到真实、复杂的企业级项目，而不仅仅是停留在理论学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四周实习的节奏安排。第一周主要是入场和适应，搭建环境，熟悉团队。第二周开始深入V6项目，学习采购流程。第三周工作主线并行，同时推进多个任务。第四周则是收束和沉淀，梳理项目逻辑并完成总结。可以看到，我的参与深度是随着时间逐步提升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四周实习的节奏安排。第一周主要是入场和适应，搭建环境，熟悉团队。第二周开始深入V6项目，学习采购流程。第三周工作主线并行，同时推进多个任务。第四周则是收束和沉淀，梳理项目逻辑并完成总结。可以看到，我的参与深度是随着时间逐步提升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用几个关键数字来概括我的实习密度：4周的周期，参与了5场项目会议，协调了56位工程师，对接了5家供应商，并完成了1次经营层汇报视频的剪辑。我对自己的定位是，在有限的时间里，尽可能地深入真实工作，推动事情向前发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接下来是核心的项目参与部分。首先是CATIA V6项目，我在这里有双重角色。一方面，我作为观察者，学习完整的采购流程，从看老师操作，到带着问题请教，最后沉淀出自己的学习方法。另一方面，我作为执行者，负责协调56位工程师的客户端安装，从信息收集、时间通知到现场配合，完整地参与了执行过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V6项目中，我最大的收获是从采购流程中看到了真正的“职业样子”。我观察到采购员高效、负责、闭环的工作风格。更重要的是，我理解了合规与廉洁的重要性，明白了流程合规是不可逾越的红线，每一项条款背后都有深意。同时，我也对国企项目中“售前在先、招标在后”的务实安排有了直观认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项目是移动工作站供应商交流。我负责组织5家供应商的线上会议，包括会前对接、会中记录和会后跟进。通过这个项目，我学到了跨公司沟通的要点：会前充分准备，会上聚焦核心，会后确保闭环。同时，一个小预算的审批流程也让我再次强化了合规意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项目是企业级BOM调研。这个项目的主线是AI工作流的共学。我使用WorkBuddy工具，高效地从大量参考资料中提取核心信息，并按照统一模板生成了3份对标报告。这次经历让我深刻体会到，AI是提升工作效率和规范性的强大工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一个项目是Teamgo生销运营系统。我在这里的角色是项目助理和系统学习者。我完成了从0到1的本地环境搭建，梳理了系统的架构和项目逻辑，并主导剪辑了汇报视频。这个项目让我不仅能让系统“跑起来”，更重要的是能“想得明白”它背后的逻辑和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一个项目是Teamgo生销运营系统。我在这里的角色是项目助理和系统学习者。我完成了从0到1的本地环境搭建，梳理了系统的架构和项目逻辑，并主导剪辑了汇报视频。这个项目让我不仅能让系统“跑起来”，更重要的是能“想得明白”它背后的逻辑和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总结我的核心产出与亮点。首先是AI应用能力，我学会了将AI作为工作流的放大器，利用CodeBuddy等工具辅助完成了多份关键报告，不仅提升了效率，更保证了输出的规范性。其次是跨角色沟通能力，在与工程师、采购、供应商等多方的协同中，我总结出了一套高效的沟通方法，确保信息对齐、减少内耗。第三，我对公司的项目和流程架构有了更深刻的理解，明白了流程管理和社会化分工的重要性，以及在特定背景下的合规与专业要求。最后，我从团队和项目中习得并内化了PM的核心思维，坚持目标导向，强化流程意识，将沟通作为解决问题的关键，也始终保持着持续学习的状态，这些都成为了我职业成长的重要基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总结我的核心产出与亮点。首先是AI应用能力，我学会了将AI作为工作流的放大器，利用CodeBuddy等工具辅助完成了多份关键报告，不仅提升了效率，更保证了输出的规范性。其次是跨角色沟通能力，在与工程师、采购、供应商等多方的协同中，我总结出了一套高效的沟通方法，确保信息对齐、减少内耗。第三，我对公司的项目和流程架构有了更深刻的理解，明白了流程管理和社会化分工的重要性，以及在特定背景下的合规与专业要求。最后，我从团队和项目中习得并内化了PM的核心思维，坚持目标导向，强化流程意识，将沟通作为解决问题的关键，也始终保持着持续学习的状态，这些都成为了我职业成长的重要基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总结我的核心产出与亮点。首先是AI应用能力，我学会了将AI作为工作流的放大器，利用CodeBuddy等工具辅助完成了多份关键报告，不仅提升了效率，更保证了输出的规范性。其次是跨角色沟通能力，在与工程师、采购、供应商等多方的协同中，我总结出了一套高效的沟通方法，确保信息对齐、减少内耗。第三，我对公司的项目和流程架构有了更深刻的理解，明白了流程管理和社会化分工的重要性，以及在特定背景下的合规与专业要求。最后，我从团队和项目中习得并内化了PM的核心思维，坚持目标导向，强化流程意识，将沟通作为解决问题的关键，也始终保持着持续学习的状态，这些都成为了我职业成长的重要基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总结我的核心产出与亮点。首先是AI应用能力，我学会了将AI作为工作流的放大器，利用CodeBuddy等工具辅助完成了多份关键报告，不仅提升了效率，更保证了输出的规范性。其次是跨角色沟通能力，在与工程师、采购、供应商等多方的协同中，我总结出了一套高效的沟通方法，确保信息对齐、减少内耗。第三，我对公司的项目和流程架构有了更深刻的理解，明白了流程管理和社会化分工的重要性，以及在特定背景下的合规与专业要求。最后，我从团队和项目中习得并内化了PM的核心思维，坚持目标导向，强化流程意识，将沟通作为解决问题的关键，也始终保持着持续学习的状态，这些都成为了我职业成长的重要基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次实习让我实现了三个关键的能力跃迁。首先，是从纯技术视角转向了技术与业务结合的视角，理解了技术的最终目标是服务业务。其次，是学会了如何面对和管理工作中的不确定性，通过流程和留痕来降低风险。最后，是建立了初步的成本意识和牢固的职业伦理底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次实习让我实现了三个关键的能力跃迁。首先，是从纯技术视角转向了技术与业务结合的视角，理解了技术的最终目标是服务业务。其次，是学会了如何面对和管理工作中的不确定性，通过流程和留痕来降低风险。最后，是建立了初步的成本意识和牢固的职业伦理底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然，我也清醒地认识到自己的不足。技术能力上，我还处于入门阶段，尤其在代码阅读和前端开发方面。项目经验上，对于复杂业务的协调和高层汇报还很欠缺。针对这些不足，我规划了四个改进方向：在技术上继续深耕，学习产品方法和商业分析，并持续提升沟通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进行总结与致谢。在这四周里，我不仅参与了多个项目，更重要的是实现了个人角色和能力的多重转变。我要特别感谢我的带教老师和同事们，他们的指导和帮助是我成长的关键。也要感谢部门给我这次宝贵的机会。这段实习经历将是我职业生涯中非常扎实的起点。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进行总结与致谢。在这四周里，我不仅参与了多个项目，更重要的是实现了个人角色和能力的多重转变。我要特别感谢我的带教老师和同事们，他们的指导和帮助是我成长的关键。也要感谢部门给我这次宝贵的机会。这段实习经历将是我职业生涯中非常扎实的起点。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04800" y="4237567"/>
            <a:ext cx="1422400" cy="243417"/>
          </a:xfrm>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a:xfrm>
            <a:off x="2082800" y="4237567"/>
            <a:ext cx="1930400" cy="243417"/>
          </a:xfrm>
        </p:spPr>
        <p:txBody>
          <a:bodyPr/>
          <a:lstStyle/>
          <a:p>
            <a:endParaRPr lang="en-US"/>
          </a:p>
        </p:txBody>
      </p:sp>
      <p:sp>
        <p:nvSpPr>
          <p:cNvPr id="4" name="Slide Number Placeholder 3"/>
          <p:cNvSpPr>
            <a:spLocks noGrp="1"/>
          </p:cNvSpPr>
          <p:nvPr>
            <p:ph type="sldNum" sz="quarter" idx="12"/>
          </p:nvPr>
        </p:nvSpPr>
        <p:spPr>
          <a:xfrm>
            <a:off x="4368800" y="4237567"/>
            <a:ext cx="1422400" cy="243417"/>
          </a:xfrm>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8" name="矩形 7"/>
          <p:cNvSpPr/>
          <p:nvPr userDrawn="1"/>
        </p:nvSpPr>
        <p:spPr>
          <a:xfrm>
            <a:off x="0" y="0"/>
            <a:ext cx="12192000" cy="791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12" name="灯片编号占位符 5"/>
          <p:cNvSpPr txBox="1"/>
          <p:nvPr userDrawn="1"/>
        </p:nvSpPr>
        <p:spPr>
          <a:xfrm>
            <a:off x="11448362" y="6576289"/>
            <a:ext cx="732167" cy="29094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19241EC-D981-4E75-8FDE-C1F1E95BA3EB}" type="slidenum">
              <a:rPr lang="ja-JP" altLang="en-US" smtClean="0">
                <a:latin typeface="微软雅黑" panose="020B0503020204020204" charset="-122"/>
              </a:rPr>
            </a:fld>
            <a:endParaRPr lang="ja-JP" altLang="en-US" dirty="0">
              <a:latin typeface="微软雅黑" panose="020B0503020204020204" charset="-122"/>
            </a:endParaRPr>
          </a:p>
        </p:txBody>
      </p:sp>
      <p:pic>
        <p:nvPicPr>
          <p:cNvPr id="6" name="Picture 7"/>
          <p:cNvPicPr>
            <a:picLocks noChangeAspect="1"/>
          </p:cNvPicPr>
          <p:nvPr userDrawn="1"/>
        </p:nvPicPr>
        <p:blipFill>
          <a:blip r:embed="rId2"/>
          <a:stretch>
            <a:fillRect/>
          </a:stretch>
        </p:blipFill>
        <p:spPr>
          <a:xfrm>
            <a:off x="10203166" y="109441"/>
            <a:ext cx="1906523" cy="57264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04800" y="4237567"/>
            <a:ext cx="1422400" cy="243417"/>
          </a:xfrm>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a:xfrm>
            <a:off x="2082800" y="4237567"/>
            <a:ext cx="1930400" cy="243417"/>
          </a:xfrm>
        </p:spPr>
        <p:txBody>
          <a:bodyPr/>
          <a:lstStyle/>
          <a:p>
            <a:endParaRPr lang="en-US"/>
          </a:p>
        </p:txBody>
      </p:sp>
      <p:sp>
        <p:nvSpPr>
          <p:cNvPr id="4" name="Slide Number Placeholder 3"/>
          <p:cNvSpPr>
            <a:spLocks noGrp="1"/>
          </p:cNvSpPr>
          <p:nvPr>
            <p:ph type="sldNum" sz="quarter" idx="12"/>
          </p:nvPr>
        </p:nvSpPr>
        <p:spPr>
          <a:xfrm>
            <a:off x="4368800" y="4237567"/>
            <a:ext cx="1422400" cy="243417"/>
          </a:xfrm>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8" name="矩形 7"/>
          <p:cNvSpPr/>
          <p:nvPr userDrawn="1"/>
        </p:nvSpPr>
        <p:spPr>
          <a:xfrm>
            <a:off x="0" y="0"/>
            <a:ext cx="12192000" cy="791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12" name="灯片编号占位符 5"/>
          <p:cNvSpPr txBox="1"/>
          <p:nvPr userDrawn="1"/>
        </p:nvSpPr>
        <p:spPr>
          <a:xfrm>
            <a:off x="11448362" y="6576289"/>
            <a:ext cx="732167" cy="29094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19241EC-D981-4E75-8FDE-C1F1E95BA3EB}" type="slidenum">
              <a:rPr lang="ja-JP" altLang="en-US" smtClean="0">
                <a:latin typeface="微软雅黑" panose="020B0503020204020204" charset="-122"/>
              </a:rPr>
            </a:fld>
            <a:endParaRPr lang="ja-JP" altLang="en-US" dirty="0">
              <a:latin typeface="微软雅黑" panose="020B0503020204020204" charset="-122"/>
            </a:endParaRPr>
          </a:p>
        </p:txBody>
      </p:sp>
      <p:pic>
        <p:nvPicPr>
          <p:cNvPr id="6" name="Picture 7"/>
          <p:cNvPicPr>
            <a:picLocks noChangeAspect="1"/>
          </p:cNvPicPr>
          <p:nvPr userDrawn="1"/>
        </p:nvPicPr>
        <p:blipFill>
          <a:blip r:embed="rId2"/>
          <a:stretch>
            <a:fillRect/>
          </a:stretch>
        </p:blipFill>
        <p:spPr>
          <a:xfrm>
            <a:off x="10203166" y="109441"/>
            <a:ext cx="1906523" cy="57264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04800" y="4237567"/>
            <a:ext cx="1422400" cy="243417"/>
          </a:xfrm>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a:xfrm>
            <a:off x="2082800" y="4237567"/>
            <a:ext cx="1930400" cy="243417"/>
          </a:xfrm>
        </p:spPr>
        <p:txBody>
          <a:bodyPr/>
          <a:lstStyle/>
          <a:p>
            <a:endParaRPr lang="en-US"/>
          </a:p>
        </p:txBody>
      </p:sp>
      <p:sp>
        <p:nvSpPr>
          <p:cNvPr id="4" name="Slide Number Placeholder 3"/>
          <p:cNvSpPr>
            <a:spLocks noGrp="1"/>
          </p:cNvSpPr>
          <p:nvPr>
            <p:ph type="sldNum" sz="quarter" idx="12"/>
          </p:nvPr>
        </p:nvSpPr>
        <p:spPr>
          <a:xfrm>
            <a:off x="4368800" y="4237567"/>
            <a:ext cx="1422400" cy="243417"/>
          </a:xfrm>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8" name="矩形 7"/>
          <p:cNvSpPr/>
          <p:nvPr userDrawn="1"/>
        </p:nvSpPr>
        <p:spPr>
          <a:xfrm>
            <a:off x="0" y="0"/>
            <a:ext cx="12192000" cy="791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12" name="灯片编号占位符 5"/>
          <p:cNvSpPr txBox="1"/>
          <p:nvPr userDrawn="1"/>
        </p:nvSpPr>
        <p:spPr>
          <a:xfrm>
            <a:off x="11448362" y="6576289"/>
            <a:ext cx="732167" cy="29094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19241EC-D981-4E75-8FDE-C1F1E95BA3EB}" type="slidenum">
              <a:rPr lang="ja-JP" altLang="en-US" smtClean="0">
                <a:latin typeface="微软雅黑" panose="020B0503020204020204" charset="-122"/>
              </a:rPr>
            </a:fld>
            <a:endParaRPr lang="ja-JP" altLang="en-US" dirty="0">
              <a:latin typeface="微软雅黑" panose="020B0503020204020204" charset="-122"/>
            </a:endParaRPr>
          </a:p>
        </p:txBody>
      </p:sp>
      <p:pic>
        <p:nvPicPr>
          <p:cNvPr id="6" name="Picture 7"/>
          <p:cNvPicPr>
            <a:picLocks noChangeAspect="1"/>
          </p:cNvPicPr>
          <p:nvPr userDrawn="1"/>
        </p:nvPicPr>
        <p:blipFill>
          <a:blip r:embed="rId2"/>
          <a:stretch>
            <a:fillRect/>
          </a:stretch>
        </p:blipFill>
        <p:spPr>
          <a:xfrm>
            <a:off x="10203166" y="109441"/>
            <a:ext cx="1906523" cy="57264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04800" y="4237567"/>
            <a:ext cx="1422400" cy="243417"/>
          </a:xfrm>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a:xfrm>
            <a:off x="2082800" y="4237567"/>
            <a:ext cx="1930400" cy="243417"/>
          </a:xfrm>
        </p:spPr>
        <p:txBody>
          <a:bodyPr/>
          <a:lstStyle/>
          <a:p>
            <a:endParaRPr lang="en-US"/>
          </a:p>
        </p:txBody>
      </p:sp>
      <p:sp>
        <p:nvSpPr>
          <p:cNvPr id="4" name="Slide Number Placeholder 3"/>
          <p:cNvSpPr>
            <a:spLocks noGrp="1"/>
          </p:cNvSpPr>
          <p:nvPr>
            <p:ph type="sldNum" sz="quarter" idx="12"/>
          </p:nvPr>
        </p:nvSpPr>
        <p:spPr>
          <a:xfrm>
            <a:off x="4368800" y="4237567"/>
            <a:ext cx="1422400" cy="243417"/>
          </a:xfrm>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8" name="矩形 7"/>
          <p:cNvSpPr/>
          <p:nvPr userDrawn="1"/>
        </p:nvSpPr>
        <p:spPr>
          <a:xfrm>
            <a:off x="0" y="0"/>
            <a:ext cx="12192000" cy="791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12" name="灯片编号占位符 5"/>
          <p:cNvSpPr txBox="1"/>
          <p:nvPr userDrawn="1"/>
        </p:nvSpPr>
        <p:spPr>
          <a:xfrm>
            <a:off x="11448362" y="6576289"/>
            <a:ext cx="732167" cy="29094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19241EC-D981-4E75-8FDE-C1F1E95BA3EB}" type="slidenum">
              <a:rPr lang="ja-JP" altLang="en-US" smtClean="0">
                <a:latin typeface="微软雅黑" panose="020B0503020204020204" charset="-122"/>
              </a:rPr>
            </a:fld>
            <a:endParaRPr lang="ja-JP" altLang="en-US" dirty="0">
              <a:latin typeface="微软雅黑" panose="020B0503020204020204" charset="-122"/>
            </a:endParaRPr>
          </a:p>
        </p:txBody>
      </p:sp>
      <p:pic>
        <p:nvPicPr>
          <p:cNvPr id="6" name="Picture 7"/>
          <p:cNvPicPr>
            <a:picLocks noChangeAspect="1"/>
          </p:cNvPicPr>
          <p:nvPr userDrawn="1"/>
        </p:nvPicPr>
        <p:blipFill>
          <a:blip r:embed="rId2"/>
          <a:stretch>
            <a:fillRect/>
          </a:stretch>
        </p:blipFill>
        <p:spPr>
          <a:xfrm>
            <a:off x="10203166" y="109441"/>
            <a:ext cx="1906523" cy="57264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7.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8.xml"/></Relationships>
</file>

<file path=ppt/slideMasters/_rels/slideMaster7.xml.rels><?xml version="1.0" encoding="UTF-8" standalone="yes"?>
<Relationships xmlns="http://schemas.openxmlformats.org/package/2006/relationships"><Relationship Id="rId4" Type="http://schemas.openxmlformats.org/officeDocument/2006/relationships/theme" Target="../theme/theme7.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_rels/slideMaster8.xml.rels><?xml version="1.0" encoding="UTF-8" standalone="yes"?>
<Relationships xmlns="http://schemas.openxmlformats.org/package/2006/relationships"><Relationship Id="rId4" Type="http://schemas.openxmlformats.org/officeDocument/2006/relationships/theme" Target="../theme/theme8.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_rels/slideMaster9.xml.rels><?xml version="1.0" encoding="UTF-8" standalone="yes"?>
<Relationships xmlns="http://schemas.openxmlformats.org/package/2006/relationships"><Relationship Id="rId4" Type="http://schemas.openxmlformats.org/officeDocument/2006/relationships/theme" Target="../theme/theme9.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2.xml"/><Relationship Id="rId7"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7" Type="http://schemas.openxmlformats.org/officeDocument/2006/relationships/notesSlide" Target="../notesSlides/notesSlide2.xml"/><Relationship Id="rId26" Type="http://schemas.openxmlformats.org/officeDocument/2006/relationships/slideLayout" Target="../slideLayouts/slideLayout12.xml"/><Relationship Id="rId25" Type="http://schemas.openxmlformats.org/officeDocument/2006/relationships/image" Target="../media/image8.png"/><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4.xml"/><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tags" Target="../tags/tag26.xml"/><Relationship Id="rId1" Type="http://schemas.openxmlformats.org/officeDocument/2006/relationships/tags" Target="../tags/tag25.xml"/></Relationships>
</file>

<file path=ppt/slides/_rels/slide4.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6" Type="http://schemas.openxmlformats.org/officeDocument/2006/relationships/notesSlide" Target="../notesSlides/notesSlide4.xml"/><Relationship Id="rId25" Type="http://schemas.openxmlformats.org/officeDocument/2006/relationships/slideLayout" Target="../slideLayouts/slideLayout12.xml"/><Relationship Id="rId24" Type="http://schemas.openxmlformats.org/officeDocument/2006/relationships/image" Target="../media/image8.png"/><Relationship Id="rId23" Type="http://schemas.openxmlformats.org/officeDocument/2006/relationships/tags" Target="../tags/tag44.xml"/><Relationship Id="rId22" Type="http://schemas.openxmlformats.org/officeDocument/2006/relationships/image" Target="../media/image13.png"/><Relationship Id="rId21" Type="http://schemas.openxmlformats.org/officeDocument/2006/relationships/tags" Target="../tags/tag43.xml"/><Relationship Id="rId20" Type="http://schemas.openxmlformats.org/officeDocument/2006/relationships/tags" Target="../tags/tag42.xml"/><Relationship Id="rId2" Type="http://schemas.openxmlformats.org/officeDocument/2006/relationships/tags" Target="../tags/tag28.xml"/><Relationship Id="rId19" Type="http://schemas.openxmlformats.org/officeDocument/2006/relationships/tags" Target="../tags/tag41.xml"/><Relationship Id="rId18" Type="http://schemas.openxmlformats.org/officeDocument/2006/relationships/tags" Target="../tags/tag40.xml"/><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image" Target="../media/image12.svg"/><Relationship Id="rId13" Type="http://schemas.openxmlformats.org/officeDocument/2006/relationships/image" Target="../media/image11.png"/><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7.xml"/></Relationships>
</file>

<file path=ppt/slides/_rels/slide5.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image" Target="../media/image15.svg"/><Relationship Id="rId3" Type="http://schemas.openxmlformats.org/officeDocument/2006/relationships/image" Target="../media/image14.png"/><Relationship Id="rId27" Type="http://schemas.openxmlformats.org/officeDocument/2006/relationships/notesSlide" Target="../notesSlides/notesSlide5.xml"/><Relationship Id="rId26" Type="http://schemas.openxmlformats.org/officeDocument/2006/relationships/slideLayout" Target="../slideLayouts/slideLayout12.xml"/><Relationship Id="rId25" Type="http://schemas.openxmlformats.org/officeDocument/2006/relationships/image" Target="../media/image8.png"/><Relationship Id="rId24" Type="http://schemas.openxmlformats.org/officeDocument/2006/relationships/tags" Target="../tags/tag60.xml"/><Relationship Id="rId23" Type="http://schemas.openxmlformats.org/officeDocument/2006/relationships/tags" Target="../tags/tag59.xml"/><Relationship Id="rId22" Type="http://schemas.openxmlformats.org/officeDocument/2006/relationships/image" Target="../media/image21.svg"/><Relationship Id="rId21" Type="http://schemas.openxmlformats.org/officeDocument/2006/relationships/image" Target="../media/image20.png"/><Relationship Id="rId20" Type="http://schemas.openxmlformats.org/officeDocument/2006/relationships/tags" Target="../tags/tag58.xml"/><Relationship Id="rId2" Type="http://schemas.openxmlformats.org/officeDocument/2006/relationships/tags" Target="../tags/tag46.xml"/><Relationship Id="rId19" Type="http://schemas.openxmlformats.org/officeDocument/2006/relationships/tags" Target="../tags/tag57.xml"/><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image" Target="../media/image19.svg"/><Relationship Id="rId15" Type="http://schemas.openxmlformats.org/officeDocument/2006/relationships/image" Target="../media/image18.png"/><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image" Target="../media/image17.svg"/><Relationship Id="rId1" Type="http://schemas.openxmlformats.org/officeDocument/2006/relationships/tags" Target="../tags/tag45.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5.xml"/><Relationship Id="rId5" Type="http://schemas.openxmlformats.org/officeDocument/2006/relationships/image" Target="../media/image8.png"/><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3" Type="http://schemas.openxmlformats.org/officeDocument/2006/relationships/notesSlide" Target="../notesSlides/notesSlide7.xml"/><Relationship Id="rId22" Type="http://schemas.openxmlformats.org/officeDocument/2006/relationships/slideLayout" Target="../slideLayouts/slideLayout12.xml"/><Relationship Id="rId21" Type="http://schemas.openxmlformats.org/officeDocument/2006/relationships/image" Target="../media/image8.png"/><Relationship Id="rId20" Type="http://schemas.openxmlformats.org/officeDocument/2006/relationships/tags" Target="../tags/tag83.xml"/><Relationship Id="rId2" Type="http://schemas.openxmlformats.org/officeDocument/2006/relationships/tags" Target="../tags/tag65.xml"/><Relationship Id="rId19" Type="http://schemas.openxmlformats.org/officeDocument/2006/relationships/tags" Target="../tags/tag82.xml"/><Relationship Id="rId18" Type="http://schemas.openxmlformats.org/officeDocument/2006/relationships/tags" Target="../tags/tag81.xml"/><Relationship Id="rId17" Type="http://schemas.openxmlformats.org/officeDocument/2006/relationships/tags" Target="../tags/tag80.xml"/><Relationship Id="rId16" Type="http://schemas.openxmlformats.org/officeDocument/2006/relationships/tags" Target="../tags/tag79.xml"/><Relationship Id="rId15" Type="http://schemas.openxmlformats.org/officeDocument/2006/relationships/tags" Target="../tags/tag78.xml"/><Relationship Id="rId14" Type="http://schemas.openxmlformats.org/officeDocument/2006/relationships/tags" Target="../tags/tag77.xml"/><Relationship Id="rId13" Type="http://schemas.openxmlformats.org/officeDocument/2006/relationships/tags" Target="../tags/tag76.xml"/><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tags" Target="../tags/tag73.xml"/><Relationship Id="rId1" Type="http://schemas.openxmlformats.org/officeDocument/2006/relationships/tags" Target="../tags/tag64.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4.xml"/><Relationship Id="rId4" Type="http://schemas.openxmlformats.org/officeDocument/2006/relationships/image" Target="../media/image23.svg"/><Relationship Id="rId3" Type="http://schemas.openxmlformats.org/officeDocument/2006/relationships/image" Target="../media/image22.png"/><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svg"/><Relationship Id="rId7" Type="http://schemas.openxmlformats.org/officeDocument/2006/relationships/image" Target="../media/image28.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 Id="rId3" Type="http://schemas.openxmlformats.org/officeDocument/2006/relationships/image" Target="../media/image24.png"/><Relationship Id="rId2" Type="http://schemas.openxmlformats.org/officeDocument/2006/relationships/image" Target="../media/image17.svg"/><Relationship Id="rId15" Type="http://schemas.openxmlformats.org/officeDocument/2006/relationships/notesSlide" Target="../notesSlides/notesSlide9.xml"/><Relationship Id="rId14" Type="http://schemas.openxmlformats.org/officeDocument/2006/relationships/slideLayout" Target="../slideLayouts/slideLayout12.xml"/><Relationship Id="rId13" Type="http://schemas.openxmlformats.org/officeDocument/2006/relationships/image" Target="../media/image8.png"/><Relationship Id="rId12" Type="http://schemas.openxmlformats.org/officeDocument/2006/relationships/image" Target="../media/image33.svg"/><Relationship Id="rId11" Type="http://schemas.openxmlformats.org/officeDocument/2006/relationships/image" Target="../media/image32.png"/><Relationship Id="rId10" Type="http://schemas.openxmlformats.org/officeDocument/2006/relationships/image" Target="../media/image31.sv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image" Target="../media/image35.svg"/><Relationship Id="rId4" Type="http://schemas.openxmlformats.org/officeDocument/2006/relationships/image" Target="../media/image34.png"/><Relationship Id="rId3" Type="http://schemas.openxmlformats.org/officeDocument/2006/relationships/tags" Target="../tags/tag88.xml"/><Relationship Id="rId27" Type="http://schemas.openxmlformats.org/officeDocument/2006/relationships/notesSlide" Target="../notesSlides/notesSlide10.xml"/><Relationship Id="rId26" Type="http://schemas.openxmlformats.org/officeDocument/2006/relationships/slideLayout" Target="../slideLayouts/slideLayout12.xml"/><Relationship Id="rId25" Type="http://schemas.openxmlformats.org/officeDocument/2006/relationships/image" Target="../media/image8.png"/><Relationship Id="rId24" Type="http://schemas.openxmlformats.org/officeDocument/2006/relationships/tags" Target="../tags/tag103.xml"/><Relationship Id="rId23" Type="http://schemas.openxmlformats.org/officeDocument/2006/relationships/tags" Target="../tags/tag102.xml"/><Relationship Id="rId22" Type="http://schemas.openxmlformats.org/officeDocument/2006/relationships/tags" Target="../tags/tag101.xml"/><Relationship Id="rId21" Type="http://schemas.openxmlformats.org/officeDocument/2006/relationships/image" Target="../media/image19.svg"/><Relationship Id="rId20" Type="http://schemas.openxmlformats.org/officeDocument/2006/relationships/image" Target="../media/image18.png"/><Relationship Id="rId2" Type="http://schemas.openxmlformats.org/officeDocument/2006/relationships/tags" Target="../tags/tag87.xml"/><Relationship Id="rId19" Type="http://schemas.openxmlformats.org/officeDocument/2006/relationships/tags" Target="../tags/tag100.xml"/><Relationship Id="rId18" Type="http://schemas.openxmlformats.org/officeDocument/2006/relationships/tags" Target="../tags/tag99.xml"/><Relationship Id="rId17" Type="http://schemas.openxmlformats.org/officeDocument/2006/relationships/tags" Target="../tags/tag98.xml"/><Relationship Id="rId16" Type="http://schemas.openxmlformats.org/officeDocument/2006/relationships/tags" Target="../tags/tag97.xml"/><Relationship Id="rId15" Type="http://schemas.openxmlformats.org/officeDocument/2006/relationships/tags" Target="../tags/tag96.xml"/><Relationship Id="rId14" Type="http://schemas.openxmlformats.org/officeDocument/2006/relationships/tags" Target="../tags/tag95.xml"/><Relationship Id="rId13" Type="http://schemas.openxmlformats.org/officeDocument/2006/relationships/image" Target="../media/image37.svg"/><Relationship Id="rId12" Type="http://schemas.openxmlformats.org/officeDocument/2006/relationships/image" Target="../media/image36.png"/><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tags" Target="../tags/tag86.xml"/></Relationships>
</file>

<file path=ppt/slides/_rels/slide11.xml.rels><?xml version="1.0" encoding="UTF-8" standalone="yes"?>
<Relationships xmlns="http://schemas.openxmlformats.org/package/2006/relationships"><Relationship Id="rId9" Type="http://schemas.openxmlformats.org/officeDocument/2006/relationships/tags" Target="../tags/tag110.xml"/><Relationship Id="rId8" Type="http://schemas.openxmlformats.org/officeDocument/2006/relationships/tags" Target="../tags/tag109.xml"/><Relationship Id="rId7" Type="http://schemas.openxmlformats.org/officeDocument/2006/relationships/tags" Target="../tags/tag108.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image" Target="../media/image39.svg"/><Relationship Id="rId3" Type="http://schemas.openxmlformats.org/officeDocument/2006/relationships/image" Target="../media/image38.jpeg"/><Relationship Id="rId23" Type="http://schemas.openxmlformats.org/officeDocument/2006/relationships/notesSlide" Target="../notesSlides/notesSlide11.xml"/><Relationship Id="rId22" Type="http://schemas.openxmlformats.org/officeDocument/2006/relationships/slideLayout" Target="../slideLayouts/slideLayout12.xml"/><Relationship Id="rId21" Type="http://schemas.openxmlformats.org/officeDocument/2006/relationships/image" Target="../media/image40.png"/><Relationship Id="rId20" Type="http://schemas.openxmlformats.org/officeDocument/2006/relationships/image" Target="../media/image8.png"/><Relationship Id="rId2" Type="http://schemas.openxmlformats.org/officeDocument/2006/relationships/tags" Target="../tags/tag105.xml"/><Relationship Id="rId19" Type="http://schemas.openxmlformats.org/officeDocument/2006/relationships/tags" Target="../tags/tag118.xml"/><Relationship Id="rId18" Type="http://schemas.openxmlformats.org/officeDocument/2006/relationships/tags" Target="../tags/tag117.xml"/><Relationship Id="rId17" Type="http://schemas.openxmlformats.org/officeDocument/2006/relationships/tags" Target="../tags/tag116.xml"/><Relationship Id="rId16" Type="http://schemas.openxmlformats.org/officeDocument/2006/relationships/image" Target="../media/image36.png"/><Relationship Id="rId15" Type="http://schemas.openxmlformats.org/officeDocument/2006/relationships/tags" Target="../tags/tag115.xml"/><Relationship Id="rId14" Type="http://schemas.openxmlformats.org/officeDocument/2006/relationships/tags" Target="../tags/tag114.xml"/><Relationship Id="rId13" Type="http://schemas.openxmlformats.org/officeDocument/2006/relationships/tags" Target="../tags/tag113.xml"/><Relationship Id="rId12" Type="http://schemas.openxmlformats.org/officeDocument/2006/relationships/tags" Target="../tags/tag112.xml"/><Relationship Id="rId11" Type="http://schemas.openxmlformats.org/officeDocument/2006/relationships/tags" Target="../tags/tag111.xml"/><Relationship Id="rId10" Type="http://schemas.openxmlformats.org/officeDocument/2006/relationships/image" Target="../media/image24.png"/><Relationship Id="rId1" Type="http://schemas.openxmlformats.org/officeDocument/2006/relationships/tags" Target="../tags/tag104.xml"/></Relationships>
</file>

<file path=ppt/slides/_rels/slide12.xml.rels><?xml version="1.0" encoding="UTF-8" standalone="yes"?>
<Relationships xmlns="http://schemas.openxmlformats.org/package/2006/relationships"><Relationship Id="rId9" Type="http://schemas.openxmlformats.org/officeDocument/2006/relationships/image" Target="../media/image43.jpeg"/><Relationship Id="rId8" Type="http://schemas.openxmlformats.org/officeDocument/2006/relationships/tags" Target="../tags/tag124.xml"/><Relationship Id="rId7" Type="http://schemas.openxmlformats.org/officeDocument/2006/relationships/tags" Target="../tags/tag123.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image" Target="../media/image42.svg"/><Relationship Id="rId3" Type="http://schemas.openxmlformats.org/officeDocument/2006/relationships/image" Target="../media/image41.jpeg"/><Relationship Id="rId2" Type="http://schemas.openxmlformats.org/officeDocument/2006/relationships/tags" Target="../tags/tag120.xml"/><Relationship Id="rId17" Type="http://schemas.openxmlformats.org/officeDocument/2006/relationships/notesSlide" Target="../notesSlides/notesSlide12.xml"/><Relationship Id="rId16" Type="http://schemas.openxmlformats.org/officeDocument/2006/relationships/slideLayout" Target="../slideLayouts/slideLayout12.xml"/><Relationship Id="rId15" Type="http://schemas.openxmlformats.org/officeDocument/2006/relationships/image" Target="../media/image47.png"/><Relationship Id="rId14" Type="http://schemas.openxmlformats.org/officeDocument/2006/relationships/image" Target="../media/image46.png"/><Relationship Id="rId13" Type="http://schemas.openxmlformats.org/officeDocument/2006/relationships/image" Target="../media/image45.png"/><Relationship Id="rId12" Type="http://schemas.openxmlformats.org/officeDocument/2006/relationships/image" Target="../media/image8.png"/><Relationship Id="rId11" Type="http://schemas.openxmlformats.org/officeDocument/2006/relationships/tags" Target="../tags/tag125.xml"/><Relationship Id="rId10" Type="http://schemas.openxmlformats.org/officeDocument/2006/relationships/image" Target="../media/image44.svg"/><Relationship Id="rId1" Type="http://schemas.openxmlformats.org/officeDocument/2006/relationships/tags" Target="../tags/tag119.xml"/></Relationships>
</file>

<file path=ppt/slides/_rels/slide13.xml.rels><?xml version="1.0" encoding="UTF-8" standalone="yes"?>
<Relationships xmlns="http://schemas.openxmlformats.org/package/2006/relationships"><Relationship Id="rId9" Type="http://schemas.openxmlformats.org/officeDocument/2006/relationships/image" Target="../media/image50.jpeg"/><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image" Target="../media/image49.svg"/><Relationship Id="rId3" Type="http://schemas.openxmlformats.org/officeDocument/2006/relationships/image" Target="../media/image48.jpeg"/><Relationship Id="rId23" Type="http://schemas.openxmlformats.org/officeDocument/2006/relationships/notesSlide" Target="../notesSlides/notesSlide13.xml"/><Relationship Id="rId22" Type="http://schemas.openxmlformats.org/officeDocument/2006/relationships/slideLayout" Target="../slideLayouts/slideLayout12.xml"/><Relationship Id="rId21" Type="http://schemas.microsoft.com/office/2007/relationships/hdphoto" Target="../media/image55.wdp"/><Relationship Id="rId20" Type="http://schemas.openxmlformats.org/officeDocument/2006/relationships/image" Target="../media/image54.png"/><Relationship Id="rId2" Type="http://schemas.openxmlformats.org/officeDocument/2006/relationships/tags" Target="../tags/tag127.xml"/><Relationship Id="rId19" Type="http://schemas.openxmlformats.org/officeDocument/2006/relationships/image" Target="../media/image8.png"/><Relationship Id="rId18" Type="http://schemas.openxmlformats.org/officeDocument/2006/relationships/tags" Target="../tags/tag137.xml"/><Relationship Id="rId17" Type="http://schemas.openxmlformats.org/officeDocument/2006/relationships/tags" Target="../tags/tag136.xml"/><Relationship Id="rId16" Type="http://schemas.openxmlformats.org/officeDocument/2006/relationships/image" Target="../media/image53.svg"/><Relationship Id="rId15" Type="http://schemas.openxmlformats.org/officeDocument/2006/relationships/image" Target="../media/image52.jpeg"/><Relationship Id="rId14" Type="http://schemas.openxmlformats.org/officeDocument/2006/relationships/tags" Target="../tags/tag135.xml"/><Relationship Id="rId13" Type="http://schemas.openxmlformats.org/officeDocument/2006/relationships/tags" Target="../tags/tag134.xml"/><Relationship Id="rId12" Type="http://schemas.openxmlformats.org/officeDocument/2006/relationships/tags" Target="../tags/tag133.xml"/><Relationship Id="rId11" Type="http://schemas.openxmlformats.org/officeDocument/2006/relationships/tags" Target="../tags/tag132.xml"/><Relationship Id="rId10" Type="http://schemas.openxmlformats.org/officeDocument/2006/relationships/image" Target="../media/image51.svg"/><Relationship Id="rId1" Type="http://schemas.openxmlformats.org/officeDocument/2006/relationships/tags" Target="../tags/tag126.xml"/></Relationships>
</file>

<file path=ppt/slides/_rels/slide14.xml.rels><?xml version="1.0" encoding="UTF-8" standalone="yes"?>
<Relationships xmlns="http://schemas.openxmlformats.org/package/2006/relationships"><Relationship Id="rId9" Type="http://schemas.openxmlformats.org/officeDocument/2006/relationships/image" Target="../media/image57.png"/><Relationship Id="rId8" Type="http://schemas.openxmlformats.org/officeDocument/2006/relationships/tags" Target="../tags/tag141.xml"/><Relationship Id="rId7" Type="http://schemas.openxmlformats.org/officeDocument/2006/relationships/tags" Target="../tags/tag140.xml"/><Relationship Id="rId6" Type="http://schemas.openxmlformats.org/officeDocument/2006/relationships/image" Target="../media/image53.svg"/><Relationship Id="rId5" Type="http://schemas.openxmlformats.org/officeDocument/2006/relationships/image" Target="../media/image52.jpeg"/><Relationship Id="rId4" Type="http://schemas.openxmlformats.org/officeDocument/2006/relationships/tags" Target="../tags/tag139.xml"/><Relationship Id="rId3" Type="http://schemas.openxmlformats.org/officeDocument/2006/relationships/tags" Target="../tags/tag138.xml"/><Relationship Id="rId2" Type="http://schemas.openxmlformats.org/officeDocument/2006/relationships/image" Target="../media/image56.png"/><Relationship Id="rId14" Type="http://schemas.openxmlformats.org/officeDocument/2006/relationships/notesSlide" Target="../notesSlides/notesSlide14.xml"/><Relationship Id="rId13" Type="http://schemas.openxmlformats.org/officeDocument/2006/relationships/slideLayout" Target="../slideLayouts/slideLayout22.xml"/><Relationship Id="rId12" Type="http://schemas.openxmlformats.org/officeDocument/2006/relationships/image" Target="../media/image60.png"/><Relationship Id="rId11" Type="http://schemas.openxmlformats.org/officeDocument/2006/relationships/image" Target="../media/image59.png"/><Relationship Id="rId10" Type="http://schemas.openxmlformats.org/officeDocument/2006/relationships/image" Target="../media/image58.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4.xml"/><Relationship Id="rId3" Type="http://schemas.openxmlformats.org/officeDocument/2006/relationships/image" Target="../media/image22.png"/><Relationship Id="rId2" Type="http://schemas.openxmlformats.org/officeDocument/2006/relationships/tags" Target="../tags/tag143.xml"/><Relationship Id="rId1" Type="http://schemas.openxmlformats.org/officeDocument/2006/relationships/tags" Target="../tags/tag142.xml"/></Relationships>
</file>

<file path=ppt/slides/_rels/slide16.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image" Target="../media/image63.svg"/><Relationship Id="rId4" Type="http://schemas.openxmlformats.org/officeDocument/2006/relationships/image" Target="../media/image62.jpeg"/><Relationship Id="rId3" Type="http://schemas.openxmlformats.org/officeDocument/2006/relationships/tags" Target="../tags/tag145.xml"/><Relationship Id="rId2" Type="http://schemas.openxmlformats.org/officeDocument/2006/relationships/tags" Target="../tags/tag144.xml"/><Relationship Id="rId12" Type="http://schemas.openxmlformats.org/officeDocument/2006/relationships/notesSlide" Target="../notesSlides/notesSlide16.xml"/><Relationship Id="rId11" Type="http://schemas.openxmlformats.org/officeDocument/2006/relationships/slideLayout" Target="../slideLayouts/slideLayout12.xml"/><Relationship Id="rId10" Type="http://schemas.openxmlformats.org/officeDocument/2006/relationships/image" Target="../media/image64.png"/><Relationship Id="rId1" Type="http://schemas.openxmlformats.org/officeDocument/2006/relationships/chart" Target="../charts/chart2.xml"/></Relationships>
</file>

<file path=ppt/slides/_rels/slide17.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image" Target="../media/image66.svg"/><Relationship Id="rId7" Type="http://schemas.openxmlformats.org/officeDocument/2006/relationships/image" Target="../media/image65.jpeg"/><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8" Type="http://schemas.openxmlformats.org/officeDocument/2006/relationships/notesSlide" Target="../notesSlides/notesSlide17.xml"/><Relationship Id="rId17" Type="http://schemas.openxmlformats.org/officeDocument/2006/relationships/slideLayout" Target="../slideLayouts/slideLayout16.xml"/><Relationship Id="rId16" Type="http://schemas.openxmlformats.org/officeDocument/2006/relationships/image" Target="../media/image68.png"/><Relationship Id="rId15" Type="http://schemas.openxmlformats.org/officeDocument/2006/relationships/image" Target="../media/image67.png"/><Relationship Id="rId14" Type="http://schemas.openxmlformats.org/officeDocument/2006/relationships/image" Target="../media/image8.png"/><Relationship Id="rId13" Type="http://schemas.openxmlformats.org/officeDocument/2006/relationships/tags" Target="../tags/tag158.xml"/><Relationship Id="rId12" Type="http://schemas.openxmlformats.org/officeDocument/2006/relationships/tags" Target="../tags/tag157.xml"/><Relationship Id="rId11" Type="http://schemas.openxmlformats.org/officeDocument/2006/relationships/tags" Target="../tags/tag156.xml"/><Relationship Id="rId10" Type="http://schemas.openxmlformats.org/officeDocument/2006/relationships/tags" Target="../tags/tag155.xml"/><Relationship Id="rId1" Type="http://schemas.openxmlformats.org/officeDocument/2006/relationships/chart" Target="../charts/chart3.xml"/></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17.xml"/><Relationship Id="rId5" Type="http://schemas.openxmlformats.org/officeDocument/2006/relationships/image" Target="../media/image70.jpeg"/><Relationship Id="rId4" Type="http://schemas.openxmlformats.org/officeDocument/2006/relationships/image" Target="../media/image69.png"/><Relationship Id="rId3" Type="http://schemas.openxmlformats.org/officeDocument/2006/relationships/image" Target="../media/image8.png"/><Relationship Id="rId2" Type="http://schemas.openxmlformats.org/officeDocument/2006/relationships/tags" Target="../tags/tag160.xml"/><Relationship Id="rId1" Type="http://schemas.openxmlformats.org/officeDocument/2006/relationships/tags" Target="../tags/tag159.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8.xml"/><Relationship Id="rId4" Type="http://schemas.openxmlformats.org/officeDocument/2006/relationships/image" Target="../media/image71.png"/><Relationship Id="rId3" Type="http://schemas.openxmlformats.org/officeDocument/2006/relationships/image" Target="../media/image8.png"/><Relationship Id="rId2" Type="http://schemas.openxmlformats.org/officeDocument/2006/relationships/tags" Target="../tags/tag162.xml"/><Relationship Id="rId1" Type="http://schemas.openxmlformats.org/officeDocument/2006/relationships/tags" Target="../tags/tag161.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4.xml"/><Relationship Id="rId3" Type="http://schemas.openxmlformats.org/officeDocument/2006/relationships/image" Target="../media/image22.png"/><Relationship Id="rId2" Type="http://schemas.openxmlformats.org/officeDocument/2006/relationships/tags" Target="../tags/tag164.xml"/><Relationship Id="rId1" Type="http://schemas.openxmlformats.org/officeDocument/2006/relationships/tags" Target="../tags/tag163.xml"/></Relationships>
</file>

<file path=ppt/slides/_rels/slide21.xml.rels><?xml version="1.0" encoding="UTF-8" standalone="yes"?>
<Relationships xmlns="http://schemas.openxmlformats.org/package/2006/relationships"><Relationship Id="rId9" Type="http://schemas.openxmlformats.org/officeDocument/2006/relationships/image" Target="../media/image74.jpeg"/><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image" Target="../media/image73.svg"/><Relationship Id="rId3" Type="http://schemas.openxmlformats.org/officeDocument/2006/relationships/image" Target="../media/image72.jpeg"/><Relationship Id="rId21" Type="http://schemas.openxmlformats.org/officeDocument/2006/relationships/notesSlide" Target="../notesSlides/notesSlide21.xml"/><Relationship Id="rId20" Type="http://schemas.openxmlformats.org/officeDocument/2006/relationships/slideLayout" Target="../slideLayouts/slideLayout12.xml"/><Relationship Id="rId2" Type="http://schemas.openxmlformats.org/officeDocument/2006/relationships/tags" Target="../tags/tag166.xml"/><Relationship Id="rId19" Type="http://schemas.openxmlformats.org/officeDocument/2006/relationships/image" Target="../media/image8.png"/><Relationship Id="rId18" Type="http://schemas.openxmlformats.org/officeDocument/2006/relationships/tags" Target="../tags/tag176.xml"/><Relationship Id="rId17" Type="http://schemas.openxmlformats.org/officeDocument/2006/relationships/tags" Target="../tags/tag175.xml"/><Relationship Id="rId16" Type="http://schemas.openxmlformats.org/officeDocument/2006/relationships/image" Target="../media/image77.svg"/><Relationship Id="rId15" Type="http://schemas.openxmlformats.org/officeDocument/2006/relationships/image" Target="../media/image76.jpeg"/><Relationship Id="rId14" Type="http://schemas.openxmlformats.org/officeDocument/2006/relationships/tags" Target="../tags/tag174.xml"/><Relationship Id="rId13" Type="http://schemas.openxmlformats.org/officeDocument/2006/relationships/tags" Target="../tags/tag173.xml"/><Relationship Id="rId12" Type="http://schemas.openxmlformats.org/officeDocument/2006/relationships/tags" Target="../tags/tag172.xml"/><Relationship Id="rId11" Type="http://schemas.openxmlformats.org/officeDocument/2006/relationships/tags" Target="../tags/tag171.xml"/><Relationship Id="rId10" Type="http://schemas.openxmlformats.org/officeDocument/2006/relationships/image" Target="../media/image75.svg"/><Relationship Id="rId1" Type="http://schemas.openxmlformats.org/officeDocument/2006/relationships/tags" Target="../tags/tag165.xml"/></Relationships>
</file>

<file path=ppt/slides/_rels/slide22.xml.rels><?xml version="1.0" encoding="UTF-8" standalone="yes"?>
<Relationships xmlns="http://schemas.openxmlformats.org/package/2006/relationships"><Relationship Id="rId9" Type="http://schemas.openxmlformats.org/officeDocument/2006/relationships/tags" Target="../tags/tag181.xml"/><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image" Target="../media/image79.svg"/><Relationship Id="rId5" Type="http://schemas.openxmlformats.org/officeDocument/2006/relationships/image" Target="../media/image78.jpeg"/><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image" Target="../media/image8.png"/><Relationship Id="rId13" Type="http://schemas.openxmlformats.org/officeDocument/2006/relationships/notesSlide" Target="../notesSlides/notesSlide22.xml"/><Relationship Id="rId12" Type="http://schemas.openxmlformats.org/officeDocument/2006/relationships/slideLayout" Target="../slideLayouts/slideLayout19.xml"/><Relationship Id="rId11" Type="http://schemas.openxmlformats.org/officeDocument/2006/relationships/image" Target="../media/image81.png"/><Relationship Id="rId10" Type="http://schemas.openxmlformats.org/officeDocument/2006/relationships/image" Target="../media/image80.png"/><Relationship Id="rId1" Type="http://schemas.openxmlformats.org/officeDocument/2006/relationships/chart" Target="../charts/chart4.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4.xml"/><Relationship Id="rId3" Type="http://schemas.openxmlformats.org/officeDocument/2006/relationships/image" Target="../media/image22.png"/><Relationship Id="rId2" Type="http://schemas.openxmlformats.org/officeDocument/2006/relationships/tags" Target="../tags/tag183.xml"/><Relationship Id="rId1" Type="http://schemas.openxmlformats.org/officeDocument/2006/relationships/tags" Target="../tags/tag182.xml"/></Relationships>
</file>

<file path=ppt/slides/_rels/slide24.xml.rels><?xml version="1.0" encoding="UTF-8" standalone="yes"?>
<Relationships xmlns="http://schemas.openxmlformats.org/package/2006/relationships"><Relationship Id="rId9" Type="http://schemas.openxmlformats.org/officeDocument/2006/relationships/image" Target="../media/image84.jpeg"/><Relationship Id="rId8" Type="http://schemas.openxmlformats.org/officeDocument/2006/relationships/tags" Target="../tags/tag189.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image" Target="../media/image83.svg"/><Relationship Id="rId3" Type="http://schemas.openxmlformats.org/officeDocument/2006/relationships/image" Target="../media/image82.jpeg"/><Relationship Id="rId27" Type="http://schemas.openxmlformats.org/officeDocument/2006/relationships/notesSlide" Target="../notesSlides/notesSlide24.xml"/><Relationship Id="rId26" Type="http://schemas.openxmlformats.org/officeDocument/2006/relationships/slideLayout" Target="../slideLayouts/slideLayout12.xml"/><Relationship Id="rId25" Type="http://schemas.openxmlformats.org/officeDocument/2006/relationships/image" Target="../media/image8.png"/><Relationship Id="rId24" Type="http://schemas.openxmlformats.org/officeDocument/2006/relationships/tags" Target="../tags/tag199.xml"/><Relationship Id="rId23" Type="http://schemas.openxmlformats.org/officeDocument/2006/relationships/tags" Target="../tags/tag198.xml"/><Relationship Id="rId22" Type="http://schemas.openxmlformats.org/officeDocument/2006/relationships/image" Target="../media/image89.svg"/><Relationship Id="rId21" Type="http://schemas.openxmlformats.org/officeDocument/2006/relationships/image" Target="../media/image88.jpeg"/><Relationship Id="rId20" Type="http://schemas.openxmlformats.org/officeDocument/2006/relationships/tags" Target="../tags/tag197.xml"/><Relationship Id="rId2" Type="http://schemas.openxmlformats.org/officeDocument/2006/relationships/tags" Target="../tags/tag185.xml"/><Relationship Id="rId19" Type="http://schemas.openxmlformats.org/officeDocument/2006/relationships/tags" Target="../tags/tag196.xml"/><Relationship Id="rId18" Type="http://schemas.openxmlformats.org/officeDocument/2006/relationships/tags" Target="../tags/tag195.xml"/><Relationship Id="rId17" Type="http://schemas.openxmlformats.org/officeDocument/2006/relationships/tags" Target="../tags/tag194.xml"/><Relationship Id="rId16" Type="http://schemas.openxmlformats.org/officeDocument/2006/relationships/image" Target="../media/image87.svg"/><Relationship Id="rId15" Type="http://schemas.openxmlformats.org/officeDocument/2006/relationships/image" Target="../media/image86.jpeg"/><Relationship Id="rId14" Type="http://schemas.openxmlformats.org/officeDocument/2006/relationships/tags" Target="../tags/tag193.xml"/><Relationship Id="rId13" Type="http://schemas.openxmlformats.org/officeDocument/2006/relationships/tags" Target="../tags/tag192.xml"/><Relationship Id="rId12" Type="http://schemas.openxmlformats.org/officeDocument/2006/relationships/tags" Target="../tags/tag191.xml"/><Relationship Id="rId11" Type="http://schemas.openxmlformats.org/officeDocument/2006/relationships/tags" Target="../tags/tag190.xml"/><Relationship Id="rId10" Type="http://schemas.openxmlformats.org/officeDocument/2006/relationships/image" Target="../media/image85.svg"/><Relationship Id="rId1" Type="http://schemas.openxmlformats.org/officeDocument/2006/relationships/tags" Target="../tags/tag184.xml"/></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25.xml"/><Relationship Id="rId8" Type="http://schemas.openxmlformats.org/officeDocument/2006/relationships/slideLayout" Target="../slideLayouts/slideLayout12.xml"/><Relationship Id="rId7" Type="http://schemas.openxmlformats.org/officeDocument/2006/relationships/image" Target="../media/image8.png"/><Relationship Id="rId6" Type="http://schemas.openxmlformats.org/officeDocument/2006/relationships/image" Target="../media/image93.svg"/><Relationship Id="rId5" Type="http://schemas.openxmlformats.org/officeDocument/2006/relationships/image" Target="../media/image92.jpeg"/><Relationship Id="rId4" Type="http://schemas.openxmlformats.org/officeDocument/2006/relationships/image" Target="../media/image44.svg"/><Relationship Id="rId3" Type="http://schemas.openxmlformats.org/officeDocument/2006/relationships/image" Target="../media/image43.jpeg"/><Relationship Id="rId2" Type="http://schemas.openxmlformats.org/officeDocument/2006/relationships/image" Target="../media/image91.svg"/><Relationship Id="rId1" Type="http://schemas.openxmlformats.org/officeDocument/2006/relationships/image" Target="../media/image90.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5.xml"/><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4.xml"/><Relationship Id="rId3" Type="http://schemas.openxmlformats.org/officeDocument/2006/relationships/image" Target="../media/image22.png"/><Relationship Id="rId2" Type="http://schemas.openxmlformats.org/officeDocument/2006/relationships/tags" Target="../tags/tag201.xml"/><Relationship Id="rId1" Type="http://schemas.openxmlformats.org/officeDocument/2006/relationships/tags" Target="../tags/tag20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304800" cy="6858000"/>
          </a:xfrm>
          <a:prstGeom prst="roundRect">
            <a:avLst>
              <a:gd name="adj" fmla="val 0"/>
            </a:avLst>
          </a:prstGeom>
          <a:solidFill>
            <a:srgbClr val="0052CC">
              <a:alpha val="100000"/>
            </a:srgbClr>
          </a:solidFill>
          <a:ln cap="flat" cmpd="sng">
            <a:solidFill>
              <a:srgbClr val="0048B3">
                <a:alpha val="10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016000" y="1524000"/>
            <a:ext cx="1066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实习报告</a:t>
            </a:r>
            <a:endParaRPr lang="en-US" sz="1100"/>
          </a:p>
        </p:txBody>
      </p:sp>
      <p:sp>
        <p:nvSpPr>
          <p:cNvPr id="4" name="AutoShape 4"/>
          <p:cNvSpPr/>
          <p:nvPr/>
        </p:nvSpPr>
        <p:spPr>
          <a:xfrm>
            <a:off x="1016000" y="304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大圣科技股份有限公司 | 供应链系统部</a:t>
            </a:r>
            <a:endParaRPr lang="en-US" sz="1100"/>
          </a:p>
        </p:txBody>
      </p:sp>
      <p:sp>
        <p:nvSpPr>
          <p:cNvPr id="5" name="AutoShape 5"/>
          <p:cNvSpPr/>
          <p:nvPr/>
        </p:nvSpPr>
        <p:spPr>
          <a:xfrm>
            <a:off x="1016000" y="4191000"/>
            <a:ext cx="3302000" cy="1651000"/>
          </a:xfrm>
          <a:prstGeom prst="roundRect">
            <a:avLst>
              <a:gd name="adj" fmla="val 0"/>
            </a:avLst>
          </a:prstGeom>
          <a:solidFill>
            <a:srgbClr val="F0F2F5">
              <a:alpha val="100000"/>
            </a:srgbClr>
          </a:solidFill>
          <a:ln cap="flat" cmpd="sng">
            <a:solidFill>
              <a:srgbClr val="C1CCDC">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4445000"/>
            <a:ext cx="304800" cy="304800"/>
          </a:xfrm>
          <a:prstGeom prst="rect">
            <a:avLst/>
          </a:prstGeom>
        </p:spPr>
      </p:pic>
      <p:sp>
        <p:nvSpPr>
          <p:cNvPr id="7" name="AutoShape 7"/>
          <p:cNvSpPr/>
          <p:nvPr/>
        </p:nvSpPr>
        <p:spPr>
          <a:xfrm>
            <a:off x="1676400" y="4445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endParaRPr lang="en-US" sz="1100"/>
          </a:p>
        </p:txBody>
      </p:sp>
      <p:sp>
        <p:nvSpPr>
          <p:cNvPr id="8" name="AutoShape 8"/>
          <p:cNvSpPr/>
          <p:nvPr/>
        </p:nvSpPr>
        <p:spPr>
          <a:xfrm>
            <a:off x="1270000" y="4953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梁海翘</a:t>
            </a:r>
            <a:endParaRPr lang="en-US" sz="1100"/>
          </a:p>
        </p:txBody>
      </p:sp>
      <p:sp>
        <p:nvSpPr>
          <p:cNvPr id="9" name="AutoShape 9"/>
          <p:cNvSpPr/>
          <p:nvPr/>
        </p:nvSpPr>
        <p:spPr>
          <a:xfrm>
            <a:off x="4445000" y="4191000"/>
            <a:ext cx="3302000" cy="1651000"/>
          </a:xfrm>
          <a:prstGeom prst="roundRect">
            <a:avLst>
              <a:gd name="adj" fmla="val 0"/>
            </a:avLst>
          </a:prstGeom>
          <a:solidFill>
            <a:srgbClr val="F0F2F5">
              <a:alpha val="100000"/>
            </a:srgbClr>
          </a:solidFill>
          <a:ln cap="flat" cmpd="sng">
            <a:solidFill>
              <a:srgbClr val="C1CCDC">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4445000"/>
            <a:ext cx="304800" cy="304800"/>
          </a:xfrm>
          <a:prstGeom prst="rect">
            <a:avLst/>
          </a:prstGeom>
        </p:spPr>
      </p:pic>
      <p:sp>
        <p:nvSpPr>
          <p:cNvPr id="11" name="AutoShape 11"/>
          <p:cNvSpPr/>
          <p:nvPr/>
        </p:nvSpPr>
        <p:spPr>
          <a:xfrm>
            <a:off x="5105400" y="4445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实习岗位</a:t>
            </a:r>
            <a:endParaRPr lang="en-US" sz="1100"/>
          </a:p>
        </p:txBody>
      </p:sp>
      <p:sp>
        <p:nvSpPr>
          <p:cNvPr id="12" name="AutoShape 12"/>
          <p:cNvSpPr/>
          <p:nvPr/>
        </p:nvSpPr>
        <p:spPr>
          <a:xfrm>
            <a:off x="4699000" y="4953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项目助理实习生</a:t>
            </a:r>
            <a:endParaRPr lang="en-US" sz="1100"/>
          </a:p>
        </p:txBody>
      </p:sp>
      <p:sp>
        <p:nvSpPr>
          <p:cNvPr id="13" name="AutoShape 13"/>
          <p:cNvSpPr/>
          <p:nvPr/>
        </p:nvSpPr>
        <p:spPr>
          <a:xfrm>
            <a:off x="7874000" y="4191000"/>
            <a:ext cx="3302000" cy="1651000"/>
          </a:xfrm>
          <a:prstGeom prst="roundRect">
            <a:avLst>
              <a:gd name="adj" fmla="val 0"/>
            </a:avLst>
          </a:prstGeom>
          <a:solidFill>
            <a:srgbClr val="F0F2F5">
              <a:alpha val="100000"/>
            </a:srgbClr>
          </a:solidFill>
          <a:ln cap="flat" cmpd="sng">
            <a:solidFill>
              <a:srgbClr val="C1CCDC">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4445000"/>
            <a:ext cx="304800" cy="304800"/>
          </a:xfrm>
          <a:prstGeom prst="rect">
            <a:avLst/>
          </a:prstGeom>
        </p:spPr>
      </p:pic>
      <p:sp>
        <p:nvSpPr>
          <p:cNvPr id="15" name="AutoShape 15"/>
          <p:cNvSpPr/>
          <p:nvPr/>
        </p:nvSpPr>
        <p:spPr>
          <a:xfrm>
            <a:off x="8534400" y="4445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实习周期</a:t>
            </a:r>
            <a:endParaRPr lang="en-US" sz="1100"/>
          </a:p>
        </p:txBody>
      </p:sp>
      <p:sp>
        <p:nvSpPr>
          <p:cNvPr id="16" name="AutoShape 16"/>
          <p:cNvSpPr/>
          <p:nvPr/>
        </p:nvSpPr>
        <p:spPr>
          <a:xfrm>
            <a:off x="8128000" y="4953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2026.07.17 - 2026.08.13</a:t>
            </a:r>
            <a:endParaRPr lang="en-US" sz="1100"/>
          </a:p>
        </p:txBody>
      </p:sp>
      <p:pic>
        <p:nvPicPr>
          <p:cNvPr id="17" name="图片 16"/>
          <p:cNvPicPr>
            <a:picLocks noChangeAspect="1"/>
          </p:cNvPicPr>
          <p:nvPr/>
        </p:nvPicPr>
        <p:blipFill>
          <a:blip r:embed="rId7"/>
          <a:stretch>
            <a:fillRect/>
          </a:stretch>
        </p:blipFill>
        <p:spPr>
          <a:xfrm>
            <a:off x="10179050" y="143510"/>
            <a:ext cx="1800225" cy="6038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795000" y="635000"/>
            <a:ext cx="1905000" cy="1905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5" name="AutoShape 5"/>
          <p:cNvSpPr/>
          <p:nvPr>
            <p:custDataLst>
              <p:tags r:id="rId1"/>
            </p:custDataLst>
          </p:nvPr>
        </p:nvSpPr>
        <p:spPr>
          <a:xfrm>
            <a:off x="762000" y="1778000"/>
            <a:ext cx="5207000" cy="1397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762000" y="1778000"/>
            <a:ext cx="50800" cy="1397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1016000" y="1968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8" name="AutoShape 8"/>
          <p:cNvSpPr/>
          <p:nvPr>
            <p:custDataLst>
              <p:tags r:id="rId4"/>
            </p:custDataLst>
          </p:nvPr>
        </p:nvSpPr>
        <p:spPr>
          <a:xfrm>
            <a:off x="1905000" y="1930400"/>
            <a:ext cx="393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实习概览</a:t>
            </a:r>
            <a:endParaRPr lang="en-US" sz="1100"/>
          </a:p>
          <a:p>
            <a:pPr marL="0" indent="0" algn="l">
              <a:lnSpc>
                <a:spcPct val="108000"/>
              </a:lnSpc>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我与这家公司的初次相遇，以及对实习岗位与业务环境的第一印象与融入过程。</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5"/>
            </p:custDataLst>
          </p:nvPr>
        </p:nvSpPr>
        <p:spPr>
          <a:xfrm>
            <a:off x="762000" y="3365500"/>
            <a:ext cx="5207000" cy="1397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6"/>
            </p:custDataLst>
          </p:nvPr>
        </p:nvSpPr>
        <p:spPr>
          <a:xfrm>
            <a:off x="762000" y="3365500"/>
            <a:ext cx="50800" cy="1397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7"/>
            </p:custDataLst>
          </p:nvPr>
        </p:nvSpPr>
        <p:spPr>
          <a:xfrm>
            <a:off x="1016000" y="3556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p:nvPr>
            <p:custDataLst>
              <p:tags r:id="rId8"/>
            </p:custDataLst>
          </p:nvPr>
        </p:nvSpPr>
        <p:spPr>
          <a:xfrm>
            <a:off x="1905000" y="3517900"/>
            <a:ext cx="393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项目参与</a:t>
            </a:r>
            <a:endParaRPr lang="en-US" sz="1100"/>
          </a:p>
          <a:p>
            <a:pPr marL="0" indent="0" algn="l">
              <a:lnSpc>
                <a:spcPct val="108000"/>
              </a:lnSpc>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深入真实的企业级项目核心，在实战中观察业务逻辑，从执行者的角度贡献力量。</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9"/>
            </p:custDataLst>
          </p:nvPr>
        </p:nvSpPr>
        <p:spPr>
          <a:xfrm>
            <a:off x="762000" y="4953000"/>
            <a:ext cx="5207000" cy="1397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10"/>
            </p:custDataLst>
          </p:nvPr>
        </p:nvSpPr>
        <p:spPr>
          <a:xfrm>
            <a:off x="762000" y="4953000"/>
            <a:ext cx="50800" cy="1397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11"/>
            </p:custDataLst>
          </p:nvPr>
        </p:nvSpPr>
        <p:spPr>
          <a:xfrm>
            <a:off x="1016000" y="5143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6" name="AutoShape 16"/>
          <p:cNvSpPr/>
          <p:nvPr>
            <p:custDataLst>
              <p:tags r:id="rId12"/>
            </p:custDataLst>
          </p:nvPr>
        </p:nvSpPr>
        <p:spPr>
          <a:xfrm>
            <a:off x="1905000" y="5105400"/>
            <a:ext cx="393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核心产出与亮点</a:t>
            </a:r>
            <a:endParaRPr lang="en-US" sz="1100"/>
          </a:p>
          <a:p>
            <a:pPr marL="0" indent="0" algn="l">
              <a:lnSpc>
                <a:spcPct val="108000"/>
              </a:lnSpc>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AI应用落地实践、跨角色高效沟通协作、深入理解系统架构逻辑及产品思维模式。</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3"/>
            </p:custDataLst>
          </p:nvPr>
        </p:nvSpPr>
        <p:spPr>
          <a:xfrm>
            <a:off x="6223000" y="1778000"/>
            <a:ext cx="5207000" cy="1397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4"/>
            </p:custDataLst>
          </p:nvPr>
        </p:nvSpPr>
        <p:spPr>
          <a:xfrm>
            <a:off x="6223000" y="1778000"/>
            <a:ext cx="50800" cy="1397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custDataLst>
              <p:tags r:id="rId15"/>
            </p:custDataLst>
          </p:nvPr>
        </p:nvSpPr>
        <p:spPr>
          <a:xfrm>
            <a:off x="6477000" y="1968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0" name="AutoShape 20"/>
          <p:cNvSpPr/>
          <p:nvPr>
            <p:custDataLst>
              <p:tags r:id="rId16"/>
            </p:custDataLst>
          </p:nvPr>
        </p:nvSpPr>
        <p:spPr>
          <a:xfrm>
            <a:off x="7366000" y="1930400"/>
            <a:ext cx="393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成长与收获</a:t>
            </a:r>
            <a:endParaRPr lang="en-US" sz="1100"/>
          </a:p>
          <a:p>
            <a:pPr marL="0" indent="0" algn="l">
              <a:lnSpc>
                <a:spcPct val="108000"/>
              </a:lnSpc>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实现从校园思维到职场能力的三大关键跃迁，完成专业技能与职业素养的双重提升。</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custDataLst>
              <p:tags r:id="rId17"/>
            </p:custDataLst>
          </p:nvPr>
        </p:nvSpPr>
        <p:spPr>
          <a:xfrm>
            <a:off x="6223000" y="3365500"/>
            <a:ext cx="5207000" cy="1397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custDataLst>
              <p:tags r:id="rId18"/>
            </p:custDataLst>
          </p:nvPr>
        </p:nvSpPr>
        <p:spPr>
          <a:xfrm>
            <a:off x="6223000" y="3365500"/>
            <a:ext cx="50800" cy="1397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custDataLst>
              <p:tags r:id="rId19"/>
            </p:custDataLst>
          </p:nvPr>
        </p:nvSpPr>
        <p:spPr>
          <a:xfrm>
            <a:off x="6477000" y="3556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4" name="AutoShape 24"/>
          <p:cNvSpPr/>
          <p:nvPr>
            <p:custDataLst>
              <p:tags r:id="rId20"/>
            </p:custDataLst>
          </p:nvPr>
        </p:nvSpPr>
        <p:spPr>
          <a:xfrm>
            <a:off x="7366000" y="3517900"/>
            <a:ext cx="393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不足与未来提升</a:t>
            </a:r>
            <a:endParaRPr lang="en-US" sz="1100"/>
          </a:p>
          <a:p>
            <a:pPr marL="0" indent="0" algn="l">
              <a:lnSpc>
                <a:spcPct val="108000"/>
              </a:lnSpc>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诚实复盘实习期间的认知盲区与能力短板，制定清晰的定向补强计划与未来路径。</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custDataLst>
              <p:tags r:id="rId21"/>
            </p:custDataLst>
          </p:nvPr>
        </p:nvSpPr>
        <p:spPr>
          <a:xfrm>
            <a:off x="6223000" y="4953000"/>
            <a:ext cx="5207000" cy="1397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custDataLst>
              <p:tags r:id="rId22"/>
            </p:custDataLst>
          </p:nvPr>
        </p:nvSpPr>
        <p:spPr>
          <a:xfrm>
            <a:off x="6223000" y="4953000"/>
            <a:ext cx="50800" cy="1397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custDataLst>
              <p:tags r:id="rId23"/>
            </p:custDataLst>
          </p:nvPr>
        </p:nvSpPr>
        <p:spPr>
          <a:xfrm>
            <a:off x="6477000" y="5143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28" name="AutoShape 28"/>
          <p:cNvSpPr/>
          <p:nvPr>
            <p:custDataLst>
              <p:tags r:id="rId24"/>
            </p:custDataLst>
          </p:nvPr>
        </p:nvSpPr>
        <p:spPr>
          <a:xfrm>
            <a:off x="7366000" y="5105400"/>
            <a:ext cx="393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总结与致谢</a:t>
            </a:r>
            <a:endParaRPr lang="en-US" sz="1100"/>
          </a:p>
          <a:p>
            <a:pPr marL="0" indent="0" algn="l">
              <a:lnSpc>
                <a:spcPct val="108000"/>
              </a:lnSpc>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回顾这段宝贵的职场启蒙之旅，向导师与团队表达诚挚谢意，展望未来职业发展。</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9" name="图片 28"/>
          <p:cNvPicPr>
            <a:picLocks noChangeAspect="1"/>
          </p:cNvPicPr>
          <p:nvPr/>
        </p:nvPicPr>
        <p:blipFill>
          <a:blip r:embed="rId25"/>
          <a:stretch>
            <a:fillRect/>
          </a:stretch>
        </p:blipFill>
        <p:spPr>
          <a:xfrm>
            <a:off x="10179050" y="167640"/>
            <a:ext cx="1800225" cy="6038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250371"/>
            <a:ext cx="12199621" cy="2357257"/>
          </a:xfrm>
          <a:prstGeom prst="rect">
            <a:avLst/>
          </a:prstGeom>
          <a:gradFill flip="none" rotWithShape="1">
            <a:gsLst>
              <a:gs pos="86000">
                <a:srgbClr val="80A9E6">
                  <a:alpha val="100000"/>
                </a:srgbClr>
              </a:gs>
              <a:gs pos="0">
                <a:srgbClr val="0052CC">
                  <a:alpha val="100000"/>
                </a:srgbClr>
              </a:gs>
              <a:gs pos="78000">
                <a:srgbClr val="00B0F0"/>
              </a:gs>
              <a:gs pos="100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rPr>
              <a:t>实习概览</a:t>
            </a:r>
            <a:endPar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7" name="Picture 7"/>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25700" y="2987675"/>
            <a:ext cx="659130" cy="7181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实习概览：我在哪里实习</a:t>
            </a:r>
            <a:endParaRPr lang="en-US" sz="1100"/>
          </a:p>
        </p:txBody>
      </p:sp>
      <p:grpSp>
        <p:nvGrpSpPr>
          <p:cNvPr id="26" name="组合 25"/>
          <p:cNvGrpSpPr/>
          <p:nvPr/>
        </p:nvGrpSpPr>
        <p:grpSpPr>
          <a:xfrm>
            <a:off x="417195" y="1718310"/>
            <a:ext cx="6189345" cy="3627755"/>
            <a:chOff x="1200" y="2800"/>
            <a:chExt cx="11000" cy="5920"/>
          </a:xfrm>
        </p:grpSpPr>
        <p:sp>
          <p:nvSpPr>
            <p:cNvPr id="5" name="AutoShape 5"/>
            <p:cNvSpPr/>
            <p:nvPr>
              <p:custDataLst>
                <p:tags r:id="rId1"/>
              </p:custDataLst>
            </p:nvPr>
          </p:nvSpPr>
          <p:spPr>
            <a:xfrm>
              <a:off x="1200" y="2800"/>
              <a:ext cx="5200" cy="12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2"/>
              </p:custDataLst>
            </p:nvPr>
          </p:nvSpPr>
          <p:spPr>
            <a:xfrm>
              <a:off x="7000" y="2800"/>
              <a:ext cx="5200" cy="12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grpSp>
          <p:nvGrpSpPr>
            <p:cNvPr id="25" name="组合 24"/>
            <p:cNvGrpSpPr/>
            <p:nvPr>
              <p:custDataLst>
                <p:tags r:id="rId3"/>
              </p:custDataLst>
            </p:nvPr>
          </p:nvGrpSpPr>
          <p:grpSpPr>
            <a:xfrm>
              <a:off x="1200" y="2920"/>
              <a:ext cx="11000" cy="5800"/>
              <a:chOff x="1200" y="2920"/>
              <a:chExt cx="11000" cy="5800"/>
            </a:xfrm>
          </p:grpSpPr>
          <p:sp>
            <p:nvSpPr>
              <p:cNvPr id="6" name="AutoShape 6"/>
              <p:cNvSpPr/>
              <p:nvPr>
                <p:custDataLst>
                  <p:tags r:id="rId4"/>
                </p:custDataLst>
              </p:nvPr>
            </p:nvSpPr>
            <p:spPr>
              <a:xfrm>
                <a:off x="1200" y="2920"/>
                <a:ext cx="5200" cy="58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00" y="3500"/>
                <a:ext cx="720" cy="720"/>
              </a:xfrm>
              <a:prstGeom prst="rect">
                <a:avLst/>
              </a:prstGeom>
            </p:spPr>
          </p:pic>
          <p:sp>
            <p:nvSpPr>
              <p:cNvPr id="8" name="AutoShape 8"/>
              <p:cNvSpPr/>
              <p:nvPr>
                <p:custDataLst>
                  <p:tags r:id="rId8"/>
                </p:custDataLst>
              </p:nvPr>
            </p:nvSpPr>
            <p:spPr>
              <a:xfrm>
                <a:off x="2480" y="3500"/>
                <a:ext cx="3800" cy="72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8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大圣科技股份有限公司</a:t>
                </a:r>
                <a:endParaRPr lang="en-US" sz="1800" b="1">
                  <a:solidFill>
                    <a:srgbClr val="1F2937"/>
                  </a:solidFill>
                  <a:latin typeface="Noto Sans SC" panose="020B0200000000000000" charset="-122"/>
                  <a:ea typeface="Noto Sans SC" panose="020B0200000000000000" charset="-122"/>
                  <a:cs typeface="Noto Sans SC" panose="020B0200000000000000" charset="-122"/>
                </a:endParaRPr>
              </a:p>
            </p:txBody>
          </p:sp>
          <p:cxnSp>
            <p:nvCxnSpPr>
              <p:cNvPr id="9" name="Connector 9"/>
              <p:cNvCxnSpPr/>
              <p:nvPr>
                <p:custDataLst>
                  <p:tags r:id="rId9"/>
                </p:custDataLst>
              </p:nvPr>
            </p:nvCxnSpPr>
            <p:spPr>
              <a:xfrm rot="-15626">
                <a:off x="1600" y="4590"/>
                <a:ext cx="4400" cy="2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0" name="AutoShape 10"/>
              <p:cNvSpPr/>
              <p:nvPr>
                <p:custDataLst>
                  <p:tags r:id="rId10"/>
                </p:custDataLst>
              </p:nvPr>
            </p:nvSpPr>
            <p:spPr>
              <a:xfrm>
                <a:off x="1600" y="5000"/>
                <a:ext cx="4400" cy="3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本次实习所在单位是大圣科技股份有限公司——广汽集团的核心数字化供应商，承担整车及零部件业务的数字化系统建设。</a:t>
                </a:r>
                <a:endPar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11"/>
                </p:custDataLst>
              </p:nvPr>
            </p:nvSpPr>
            <p:spPr>
              <a:xfrm>
                <a:off x="7000" y="2920"/>
                <a:ext cx="5200" cy="58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00" y="3500"/>
                <a:ext cx="720" cy="720"/>
              </a:xfrm>
              <a:prstGeom prst="rect">
                <a:avLst/>
              </a:prstGeom>
            </p:spPr>
          </p:pic>
          <p:sp>
            <p:nvSpPr>
              <p:cNvPr id="14" name="AutoShape 14"/>
              <p:cNvSpPr/>
              <p:nvPr>
                <p:custDataLst>
                  <p:tags r:id="rId15"/>
                </p:custDataLst>
              </p:nvPr>
            </p:nvSpPr>
            <p:spPr>
              <a:xfrm>
                <a:off x="8280" y="3500"/>
                <a:ext cx="3800" cy="7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岗位：项目助理</a:t>
                </a:r>
                <a:endParaRPr lang="en-US" sz="1100"/>
              </a:p>
            </p:txBody>
          </p:sp>
          <p:cxnSp>
            <p:nvCxnSpPr>
              <p:cNvPr id="15" name="Connector 15"/>
              <p:cNvCxnSpPr/>
              <p:nvPr>
                <p:custDataLst>
                  <p:tags r:id="rId16"/>
                </p:custDataLst>
              </p:nvPr>
            </p:nvCxnSpPr>
            <p:spPr>
              <a:xfrm rot="-15626">
                <a:off x="7400" y="4590"/>
                <a:ext cx="4400" cy="2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6" name="AutoShape 16"/>
              <p:cNvSpPr/>
              <p:nvPr>
                <p:custDataLst>
                  <p:tags r:id="rId17"/>
                </p:custDataLst>
              </p:nvPr>
            </p:nvSpPr>
            <p:spPr>
              <a:xfrm>
                <a:off x="7400" y="5000"/>
                <a:ext cx="4400" cy="3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a:solidFill>
                      <a:srgbClr val="4B5563"/>
                    </a:solidFill>
                    <a:latin typeface="Noto Sans SC" panose="020B0200000000000000" charset="-122"/>
                    <a:ea typeface="Noto Sans SC" panose="020B0200000000000000" charset="-122"/>
                    <a:cs typeface="Noto Sans SC" panose="020B0200000000000000" charset="-122"/>
                  </a:rPr>
                  <a:t>我所在的部门是供应链系统部，负责企业级供应链相关系统的建设与交付。我的岗位是项目助理实习生，跟随项目团队参与项目跟进和采购、供应商对接、部门系统搭建与汇报材料制作等工作。</a:t>
                </a:r>
                <a:endParaRPr lang="zh-CN" altLang="en-US" sz="1600">
                  <a:solidFill>
                    <a:srgbClr val="4B5563"/>
                  </a:solidFill>
                  <a:latin typeface="Noto Sans SC" panose="020B0200000000000000" charset="-122"/>
                  <a:ea typeface="Noto Sans SC" panose="020B0200000000000000" charset="-122"/>
                  <a:cs typeface="Noto Sans SC" panose="020B0200000000000000" charset="-122"/>
                </a:endParaRPr>
              </a:p>
            </p:txBody>
          </p:sp>
        </p:grpSp>
      </p:grpSp>
      <p:grpSp>
        <p:nvGrpSpPr>
          <p:cNvPr id="225" name="组合 224"/>
          <p:cNvGrpSpPr/>
          <p:nvPr>
            <p:custDataLst>
              <p:tags r:id="rId18"/>
            </p:custDataLst>
          </p:nvPr>
        </p:nvGrpSpPr>
        <p:grpSpPr>
          <a:xfrm rot="0">
            <a:off x="7594600" y="2101215"/>
            <a:ext cx="3503930" cy="2978785"/>
            <a:chOff x="2464" y="3258"/>
            <a:chExt cx="14455" cy="12573"/>
          </a:xfrm>
        </p:grpSpPr>
        <p:sp>
          <p:nvSpPr>
            <p:cNvPr id="226" name="任意多边形: 形状 11"/>
            <p:cNvSpPr/>
            <p:nvPr>
              <p:custDataLst>
                <p:tags r:id="rId19"/>
              </p:custDataLst>
            </p:nvPr>
          </p:nvSpPr>
          <p:spPr>
            <a:xfrm>
              <a:off x="11707" y="15197"/>
              <a:ext cx="2741" cy="573"/>
            </a:xfrm>
            <a:custGeom>
              <a:avLst/>
              <a:gdLst>
                <a:gd name="connsiteX0" fmla="*/ 1165783 w 1165782"/>
                <a:gd name="connsiteY0" fmla="*/ 57394 h 243531"/>
                <a:gd name="connsiteX1" fmla="*/ 978720 w 1165782"/>
                <a:gd name="connsiteY1" fmla="*/ 243532 h 243531"/>
                <a:gd name="connsiteX2" fmla="*/ 977417 w 1165782"/>
                <a:gd name="connsiteY2" fmla="*/ 242229 h 243531"/>
                <a:gd name="connsiteX3" fmla="*/ 976320 w 1165782"/>
                <a:gd name="connsiteY3" fmla="*/ 243326 h 243531"/>
                <a:gd name="connsiteX4" fmla="*/ 845212 w 1165782"/>
                <a:gd name="connsiteY4" fmla="*/ 112869 h 243531"/>
                <a:gd name="connsiteX5" fmla="*/ 713863 w 1165782"/>
                <a:gd name="connsiteY5" fmla="*/ 243532 h 243531"/>
                <a:gd name="connsiteX6" fmla="*/ 712526 w 1165782"/>
                <a:gd name="connsiteY6" fmla="*/ 242229 h 243531"/>
                <a:gd name="connsiteX7" fmla="*/ 711463 w 1165782"/>
                <a:gd name="connsiteY7" fmla="*/ 243326 h 243531"/>
                <a:gd name="connsiteX8" fmla="*/ 582343 w 1165782"/>
                <a:gd name="connsiteY8" fmla="*/ 114857 h 243531"/>
                <a:gd name="connsiteX9" fmla="*/ 452983 w 1165782"/>
                <a:gd name="connsiteY9" fmla="*/ 243532 h 243531"/>
                <a:gd name="connsiteX10" fmla="*/ 451680 w 1165782"/>
                <a:gd name="connsiteY10" fmla="*/ 242229 h 243531"/>
                <a:gd name="connsiteX11" fmla="*/ 450617 w 1165782"/>
                <a:gd name="connsiteY11" fmla="*/ 243326 h 243531"/>
                <a:gd name="connsiteX12" fmla="*/ 319474 w 1165782"/>
                <a:gd name="connsiteY12" fmla="*/ 112869 h 243531"/>
                <a:gd name="connsiteX13" fmla="*/ 188126 w 1165782"/>
                <a:gd name="connsiteY13" fmla="*/ 243532 h 243531"/>
                <a:gd name="connsiteX14" fmla="*/ 186823 w 1165782"/>
                <a:gd name="connsiteY14" fmla="*/ 242229 h 243531"/>
                <a:gd name="connsiteX15" fmla="*/ 185726 w 1165782"/>
                <a:gd name="connsiteY15" fmla="*/ 243326 h 243531"/>
                <a:gd name="connsiteX16" fmla="*/ 0 w 1165782"/>
                <a:gd name="connsiteY16" fmla="*/ 58526 h 243531"/>
                <a:gd name="connsiteX17" fmla="*/ 57291 w 1165782"/>
                <a:gd name="connsiteY17" fmla="*/ 1543 h 243531"/>
                <a:gd name="connsiteX18" fmla="*/ 186652 w 1165782"/>
                <a:gd name="connsiteY18" fmla="*/ 130251 h 243531"/>
                <a:gd name="connsiteX19" fmla="*/ 317520 w 1165782"/>
                <a:gd name="connsiteY19" fmla="*/ 0 h 243531"/>
                <a:gd name="connsiteX20" fmla="*/ 320606 w 1165782"/>
                <a:gd name="connsiteY20" fmla="*/ 3086 h 243531"/>
                <a:gd name="connsiteX21" fmla="*/ 322148 w 1165782"/>
                <a:gd name="connsiteY21" fmla="*/ 1543 h 243531"/>
                <a:gd name="connsiteX22" fmla="*/ 451509 w 1165782"/>
                <a:gd name="connsiteY22" fmla="*/ 130251 h 243531"/>
                <a:gd name="connsiteX23" fmla="*/ 582377 w 1165782"/>
                <a:gd name="connsiteY23" fmla="*/ 0 h 243531"/>
                <a:gd name="connsiteX24" fmla="*/ 640080 w 1165782"/>
                <a:gd name="connsiteY24" fmla="*/ 57394 h 243531"/>
                <a:gd name="connsiteX25" fmla="*/ 639600 w 1165782"/>
                <a:gd name="connsiteY25" fmla="*/ 57874 h 243531"/>
                <a:gd name="connsiteX26" fmla="*/ 712354 w 1165782"/>
                <a:gd name="connsiteY26" fmla="*/ 130251 h 243531"/>
                <a:gd name="connsiteX27" fmla="*/ 843223 w 1165782"/>
                <a:gd name="connsiteY27" fmla="*/ 0 h 243531"/>
                <a:gd name="connsiteX28" fmla="*/ 846308 w 1165782"/>
                <a:gd name="connsiteY28" fmla="*/ 3086 h 243531"/>
                <a:gd name="connsiteX29" fmla="*/ 847852 w 1165782"/>
                <a:gd name="connsiteY29" fmla="*/ 1543 h 243531"/>
                <a:gd name="connsiteX30" fmla="*/ 977212 w 1165782"/>
                <a:gd name="connsiteY30" fmla="*/ 130251 h 243531"/>
                <a:gd name="connsiteX31" fmla="*/ 1108114 w 1165782"/>
                <a:gd name="connsiteY31" fmla="*/ 0 h 243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65782" h="243531">
                  <a:moveTo>
                    <a:pt x="1165783" y="57394"/>
                  </a:moveTo>
                  <a:lnTo>
                    <a:pt x="978720" y="243532"/>
                  </a:lnTo>
                  <a:lnTo>
                    <a:pt x="977417" y="242229"/>
                  </a:lnTo>
                  <a:lnTo>
                    <a:pt x="976320" y="243326"/>
                  </a:lnTo>
                  <a:lnTo>
                    <a:pt x="845212" y="112869"/>
                  </a:lnTo>
                  <a:lnTo>
                    <a:pt x="713863" y="243532"/>
                  </a:lnTo>
                  <a:lnTo>
                    <a:pt x="712526" y="242229"/>
                  </a:lnTo>
                  <a:lnTo>
                    <a:pt x="711463" y="243326"/>
                  </a:lnTo>
                  <a:lnTo>
                    <a:pt x="582343" y="114857"/>
                  </a:lnTo>
                  <a:lnTo>
                    <a:pt x="452983" y="243532"/>
                  </a:lnTo>
                  <a:lnTo>
                    <a:pt x="451680" y="242229"/>
                  </a:lnTo>
                  <a:lnTo>
                    <a:pt x="450617" y="243326"/>
                  </a:lnTo>
                  <a:lnTo>
                    <a:pt x="319474" y="112869"/>
                  </a:lnTo>
                  <a:lnTo>
                    <a:pt x="188126" y="243532"/>
                  </a:lnTo>
                  <a:lnTo>
                    <a:pt x="186823" y="242229"/>
                  </a:lnTo>
                  <a:lnTo>
                    <a:pt x="185726" y="243326"/>
                  </a:lnTo>
                  <a:lnTo>
                    <a:pt x="0" y="58526"/>
                  </a:lnTo>
                  <a:lnTo>
                    <a:pt x="57291" y="1543"/>
                  </a:lnTo>
                  <a:lnTo>
                    <a:pt x="186652" y="130251"/>
                  </a:lnTo>
                  <a:lnTo>
                    <a:pt x="317520" y="0"/>
                  </a:lnTo>
                  <a:lnTo>
                    <a:pt x="320606" y="3086"/>
                  </a:lnTo>
                  <a:lnTo>
                    <a:pt x="322148" y="1543"/>
                  </a:lnTo>
                  <a:lnTo>
                    <a:pt x="451509" y="130251"/>
                  </a:lnTo>
                  <a:lnTo>
                    <a:pt x="582377" y="0"/>
                  </a:lnTo>
                  <a:lnTo>
                    <a:pt x="640080" y="57394"/>
                  </a:lnTo>
                  <a:lnTo>
                    <a:pt x="639600" y="57874"/>
                  </a:lnTo>
                  <a:lnTo>
                    <a:pt x="712354" y="130251"/>
                  </a:lnTo>
                  <a:lnTo>
                    <a:pt x="843223" y="0"/>
                  </a:lnTo>
                  <a:lnTo>
                    <a:pt x="846308" y="3086"/>
                  </a:lnTo>
                  <a:lnTo>
                    <a:pt x="847852" y="1543"/>
                  </a:lnTo>
                  <a:lnTo>
                    <a:pt x="977212" y="130251"/>
                  </a:lnTo>
                  <a:lnTo>
                    <a:pt x="1108114" y="0"/>
                  </a:lnTo>
                  <a:close/>
                </a:path>
              </a:pathLst>
            </a:custGeom>
            <a:solidFill>
              <a:schemeClr val="accent3"/>
            </a:solidFill>
            <a:ln w="3429" cap="flat">
              <a:noFill/>
              <a:prstDash val="solid"/>
              <a:miter/>
            </a:ln>
          </p:spPr>
          <p:txBody>
            <a:bodyPr rtlCol="0" anchor="ctr"/>
            <a:lstStyle/>
            <a:p>
              <a:endParaRPr lang="zh-CN" altLang="en-US">
                <a:cs typeface="思源黑体 Regular" panose="020B0500000000000000" charset="-122"/>
              </a:endParaRPr>
            </a:p>
          </p:txBody>
        </p:sp>
        <p:sp>
          <p:nvSpPr>
            <p:cNvPr id="227" name="任意多边形: 形状 16"/>
            <p:cNvSpPr/>
            <p:nvPr>
              <p:custDataLst>
                <p:tags r:id="rId20"/>
              </p:custDataLst>
            </p:nvPr>
          </p:nvSpPr>
          <p:spPr>
            <a:xfrm>
              <a:off x="11850" y="3802"/>
              <a:ext cx="5069" cy="5155"/>
            </a:xfrm>
            <a:custGeom>
              <a:avLst/>
              <a:gdLst>
                <a:gd name="connsiteX0" fmla="*/ 1991760 w 1994354"/>
                <a:gd name="connsiteY0" fmla="*/ 484629 h 2027849"/>
                <a:gd name="connsiteX1" fmla="*/ 1975680 w 1994354"/>
                <a:gd name="connsiteY1" fmla="*/ 490615 h 2027849"/>
                <a:gd name="connsiteX2" fmla="*/ 1964914 w 1994354"/>
                <a:gd name="connsiteY2" fmla="*/ 476410 h 2027849"/>
                <a:gd name="connsiteX3" fmla="*/ 1976332 w 1994354"/>
                <a:gd name="connsiteY3" fmla="*/ 462086 h 2027849"/>
                <a:gd name="connsiteX4" fmla="*/ 1980754 w 1994354"/>
                <a:gd name="connsiteY4" fmla="*/ 460944 h 2027849"/>
                <a:gd name="connsiteX5" fmla="*/ 1987269 w 1994354"/>
                <a:gd name="connsiteY5" fmla="*/ 462967 h 2027849"/>
                <a:gd name="connsiteX6" fmla="*/ 1989977 w 1994354"/>
                <a:gd name="connsiteY6" fmla="*/ 465847 h 2027849"/>
                <a:gd name="connsiteX7" fmla="*/ 1991760 w 1994354"/>
                <a:gd name="connsiteY7" fmla="*/ 484629 h 2027849"/>
                <a:gd name="connsiteX8" fmla="*/ 1670160 w 1994354"/>
                <a:gd name="connsiteY8" fmla="*/ 996885 h 2027849"/>
                <a:gd name="connsiteX9" fmla="*/ 1660183 w 1994354"/>
                <a:gd name="connsiteY9" fmla="*/ 978748 h 2027849"/>
                <a:gd name="connsiteX10" fmla="*/ 1678320 w 1994354"/>
                <a:gd name="connsiteY10" fmla="*/ 968784 h 2027849"/>
                <a:gd name="connsiteX11" fmla="*/ 1678697 w 1994354"/>
                <a:gd name="connsiteY11" fmla="*/ 968894 h 2027849"/>
                <a:gd name="connsiteX12" fmla="*/ 1688674 w 1994354"/>
                <a:gd name="connsiteY12" fmla="*/ 987031 h 2027849"/>
                <a:gd name="connsiteX13" fmla="*/ 1670537 w 1994354"/>
                <a:gd name="connsiteY13" fmla="*/ 996995 h 2027849"/>
                <a:gd name="connsiteX14" fmla="*/ 1670160 w 1994354"/>
                <a:gd name="connsiteY14" fmla="*/ 996885 h 2027849"/>
                <a:gd name="connsiteX15" fmla="*/ 1712194 w 1994354"/>
                <a:gd name="connsiteY15" fmla="*/ 862015 h 2027849"/>
                <a:gd name="connsiteX16" fmla="*/ 1702183 w 1994354"/>
                <a:gd name="connsiteY16" fmla="*/ 843662 h 2027849"/>
                <a:gd name="connsiteX17" fmla="*/ 1720526 w 1994354"/>
                <a:gd name="connsiteY17" fmla="*/ 833657 h 2027849"/>
                <a:gd name="connsiteX18" fmla="*/ 1730571 w 1994354"/>
                <a:gd name="connsiteY18" fmla="*/ 851925 h 2027849"/>
                <a:gd name="connsiteX19" fmla="*/ 1712194 w 1994354"/>
                <a:gd name="connsiteY19" fmla="*/ 862015 h 2027849"/>
                <a:gd name="connsiteX20" fmla="*/ 1756526 w 1994354"/>
                <a:gd name="connsiteY20" fmla="*/ 718790 h 2027849"/>
                <a:gd name="connsiteX21" fmla="*/ 1746789 w 1994354"/>
                <a:gd name="connsiteY21" fmla="*/ 700317 h 2027849"/>
                <a:gd name="connsiteX22" fmla="*/ 1764994 w 1994354"/>
                <a:gd name="connsiteY22" fmla="*/ 690490 h 2027849"/>
                <a:gd name="connsiteX23" fmla="*/ 1774903 w 1994354"/>
                <a:gd name="connsiteY23" fmla="*/ 708926 h 2027849"/>
                <a:gd name="connsiteX24" fmla="*/ 1756526 w 1994354"/>
                <a:gd name="connsiteY24" fmla="*/ 718790 h 2027849"/>
                <a:gd name="connsiteX25" fmla="*/ 1798046 w 1994354"/>
                <a:gd name="connsiteY25" fmla="*/ 583409 h 2027849"/>
                <a:gd name="connsiteX26" fmla="*/ 1788480 w 1994354"/>
                <a:gd name="connsiteY26" fmla="*/ 565097 h 2027849"/>
                <a:gd name="connsiteX27" fmla="*/ 1806789 w 1994354"/>
                <a:gd name="connsiteY27" fmla="*/ 555532 h 2027849"/>
                <a:gd name="connsiteX28" fmla="*/ 1807269 w 1994354"/>
                <a:gd name="connsiteY28" fmla="*/ 555689 h 2027849"/>
                <a:gd name="connsiteX29" fmla="*/ 1816834 w 1994354"/>
                <a:gd name="connsiteY29" fmla="*/ 574002 h 2027849"/>
                <a:gd name="connsiteX30" fmla="*/ 1798526 w 1994354"/>
                <a:gd name="connsiteY30" fmla="*/ 583567 h 2027849"/>
                <a:gd name="connsiteX31" fmla="*/ 1798046 w 1994354"/>
                <a:gd name="connsiteY31" fmla="*/ 583409 h 2027849"/>
                <a:gd name="connsiteX32" fmla="*/ 1839874 w 1994354"/>
                <a:gd name="connsiteY32" fmla="*/ 448499 h 2027849"/>
                <a:gd name="connsiteX33" fmla="*/ 1829897 w 1994354"/>
                <a:gd name="connsiteY33" fmla="*/ 433841 h 2027849"/>
                <a:gd name="connsiteX34" fmla="*/ 1841795 w 1994354"/>
                <a:gd name="connsiteY34" fmla="*/ 420038 h 2027849"/>
                <a:gd name="connsiteX35" fmla="*/ 1846389 w 1994354"/>
                <a:gd name="connsiteY35" fmla="*/ 419260 h 2027849"/>
                <a:gd name="connsiteX36" fmla="*/ 1851600 w 1994354"/>
                <a:gd name="connsiteY36" fmla="*/ 420878 h 2027849"/>
                <a:gd name="connsiteX37" fmla="*/ 1854960 w 1994354"/>
                <a:gd name="connsiteY37" fmla="*/ 424115 h 2027849"/>
                <a:gd name="connsiteX38" fmla="*/ 1857463 w 1994354"/>
                <a:gd name="connsiteY38" fmla="*/ 441648 h 2027849"/>
                <a:gd name="connsiteX39" fmla="*/ 1839874 w 1994354"/>
                <a:gd name="connsiteY39" fmla="*/ 448499 h 2027849"/>
                <a:gd name="connsiteX40" fmla="*/ 1542446 w 1994354"/>
                <a:gd name="connsiteY40" fmla="*/ 1408602 h 2027849"/>
                <a:gd name="connsiteX41" fmla="*/ 1552149 w 1994354"/>
                <a:gd name="connsiteY41" fmla="*/ 1427033 h 2027849"/>
                <a:gd name="connsiteX42" fmla="*/ 1533566 w 1994354"/>
                <a:gd name="connsiteY42" fmla="*/ 1436610 h 2027849"/>
                <a:gd name="connsiteX43" fmla="*/ 1523966 w 1994354"/>
                <a:gd name="connsiteY43" fmla="*/ 1418095 h 2027849"/>
                <a:gd name="connsiteX44" fmla="*/ 1542446 w 1994354"/>
                <a:gd name="connsiteY44" fmla="*/ 1408602 h 2027849"/>
                <a:gd name="connsiteX45" fmla="*/ 1705269 w 1994354"/>
                <a:gd name="connsiteY45" fmla="*/ 406742 h 2027849"/>
                <a:gd name="connsiteX46" fmla="*/ 1694640 w 1994354"/>
                <a:gd name="connsiteY46" fmla="*/ 392424 h 2027849"/>
                <a:gd name="connsiteX47" fmla="*/ 1706229 w 1994354"/>
                <a:gd name="connsiteY47" fmla="*/ 378199 h 2027849"/>
                <a:gd name="connsiteX48" fmla="*/ 1710720 w 1994354"/>
                <a:gd name="connsiteY48" fmla="*/ 377171 h 2027849"/>
                <a:gd name="connsiteX49" fmla="*/ 1717234 w 1994354"/>
                <a:gd name="connsiteY49" fmla="*/ 379193 h 2027849"/>
                <a:gd name="connsiteX50" fmla="*/ 1720286 w 1994354"/>
                <a:gd name="connsiteY50" fmla="*/ 382643 h 2027849"/>
                <a:gd name="connsiteX51" fmla="*/ 1721520 w 1994354"/>
                <a:gd name="connsiteY51" fmla="*/ 400920 h 2027849"/>
                <a:gd name="connsiteX52" fmla="*/ 1705269 w 1994354"/>
                <a:gd name="connsiteY52" fmla="*/ 406742 h 2027849"/>
                <a:gd name="connsiteX53" fmla="*/ 1135269 w 1994354"/>
                <a:gd name="connsiteY53" fmla="*/ 1765992 h 2027849"/>
                <a:gd name="connsiteX54" fmla="*/ 1125326 w 1994354"/>
                <a:gd name="connsiteY54" fmla="*/ 1747920 h 2027849"/>
                <a:gd name="connsiteX55" fmla="*/ 1143394 w 1994354"/>
                <a:gd name="connsiteY55" fmla="*/ 1737988 h 2027849"/>
                <a:gd name="connsiteX56" fmla="*/ 1143703 w 1994354"/>
                <a:gd name="connsiteY56" fmla="*/ 1738077 h 2027849"/>
                <a:gd name="connsiteX57" fmla="*/ 1153886 w 1994354"/>
                <a:gd name="connsiteY57" fmla="*/ 1756015 h 2027849"/>
                <a:gd name="connsiteX58" fmla="*/ 1135955 w 1994354"/>
                <a:gd name="connsiteY58" fmla="*/ 1766195 h 2027849"/>
                <a:gd name="connsiteX59" fmla="*/ 1135269 w 1994354"/>
                <a:gd name="connsiteY59" fmla="*/ 1765992 h 2027849"/>
                <a:gd name="connsiteX60" fmla="*/ 1527943 w 1994354"/>
                <a:gd name="connsiteY60" fmla="*/ 499615 h 2027849"/>
                <a:gd name="connsiteX61" fmla="*/ 1518275 w 1994354"/>
                <a:gd name="connsiteY61" fmla="*/ 481365 h 2027849"/>
                <a:gd name="connsiteX62" fmla="*/ 1536514 w 1994354"/>
                <a:gd name="connsiteY62" fmla="*/ 471703 h 2027849"/>
                <a:gd name="connsiteX63" fmla="*/ 1536720 w 1994354"/>
                <a:gd name="connsiteY63" fmla="*/ 471761 h 2027849"/>
                <a:gd name="connsiteX64" fmla="*/ 1546663 w 1994354"/>
                <a:gd name="connsiteY64" fmla="*/ 489861 h 2027849"/>
                <a:gd name="connsiteX65" fmla="*/ 1528560 w 1994354"/>
                <a:gd name="connsiteY65" fmla="*/ 499814 h 2027849"/>
                <a:gd name="connsiteX66" fmla="*/ 1527943 w 1994354"/>
                <a:gd name="connsiteY66" fmla="*/ 499615 h 2027849"/>
                <a:gd name="connsiteX67" fmla="*/ 1569326 w 1994354"/>
                <a:gd name="connsiteY67" fmla="*/ 364553 h 2027849"/>
                <a:gd name="connsiteX68" fmla="*/ 1559554 w 1994354"/>
                <a:gd name="connsiteY68" fmla="*/ 349053 h 2027849"/>
                <a:gd name="connsiteX69" fmla="*/ 1571692 w 1994354"/>
                <a:gd name="connsiteY69" fmla="*/ 336124 h 2027849"/>
                <a:gd name="connsiteX70" fmla="*/ 1576354 w 1994354"/>
                <a:gd name="connsiteY70" fmla="*/ 335489 h 2027849"/>
                <a:gd name="connsiteX71" fmla="*/ 1581566 w 1994354"/>
                <a:gd name="connsiteY71" fmla="*/ 337108 h 2027849"/>
                <a:gd name="connsiteX72" fmla="*/ 1585269 w 1994354"/>
                <a:gd name="connsiteY72" fmla="*/ 340931 h 2027849"/>
                <a:gd name="connsiteX73" fmla="*/ 1586571 w 1994354"/>
                <a:gd name="connsiteY73" fmla="*/ 358536 h 2027849"/>
                <a:gd name="connsiteX74" fmla="*/ 1569326 w 1994354"/>
                <a:gd name="connsiteY74" fmla="*/ 364553 h 2027849"/>
                <a:gd name="connsiteX75" fmla="*/ 1450594 w 1994354"/>
                <a:gd name="connsiteY75" fmla="*/ 749925 h 2027849"/>
                <a:gd name="connsiteX76" fmla="*/ 1460160 w 1994354"/>
                <a:gd name="connsiteY76" fmla="*/ 768569 h 2027849"/>
                <a:gd name="connsiteX77" fmla="*/ 1441406 w 1994354"/>
                <a:gd name="connsiteY77" fmla="*/ 778015 h 2027849"/>
                <a:gd name="connsiteX78" fmla="*/ 1431943 w 1994354"/>
                <a:gd name="connsiteY78" fmla="*/ 759371 h 2027849"/>
                <a:gd name="connsiteX79" fmla="*/ 1450594 w 1994354"/>
                <a:gd name="connsiteY79" fmla="*/ 749915 h 2027849"/>
                <a:gd name="connsiteX80" fmla="*/ 1494617 w 1994354"/>
                <a:gd name="connsiteY80" fmla="*/ 606611 h 2027849"/>
                <a:gd name="connsiteX81" fmla="*/ 1504697 w 1994354"/>
                <a:gd name="connsiteY81" fmla="*/ 625032 h 2027849"/>
                <a:gd name="connsiteX82" fmla="*/ 1486251 w 1994354"/>
                <a:gd name="connsiteY82" fmla="*/ 634937 h 2027849"/>
                <a:gd name="connsiteX83" fmla="*/ 1476137 w 1994354"/>
                <a:gd name="connsiteY83" fmla="*/ 616660 h 2027849"/>
                <a:gd name="connsiteX84" fmla="*/ 1494446 w 1994354"/>
                <a:gd name="connsiteY84" fmla="*/ 606559 h 2027849"/>
                <a:gd name="connsiteX85" fmla="*/ 1494617 w 1994354"/>
                <a:gd name="connsiteY85" fmla="*/ 606614 h 2027849"/>
                <a:gd name="connsiteX86" fmla="*/ 1408594 w 1994354"/>
                <a:gd name="connsiteY86" fmla="*/ 885100 h 2027849"/>
                <a:gd name="connsiteX87" fmla="*/ 1418332 w 1994354"/>
                <a:gd name="connsiteY87" fmla="*/ 903371 h 2027849"/>
                <a:gd name="connsiteX88" fmla="*/ 1400057 w 1994354"/>
                <a:gd name="connsiteY88" fmla="*/ 913108 h 2027849"/>
                <a:gd name="connsiteX89" fmla="*/ 1399611 w 1994354"/>
                <a:gd name="connsiteY89" fmla="*/ 912964 h 2027849"/>
                <a:gd name="connsiteX90" fmla="*/ 1389771 w 1994354"/>
                <a:gd name="connsiteY90" fmla="*/ 894751 h 2027849"/>
                <a:gd name="connsiteX91" fmla="*/ 1407977 w 1994354"/>
                <a:gd name="connsiteY91" fmla="*/ 884904 h 2027849"/>
                <a:gd name="connsiteX92" fmla="*/ 1408594 w 1994354"/>
                <a:gd name="connsiteY92" fmla="*/ 885103 h 2027849"/>
                <a:gd name="connsiteX93" fmla="*/ 1185943 w 1994354"/>
                <a:gd name="connsiteY93" fmla="*/ 1602844 h 2027849"/>
                <a:gd name="connsiteX94" fmla="*/ 1195646 w 1994354"/>
                <a:gd name="connsiteY94" fmla="*/ 1621413 h 2027849"/>
                <a:gd name="connsiteX95" fmla="*/ 1177063 w 1994354"/>
                <a:gd name="connsiteY95" fmla="*/ 1631105 h 2027849"/>
                <a:gd name="connsiteX96" fmla="*/ 1176823 w 1994354"/>
                <a:gd name="connsiteY96" fmla="*/ 1631027 h 2027849"/>
                <a:gd name="connsiteX97" fmla="*/ 1167600 w 1994354"/>
                <a:gd name="connsiteY97" fmla="*/ 1612214 h 2027849"/>
                <a:gd name="connsiteX98" fmla="*/ 1185943 w 1994354"/>
                <a:gd name="connsiteY98" fmla="*/ 1602847 h 2027849"/>
                <a:gd name="connsiteX99" fmla="*/ 1229966 w 1994354"/>
                <a:gd name="connsiteY99" fmla="*/ 1459626 h 2027849"/>
                <a:gd name="connsiteX100" fmla="*/ 1240080 w 1994354"/>
                <a:gd name="connsiteY100" fmla="*/ 1478020 h 2027849"/>
                <a:gd name="connsiteX101" fmla="*/ 1221635 w 1994354"/>
                <a:gd name="connsiteY101" fmla="*/ 1487904 h 2027849"/>
                <a:gd name="connsiteX102" fmla="*/ 1211623 w 1994354"/>
                <a:gd name="connsiteY102" fmla="*/ 1469627 h 2027849"/>
                <a:gd name="connsiteX103" fmla="*/ 1229966 w 1994354"/>
                <a:gd name="connsiteY103" fmla="*/ 1459629 h 2027849"/>
                <a:gd name="connsiteX104" fmla="*/ 1263429 w 1994354"/>
                <a:gd name="connsiteY104" fmla="*/ 1352801 h 2027849"/>
                <a:gd name="connsiteX105" fmla="*/ 1253589 w 1994354"/>
                <a:gd name="connsiteY105" fmla="*/ 1334417 h 2027849"/>
                <a:gd name="connsiteX106" fmla="*/ 1271897 w 1994354"/>
                <a:gd name="connsiteY106" fmla="*/ 1324656 h 2027849"/>
                <a:gd name="connsiteX107" fmla="*/ 1271966 w 1994354"/>
                <a:gd name="connsiteY107" fmla="*/ 1324677 h 2027849"/>
                <a:gd name="connsiteX108" fmla="*/ 1281977 w 1994354"/>
                <a:gd name="connsiteY108" fmla="*/ 1343013 h 2027849"/>
                <a:gd name="connsiteX109" fmla="*/ 1263429 w 1994354"/>
                <a:gd name="connsiteY109" fmla="*/ 1352805 h 2027849"/>
                <a:gd name="connsiteX110" fmla="*/ 1348046 w 1994354"/>
                <a:gd name="connsiteY110" fmla="*/ 1029960 h 2027849"/>
                <a:gd name="connsiteX111" fmla="*/ 1366389 w 1994354"/>
                <a:gd name="connsiteY111" fmla="*/ 1019969 h 2027849"/>
                <a:gd name="connsiteX112" fmla="*/ 1376469 w 1994354"/>
                <a:gd name="connsiteY112" fmla="*/ 1038254 h 2027849"/>
                <a:gd name="connsiteX113" fmla="*/ 1358194 w 1994354"/>
                <a:gd name="connsiteY113" fmla="*/ 1048344 h 2027849"/>
                <a:gd name="connsiteX114" fmla="*/ 1357989 w 1994354"/>
                <a:gd name="connsiteY114" fmla="*/ 1048283 h 2027849"/>
                <a:gd name="connsiteX115" fmla="*/ 1348046 w 1994354"/>
                <a:gd name="connsiteY115" fmla="*/ 1029964 h 2027849"/>
                <a:gd name="connsiteX116" fmla="*/ 1305052 w 1994354"/>
                <a:gd name="connsiteY116" fmla="*/ 1217630 h 2027849"/>
                <a:gd name="connsiteX117" fmla="*/ 1295589 w 1994354"/>
                <a:gd name="connsiteY117" fmla="*/ 1199010 h 2027849"/>
                <a:gd name="connsiteX118" fmla="*/ 1314206 w 1994354"/>
                <a:gd name="connsiteY118" fmla="*/ 1189543 h 2027849"/>
                <a:gd name="connsiteX119" fmla="*/ 1323669 w 1994354"/>
                <a:gd name="connsiteY119" fmla="*/ 1208167 h 2027849"/>
                <a:gd name="connsiteX120" fmla="*/ 1305052 w 1994354"/>
                <a:gd name="connsiteY120" fmla="*/ 1217633 h 2027849"/>
                <a:gd name="connsiteX121" fmla="*/ 1434549 w 1994354"/>
                <a:gd name="connsiteY121" fmla="*/ 322752 h 2027849"/>
                <a:gd name="connsiteX122" fmla="*/ 1424400 w 1994354"/>
                <a:gd name="connsiteY122" fmla="*/ 308229 h 2027849"/>
                <a:gd name="connsiteX123" fmla="*/ 1436126 w 1994354"/>
                <a:gd name="connsiteY123" fmla="*/ 294278 h 2027849"/>
                <a:gd name="connsiteX124" fmla="*/ 1440686 w 1994354"/>
                <a:gd name="connsiteY124" fmla="*/ 293400 h 2027849"/>
                <a:gd name="connsiteX125" fmla="*/ 1445897 w 1994354"/>
                <a:gd name="connsiteY125" fmla="*/ 295019 h 2027849"/>
                <a:gd name="connsiteX126" fmla="*/ 1449394 w 1994354"/>
                <a:gd name="connsiteY126" fmla="*/ 298193 h 2027849"/>
                <a:gd name="connsiteX127" fmla="*/ 1451726 w 1994354"/>
                <a:gd name="connsiteY127" fmla="*/ 316310 h 2027849"/>
                <a:gd name="connsiteX128" fmla="*/ 1434549 w 1994354"/>
                <a:gd name="connsiteY128" fmla="*/ 322756 h 2027849"/>
                <a:gd name="connsiteX129" fmla="*/ 1401463 w 1994354"/>
                <a:gd name="connsiteY129" fmla="*/ 429796 h 2027849"/>
                <a:gd name="connsiteX130" fmla="*/ 1411372 w 1994354"/>
                <a:gd name="connsiteY130" fmla="*/ 447919 h 2027849"/>
                <a:gd name="connsiteX131" fmla="*/ 1393234 w 1994354"/>
                <a:gd name="connsiteY131" fmla="*/ 457828 h 2027849"/>
                <a:gd name="connsiteX132" fmla="*/ 1392857 w 1994354"/>
                <a:gd name="connsiteY132" fmla="*/ 457708 h 2027849"/>
                <a:gd name="connsiteX133" fmla="*/ 1382846 w 1994354"/>
                <a:gd name="connsiteY133" fmla="*/ 439649 h 2027849"/>
                <a:gd name="connsiteX134" fmla="*/ 1400880 w 1994354"/>
                <a:gd name="connsiteY134" fmla="*/ 429621 h 2027849"/>
                <a:gd name="connsiteX135" fmla="*/ 1401463 w 1994354"/>
                <a:gd name="connsiteY135" fmla="*/ 429799 h 2027849"/>
                <a:gd name="connsiteX136" fmla="*/ 1008686 w 1994354"/>
                <a:gd name="connsiteY136" fmla="*/ 1696173 h 2027849"/>
                <a:gd name="connsiteX137" fmla="*/ 1018080 w 1994354"/>
                <a:gd name="connsiteY137" fmla="*/ 1714540 h 2027849"/>
                <a:gd name="connsiteX138" fmla="*/ 999703 w 1994354"/>
                <a:gd name="connsiteY138" fmla="*/ 1723917 h 2027849"/>
                <a:gd name="connsiteX139" fmla="*/ 990275 w 1994354"/>
                <a:gd name="connsiteY139" fmla="*/ 1705698 h 2027849"/>
                <a:gd name="connsiteX140" fmla="*/ 1008411 w 1994354"/>
                <a:gd name="connsiteY140" fmla="*/ 1696084 h 2027849"/>
                <a:gd name="connsiteX141" fmla="*/ 1008686 w 1994354"/>
                <a:gd name="connsiteY141" fmla="*/ 1696176 h 2027849"/>
                <a:gd name="connsiteX142" fmla="*/ 1299874 w 1994354"/>
                <a:gd name="connsiteY142" fmla="*/ 280968 h 2027849"/>
                <a:gd name="connsiteX143" fmla="*/ 1289143 w 1994354"/>
                <a:gd name="connsiteY143" fmla="*/ 267429 h 2027849"/>
                <a:gd name="connsiteX144" fmla="*/ 1299257 w 1994354"/>
                <a:gd name="connsiteY144" fmla="*/ 252782 h 2027849"/>
                <a:gd name="connsiteX145" fmla="*/ 1305017 w 1994354"/>
                <a:gd name="connsiteY145" fmla="*/ 251311 h 2027849"/>
                <a:gd name="connsiteX146" fmla="*/ 1311532 w 1994354"/>
                <a:gd name="connsiteY146" fmla="*/ 253334 h 2027849"/>
                <a:gd name="connsiteX147" fmla="*/ 1315132 w 1994354"/>
                <a:gd name="connsiteY147" fmla="*/ 257236 h 2027849"/>
                <a:gd name="connsiteX148" fmla="*/ 1316057 w 1994354"/>
                <a:gd name="connsiteY148" fmla="*/ 275003 h 2027849"/>
                <a:gd name="connsiteX149" fmla="*/ 1299874 w 1994354"/>
                <a:gd name="connsiteY149" fmla="*/ 280972 h 2027849"/>
                <a:gd name="connsiteX150" fmla="*/ 729771 w 1994354"/>
                <a:gd name="connsiteY150" fmla="*/ 1640191 h 2027849"/>
                <a:gd name="connsiteX151" fmla="*/ 719657 w 1994354"/>
                <a:gd name="connsiteY151" fmla="*/ 1622212 h 2027849"/>
                <a:gd name="connsiteX152" fmla="*/ 737623 w 1994354"/>
                <a:gd name="connsiteY152" fmla="*/ 1612101 h 2027849"/>
                <a:gd name="connsiteX153" fmla="*/ 738172 w 1994354"/>
                <a:gd name="connsiteY153" fmla="*/ 1612262 h 2027849"/>
                <a:gd name="connsiteX154" fmla="*/ 748148 w 1994354"/>
                <a:gd name="connsiteY154" fmla="*/ 1630314 h 2027849"/>
                <a:gd name="connsiteX155" fmla="*/ 730115 w 1994354"/>
                <a:gd name="connsiteY155" fmla="*/ 1640294 h 2027849"/>
                <a:gd name="connsiteX156" fmla="*/ 729771 w 1994354"/>
                <a:gd name="connsiteY156" fmla="*/ 1640195 h 2027849"/>
                <a:gd name="connsiteX157" fmla="*/ 994354 w 1994354"/>
                <a:gd name="connsiteY157" fmla="*/ 787235 h 2027849"/>
                <a:gd name="connsiteX158" fmla="*/ 984617 w 1994354"/>
                <a:gd name="connsiteY158" fmla="*/ 768977 h 2027849"/>
                <a:gd name="connsiteX159" fmla="*/ 1002857 w 1994354"/>
                <a:gd name="connsiteY159" fmla="*/ 759223 h 2027849"/>
                <a:gd name="connsiteX160" fmla="*/ 1012869 w 1994354"/>
                <a:gd name="connsiteY160" fmla="*/ 777336 h 2027849"/>
                <a:gd name="connsiteX161" fmla="*/ 994766 w 1994354"/>
                <a:gd name="connsiteY161" fmla="*/ 787365 h 2027849"/>
                <a:gd name="connsiteX162" fmla="*/ 994354 w 1994354"/>
                <a:gd name="connsiteY162" fmla="*/ 787238 h 2027849"/>
                <a:gd name="connsiteX163" fmla="*/ 1122823 w 1994354"/>
                <a:gd name="connsiteY163" fmla="*/ 373934 h 2027849"/>
                <a:gd name="connsiteX164" fmla="*/ 1112571 w 1994354"/>
                <a:gd name="connsiteY164" fmla="*/ 355982 h 2027849"/>
                <a:gd name="connsiteX165" fmla="*/ 1130537 w 1994354"/>
                <a:gd name="connsiteY165" fmla="*/ 345744 h 2027849"/>
                <a:gd name="connsiteX166" fmla="*/ 1130880 w 1994354"/>
                <a:gd name="connsiteY166" fmla="*/ 345844 h 2027849"/>
                <a:gd name="connsiteX167" fmla="*/ 1140892 w 1994354"/>
                <a:gd name="connsiteY167" fmla="*/ 363919 h 2027849"/>
                <a:gd name="connsiteX168" fmla="*/ 1122823 w 1994354"/>
                <a:gd name="connsiteY168" fmla="*/ 373937 h 2027849"/>
                <a:gd name="connsiteX169" fmla="*/ 1163966 w 1994354"/>
                <a:gd name="connsiteY169" fmla="*/ 238817 h 2027849"/>
                <a:gd name="connsiteX170" fmla="*/ 1154091 w 1994354"/>
                <a:gd name="connsiteY170" fmla="*/ 223416 h 2027849"/>
                <a:gd name="connsiteX171" fmla="*/ 1166023 w 1994354"/>
                <a:gd name="connsiteY171" fmla="*/ 210357 h 2027849"/>
                <a:gd name="connsiteX172" fmla="*/ 1170652 w 1994354"/>
                <a:gd name="connsiteY172" fmla="*/ 209630 h 2027849"/>
                <a:gd name="connsiteX173" fmla="*/ 1175863 w 1994354"/>
                <a:gd name="connsiteY173" fmla="*/ 211248 h 2027849"/>
                <a:gd name="connsiteX174" fmla="*/ 1179669 w 1994354"/>
                <a:gd name="connsiteY174" fmla="*/ 215020 h 2027849"/>
                <a:gd name="connsiteX175" fmla="*/ 1181212 w 1994354"/>
                <a:gd name="connsiteY175" fmla="*/ 232618 h 2027849"/>
                <a:gd name="connsiteX176" fmla="*/ 1163966 w 1994354"/>
                <a:gd name="connsiteY176" fmla="*/ 238821 h 2027849"/>
                <a:gd name="connsiteX177" fmla="*/ 1089120 w 1994354"/>
                <a:gd name="connsiteY177" fmla="*/ 480813 h 2027849"/>
                <a:gd name="connsiteX178" fmla="*/ 1099166 w 1994354"/>
                <a:gd name="connsiteY178" fmla="*/ 499221 h 2027849"/>
                <a:gd name="connsiteX179" fmla="*/ 1080754 w 1994354"/>
                <a:gd name="connsiteY179" fmla="*/ 509143 h 2027849"/>
                <a:gd name="connsiteX180" fmla="*/ 1070469 w 1994354"/>
                <a:gd name="connsiteY180" fmla="*/ 490965 h 2027849"/>
                <a:gd name="connsiteX181" fmla="*/ 1088640 w 1994354"/>
                <a:gd name="connsiteY181" fmla="*/ 480676 h 2027849"/>
                <a:gd name="connsiteX182" fmla="*/ 1089120 w 1994354"/>
                <a:gd name="connsiteY182" fmla="*/ 480816 h 2027849"/>
                <a:gd name="connsiteX183" fmla="*/ 1045166 w 1994354"/>
                <a:gd name="connsiteY183" fmla="*/ 624127 h 2027849"/>
                <a:gd name="connsiteX184" fmla="*/ 1054526 w 1994354"/>
                <a:gd name="connsiteY184" fmla="*/ 642813 h 2027849"/>
                <a:gd name="connsiteX185" fmla="*/ 1035840 w 1994354"/>
                <a:gd name="connsiteY185" fmla="*/ 652183 h 2027849"/>
                <a:gd name="connsiteX186" fmla="*/ 1026480 w 1994354"/>
                <a:gd name="connsiteY186" fmla="*/ 633497 h 2027849"/>
                <a:gd name="connsiteX187" fmla="*/ 1045166 w 1994354"/>
                <a:gd name="connsiteY187" fmla="*/ 624134 h 2027849"/>
                <a:gd name="connsiteX188" fmla="*/ 952012 w 1994354"/>
                <a:gd name="connsiteY188" fmla="*/ 922330 h 2027849"/>
                <a:gd name="connsiteX189" fmla="*/ 942446 w 1994354"/>
                <a:gd name="connsiteY189" fmla="*/ 903775 h 2027849"/>
                <a:gd name="connsiteX190" fmla="*/ 960994 w 1994354"/>
                <a:gd name="connsiteY190" fmla="*/ 894203 h 2027849"/>
                <a:gd name="connsiteX191" fmla="*/ 961372 w 1994354"/>
                <a:gd name="connsiteY191" fmla="*/ 894329 h 2027849"/>
                <a:gd name="connsiteX192" fmla="*/ 970697 w 1994354"/>
                <a:gd name="connsiteY192" fmla="*/ 913012 h 2027849"/>
                <a:gd name="connsiteX193" fmla="*/ 952012 w 1994354"/>
                <a:gd name="connsiteY193" fmla="*/ 922337 h 2027849"/>
                <a:gd name="connsiteX194" fmla="*/ 899554 w 1994354"/>
                <a:gd name="connsiteY194" fmla="*/ 1091829 h 2027849"/>
                <a:gd name="connsiteX195" fmla="*/ 889817 w 1994354"/>
                <a:gd name="connsiteY195" fmla="*/ 1073342 h 2027849"/>
                <a:gd name="connsiteX196" fmla="*/ 908332 w 1994354"/>
                <a:gd name="connsiteY196" fmla="*/ 1063619 h 2027849"/>
                <a:gd name="connsiteX197" fmla="*/ 908709 w 1994354"/>
                <a:gd name="connsiteY197" fmla="*/ 1063745 h 2027849"/>
                <a:gd name="connsiteX198" fmla="*/ 918172 w 1994354"/>
                <a:gd name="connsiteY198" fmla="*/ 1082369 h 2027849"/>
                <a:gd name="connsiteX199" fmla="*/ 899554 w 1994354"/>
                <a:gd name="connsiteY199" fmla="*/ 1091836 h 2027849"/>
                <a:gd name="connsiteX200" fmla="*/ 866709 w 1994354"/>
                <a:gd name="connsiteY200" fmla="*/ 1198955 h 2027849"/>
                <a:gd name="connsiteX201" fmla="*/ 876343 w 1994354"/>
                <a:gd name="connsiteY201" fmla="*/ 1217441 h 2027849"/>
                <a:gd name="connsiteX202" fmla="*/ 857692 w 1994354"/>
                <a:gd name="connsiteY202" fmla="*/ 1226922 h 2027849"/>
                <a:gd name="connsiteX203" fmla="*/ 847886 w 1994354"/>
                <a:gd name="connsiteY203" fmla="*/ 1208603 h 2027849"/>
                <a:gd name="connsiteX204" fmla="*/ 866194 w 1994354"/>
                <a:gd name="connsiteY204" fmla="*/ 1198800 h 2027849"/>
                <a:gd name="connsiteX205" fmla="*/ 866709 w 1994354"/>
                <a:gd name="connsiteY205" fmla="*/ 1198961 h 2027849"/>
                <a:gd name="connsiteX206" fmla="*/ 806194 w 1994354"/>
                <a:gd name="connsiteY206" fmla="*/ 1343640 h 2027849"/>
                <a:gd name="connsiteX207" fmla="*/ 824640 w 1994354"/>
                <a:gd name="connsiteY207" fmla="*/ 1333872 h 2027849"/>
                <a:gd name="connsiteX208" fmla="*/ 834480 w 1994354"/>
                <a:gd name="connsiteY208" fmla="*/ 1352387 h 2027849"/>
                <a:gd name="connsiteX209" fmla="*/ 815966 w 1994354"/>
                <a:gd name="connsiteY209" fmla="*/ 1362052 h 2027849"/>
                <a:gd name="connsiteX210" fmla="*/ 806194 w 1994354"/>
                <a:gd name="connsiteY210" fmla="*/ 1343651 h 2027849"/>
                <a:gd name="connsiteX211" fmla="*/ 771429 w 1994354"/>
                <a:gd name="connsiteY211" fmla="*/ 1505256 h 2027849"/>
                <a:gd name="connsiteX212" fmla="*/ 761760 w 1994354"/>
                <a:gd name="connsiteY212" fmla="*/ 1486673 h 2027849"/>
                <a:gd name="connsiteX213" fmla="*/ 780343 w 1994354"/>
                <a:gd name="connsiteY213" fmla="*/ 1477005 h 2027849"/>
                <a:gd name="connsiteX214" fmla="*/ 790012 w 1994354"/>
                <a:gd name="connsiteY214" fmla="*/ 1495595 h 2027849"/>
                <a:gd name="connsiteX215" fmla="*/ 771429 w 1994354"/>
                <a:gd name="connsiteY215" fmla="*/ 1505267 h 2027849"/>
                <a:gd name="connsiteX216" fmla="*/ 1028709 w 1994354"/>
                <a:gd name="connsiteY216" fmla="*/ 196835 h 2027849"/>
                <a:gd name="connsiteX217" fmla="*/ 1018834 w 1994354"/>
                <a:gd name="connsiteY217" fmla="*/ 182675 h 2027849"/>
                <a:gd name="connsiteX218" fmla="*/ 1030457 w 1994354"/>
                <a:gd name="connsiteY218" fmla="*/ 168508 h 2027849"/>
                <a:gd name="connsiteX219" fmla="*/ 1034983 w 1994354"/>
                <a:gd name="connsiteY219" fmla="*/ 167534 h 2027849"/>
                <a:gd name="connsiteX220" fmla="*/ 1041532 w 1994354"/>
                <a:gd name="connsiteY220" fmla="*/ 169557 h 2027849"/>
                <a:gd name="connsiteX221" fmla="*/ 1044480 w 1994354"/>
                <a:gd name="connsiteY221" fmla="*/ 173030 h 2027849"/>
                <a:gd name="connsiteX222" fmla="*/ 1045646 w 1994354"/>
                <a:gd name="connsiteY222" fmla="*/ 191308 h 2027849"/>
                <a:gd name="connsiteX223" fmla="*/ 1028709 w 1994354"/>
                <a:gd name="connsiteY223" fmla="*/ 196845 h 2027849"/>
                <a:gd name="connsiteX224" fmla="*/ 724012 w 1994354"/>
                <a:gd name="connsiteY224" fmla="*/ 703368 h 2027849"/>
                <a:gd name="connsiteX225" fmla="*/ 714034 w 1994354"/>
                <a:gd name="connsiteY225" fmla="*/ 685245 h 2027849"/>
                <a:gd name="connsiteX226" fmla="*/ 732137 w 1994354"/>
                <a:gd name="connsiteY226" fmla="*/ 675254 h 2027849"/>
                <a:gd name="connsiteX227" fmla="*/ 732514 w 1994354"/>
                <a:gd name="connsiteY227" fmla="*/ 675367 h 2027849"/>
                <a:gd name="connsiteX228" fmla="*/ 742492 w 1994354"/>
                <a:gd name="connsiteY228" fmla="*/ 693490 h 2027849"/>
                <a:gd name="connsiteX229" fmla="*/ 724389 w 1994354"/>
                <a:gd name="connsiteY229" fmla="*/ 703481 h 2027849"/>
                <a:gd name="connsiteX230" fmla="*/ 724012 w 1994354"/>
                <a:gd name="connsiteY230" fmla="*/ 703368 h 2027849"/>
                <a:gd name="connsiteX231" fmla="*/ 800469 w 1994354"/>
                <a:gd name="connsiteY231" fmla="*/ 406848 h 2027849"/>
                <a:gd name="connsiteX232" fmla="*/ 818880 w 1994354"/>
                <a:gd name="connsiteY232" fmla="*/ 396984 h 2027849"/>
                <a:gd name="connsiteX233" fmla="*/ 828754 w 1994354"/>
                <a:gd name="connsiteY233" fmla="*/ 415475 h 2027849"/>
                <a:gd name="connsiteX234" fmla="*/ 810275 w 1994354"/>
                <a:gd name="connsiteY234" fmla="*/ 425243 h 2027849"/>
                <a:gd name="connsiteX235" fmla="*/ 800469 w 1994354"/>
                <a:gd name="connsiteY235" fmla="*/ 406848 h 2027849"/>
                <a:gd name="connsiteX236" fmla="*/ 765909 w 1994354"/>
                <a:gd name="connsiteY236" fmla="*/ 568451 h 2027849"/>
                <a:gd name="connsiteX237" fmla="*/ 756034 w 1994354"/>
                <a:gd name="connsiteY237" fmla="*/ 550025 h 2027849"/>
                <a:gd name="connsiteX238" fmla="*/ 774446 w 1994354"/>
                <a:gd name="connsiteY238" fmla="*/ 540155 h 2027849"/>
                <a:gd name="connsiteX239" fmla="*/ 784354 w 1994354"/>
                <a:gd name="connsiteY239" fmla="*/ 558508 h 2027849"/>
                <a:gd name="connsiteX240" fmla="*/ 765909 w 1994354"/>
                <a:gd name="connsiteY240" fmla="*/ 568451 h 2027849"/>
                <a:gd name="connsiteX241" fmla="*/ 852034 w 1994354"/>
                <a:gd name="connsiteY241" fmla="*/ 289931 h 2027849"/>
                <a:gd name="connsiteX242" fmla="*/ 842400 w 1994354"/>
                <a:gd name="connsiteY242" fmla="*/ 271649 h 2027849"/>
                <a:gd name="connsiteX243" fmla="*/ 860709 w 1994354"/>
                <a:gd name="connsiteY243" fmla="*/ 262025 h 2027849"/>
                <a:gd name="connsiteX244" fmla="*/ 860983 w 1994354"/>
                <a:gd name="connsiteY244" fmla="*/ 262118 h 2027849"/>
                <a:gd name="connsiteX245" fmla="*/ 870617 w 1994354"/>
                <a:gd name="connsiteY245" fmla="*/ 280399 h 2027849"/>
                <a:gd name="connsiteX246" fmla="*/ 852308 w 1994354"/>
                <a:gd name="connsiteY246" fmla="*/ 290023 h 2027849"/>
                <a:gd name="connsiteX247" fmla="*/ 852034 w 1994354"/>
                <a:gd name="connsiteY247" fmla="*/ 289931 h 2027849"/>
                <a:gd name="connsiteX248" fmla="*/ 894549 w 1994354"/>
                <a:gd name="connsiteY248" fmla="*/ 155219 h 2027849"/>
                <a:gd name="connsiteX249" fmla="*/ 883646 w 1994354"/>
                <a:gd name="connsiteY249" fmla="*/ 141103 h 2027849"/>
                <a:gd name="connsiteX250" fmla="*/ 893589 w 1994354"/>
                <a:gd name="connsiteY250" fmla="*/ 127022 h 2027849"/>
                <a:gd name="connsiteX251" fmla="*/ 899314 w 1994354"/>
                <a:gd name="connsiteY251" fmla="*/ 125455 h 2027849"/>
                <a:gd name="connsiteX252" fmla="*/ 905863 w 1994354"/>
                <a:gd name="connsiteY252" fmla="*/ 127481 h 2027849"/>
                <a:gd name="connsiteX253" fmla="*/ 909532 w 1994354"/>
                <a:gd name="connsiteY253" fmla="*/ 131335 h 2027849"/>
                <a:gd name="connsiteX254" fmla="*/ 911006 w 1994354"/>
                <a:gd name="connsiteY254" fmla="*/ 148454 h 2027849"/>
                <a:gd name="connsiteX255" fmla="*/ 894549 w 1994354"/>
                <a:gd name="connsiteY255" fmla="*/ 155219 h 2027849"/>
                <a:gd name="connsiteX256" fmla="*/ 758674 w 1994354"/>
                <a:gd name="connsiteY256" fmla="*/ 113078 h 2027849"/>
                <a:gd name="connsiteX257" fmla="*/ 748594 w 1994354"/>
                <a:gd name="connsiteY257" fmla="*/ 98503 h 2027849"/>
                <a:gd name="connsiteX258" fmla="*/ 760389 w 1994354"/>
                <a:gd name="connsiteY258" fmla="*/ 84611 h 2027849"/>
                <a:gd name="connsiteX259" fmla="*/ 764949 w 1994354"/>
                <a:gd name="connsiteY259" fmla="*/ 83774 h 2027849"/>
                <a:gd name="connsiteX260" fmla="*/ 770194 w 1994354"/>
                <a:gd name="connsiteY260" fmla="*/ 85392 h 2027849"/>
                <a:gd name="connsiteX261" fmla="*/ 773623 w 1994354"/>
                <a:gd name="connsiteY261" fmla="*/ 88595 h 2027849"/>
                <a:gd name="connsiteX262" fmla="*/ 775817 w 1994354"/>
                <a:gd name="connsiteY262" fmla="*/ 106697 h 2027849"/>
                <a:gd name="connsiteX263" fmla="*/ 758674 w 1994354"/>
                <a:gd name="connsiteY263" fmla="*/ 113078 h 2027849"/>
                <a:gd name="connsiteX264" fmla="*/ 725554 w 1994354"/>
                <a:gd name="connsiteY264" fmla="*/ 220108 h 2027849"/>
                <a:gd name="connsiteX265" fmla="*/ 735189 w 1994354"/>
                <a:gd name="connsiteY265" fmla="*/ 238379 h 2027849"/>
                <a:gd name="connsiteX266" fmla="*/ 716914 w 1994354"/>
                <a:gd name="connsiteY266" fmla="*/ 248023 h 2027849"/>
                <a:gd name="connsiteX267" fmla="*/ 707246 w 1994354"/>
                <a:gd name="connsiteY267" fmla="*/ 229879 h 2027849"/>
                <a:gd name="connsiteX268" fmla="*/ 725451 w 1994354"/>
                <a:gd name="connsiteY268" fmla="*/ 220080 h 2027849"/>
                <a:gd name="connsiteX269" fmla="*/ 725554 w 1994354"/>
                <a:gd name="connsiteY269" fmla="*/ 220108 h 2027849"/>
                <a:gd name="connsiteX270" fmla="*/ 332777 w 1994354"/>
                <a:gd name="connsiteY270" fmla="*/ 1486495 h 2027849"/>
                <a:gd name="connsiteX271" fmla="*/ 342240 w 1994354"/>
                <a:gd name="connsiteY271" fmla="*/ 1504821 h 2027849"/>
                <a:gd name="connsiteX272" fmla="*/ 323897 w 1994354"/>
                <a:gd name="connsiteY272" fmla="*/ 1514277 h 2027849"/>
                <a:gd name="connsiteX273" fmla="*/ 314400 w 1994354"/>
                <a:gd name="connsiteY273" fmla="*/ 1496119 h 2027849"/>
                <a:gd name="connsiteX274" fmla="*/ 332571 w 1994354"/>
                <a:gd name="connsiteY274" fmla="*/ 1486433 h 2027849"/>
                <a:gd name="connsiteX275" fmla="*/ 332777 w 1994354"/>
                <a:gd name="connsiteY275" fmla="*/ 1486495 h 2027849"/>
                <a:gd name="connsiteX276" fmla="*/ 624000 w 1994354"/>
                <a:gd name="connsiteY276" fmla="*/ 71301 h 2027849"/>
                <a:gd name="connsiteX277" fmla="*/ 613337 w 1994354"/>
                <a:gd name="connsiteY277" fmla="*/ 57031 h 2027849"/>
                <a:gd name="connsiteX278" fmla="*/ 624823 w 1994354"/>
                <a:gd name="connsiteY278" fmla="*/ 42761 h 2027849"/>
                <a:gd name="connsiteX279" fmla="*/ 629280 w 1994354"/>
                <a:gd name="connsiteY279" fmla="*/ 41685 h 2027849"/>
                <a:gd name="connsiteX280" fmla="*/ 635829 w 1994354"/>
                <a:gd name="connsiteY280" fmla="*/ 43711 h 2027849"/>
                <a:gd name="connsiteX281" fmla="*/ 638880 w 1994354"/>
                <a:gd name="connsiteY281" fmla="*/ 47140 h 2027849"/>
                <a:gd name="connsiteX282" fmla="*/ 640217 w 1994354"/>
                <a:gd name="connsiteY282" fmla="*/ 65407 h 2027849"/>
                <a:gd name="connsiteX283" fmla="*/ 624000 w 1994354"/>
                <a:gd name="connsiteY283" fmla="*/ 71301 h 2027849"/>
                <a:gd name="connsiteX284" fmla="*/ 185692 w 1994354"/>
                <a:gd name="connsiteY284" fmla="*/ 1017909 h 2027849"/>
                <a:gd name="connsiteX285" fmla="*/ 171909 w 1994354"/>
                <a:gd name="connsiteY285" fmla="*/ 1005984 h 2027849"/>
                <a:gd name="connsiteX286" fmla="*/ 170332 w 1994354"/>
                <a:gd name="connsiteY286" fmla="*/ 1000242 h 2027849"/>
                <a:gd name="connsiteX287" fmla="*/ 171532 w 1994354"/>
                <a:gd name="connsiteY287" fmla="*/ 996329 h 2027849"/>
                <a:gd name="connsiteX288" fmla="*/ 176160 w 1994354"/>
                <a:gd name="connsiteY288" fmla="*/ 992647 h 2027849"/>
                <a:gd name="connsiteX289" fmla="*/ 194332 w 1994354"/>
                <a:gd name="connsiteY289" fmla="*/ 990802 h 2027849"/>
                <a:gd name="connsiteX290" fmla="*/ 200674 w 1994354"/>
                <a:gd name="connsiteY290" fmla="*/ 1007421 h 2027849"/>
                <a:gd name="connsiteX291" fmla="*/ 185692 w 1994354"/>
                <a:gd name="connsiteY291" fmla="*/ 1017909 h 2027849"/>
                <a:gd name="connsiteX292" fmla="*/ 408720 w 1994354"/>
                <a:gd name="connsiteY292" fmla="*/ 300134 h 2027849"/>
                <a:gd name="connsiteX293" fmla="*/ 394663 w 1994354"/>
                <a:gd name="connsiteY293" fmla="*/ 288443 h 2027849"/>
                <a:gd name="connsiteX294" fmla="*/ 392880 w 1994354"/>
                <a:gd name="connsiteY294" fmla="*/ 282895 h 2027849"/>
                <a:gd name="connsiteX295" fmla="*/ 394080 w 1994354"/>
                <a:gd name="connsiteY295" fmla="*/ 278983 h 2027849"/>
                <a:gd name="connsiteX296" fmla="*/ 398606 w 1994354"/>
                <a:gd name="connsiteY296" fmla="*/ 275009 h 2027849"/>
                <a:gd name="connsiteX297" fmla="*/ 416674 w 1994354"/>
                <a:gd name="connsiteY297" fmla="*/ 272805 h 2027849"/>
                <a:gd name="connsiteX298" fmla="*/ 423291 w 1994354"/>
                <a:gd name="connsiteY298" fmla="*/ 289852 h 2027849"/>
                <a:gd name="connsiteX299" fmla="*/ 408720 w 1994354"/>
                <a:gd name="connsiteY299" fmla="*/ 300134 h 2027849"/>
                <a:gd name="connsiteX300" fmla="*/ 451029 w 1994354"/>
                <a:gd name="connsiteY300" fmla="*/ 164973 h 2027849"/>
                <a:gd name="connsiteX301" fmla="*/ 436526 w 1994354"/>
                <a:gd name="connsiteY301" fmla="*/ 153000 h 2027849"/>
                <a:gd name="connsiteX302" fmla="*/ 434949 w 1994354"/>
                <a:gd name="connsiteY302" fmla="*/ 147251 h 2027849"/>
                <a:gd name="connsiteX303" fmla="*/ 436183 w 1994354"/>
                <a:gd name="connsiteY303" fmla="*/ 143339 h 2027849"/>
                <a:gd name="connsiteX304" fmla="*/ 440743 w 1994354"/>
                <a:gd name="connsiteY304" fmla="*/ 139656 h 2027849"/>
                <a:gd name="connsiteX305" fmla="*/ 458949 w 1994354"/>
                <a:gd name="connsiteY305" fmla="*/ 137784 h 2027849"/>
                <a:gd name="connsiteX306" fmla="*/ 463680 w 1994354"/>
                <a:gd name="connsiteY306" fmla="*/ 158030 h 2027849"/>
                <a:gd name="connsiteX307" fmla="*/ 451029 w 1994354"/>
                <a:gd name="connsiteY307" fmla="*/ 164973 h 2027849"/>
                <a:gd name="connsiteX308" fmla="*/ 491280 w 1994354"/>
                <a:gd name="connsiteY308" fmla="*/ 29863 h 2027849"/>
                <a:gd name="connsiteX309" fmla="*/ 478697 w 1994354"/>
                <a:gd name="connsiteY309" fmla="*/ 18868 h 2027849"/>
                <a:gd name="connsiteX310" fmla="*/ 477017 w 1994354"/>
                <a:gd name="connsiteY310" fmla="*/ 11606 h 2027849"/>
                <a:gd name="connsiteX311" fmla="*/ 477840 w 1994354"/>
                <a:gd name="connsiteY311" fmla="*/ 8997 h 2027849"/>
                <a:gd name="connsiteX312" fmla="*/ 494949 w 1994354"/>
                <a:gd name="connsiteY312" fmla="*/ 4 h 2027849"/>
                <a:gd name="connsiteX313" fmla="*/ 500160 w 1994354"/>
                <a:gd name="connsiteY313" fmla="*/ 1622 h 2027849"/>
                <a:gd name="connsiteX314" fmla="*/ 503931 w 1994354"/>
                <a:gd name="connsiteY314" fmla="*/ 5421 h 2027849"/>
                <a:gd name="connsiteX315" fmla="*/ 506366 w 1994354"/>
                <a:gd name="connsiteY315" fmla="*/ 21353 h 2027849"/>
                <a:gd name="connsiteX316" fmla="*/ 491280 w 1994354"/>
                <a:gd name="connsiteY316" fmla="*/ 29863 h 2027849"/>
                <a:gd name="connsiteX317" fmla="*/ 372720 w 1994354"/>
                <a:gd name="connsiteY317" fmla="*/ 416133 h 2027849"/>
                <a:gd name="connsiteX318" fmla="*/ 377314 w 1994354"/>
                <a:gd name="connsiteY318" fmla="*/ 436337 h 2027849"/>
                <a:gd name="connsiteX319" fmla="*/ 363737 w 1994354"/>
                <a:gd name="connsiteY319" fmla="*/ 443133 h 2027849"/>
                <a:gd name="connsiteX320" fmla="*/ 350297 w 1994354"/>
                <a:gd name="connsiteY320" fmla="*/ 431609 h 2027849"/>
                <a:gd name="connsiteX321" fmla="*/ 348754 w 1994354"/>
                <a:gd name="connsiteY321" fmla="*/ 425061 h 2027849"/>
                <a:gd name="connsiteX322" fmla="*/ 349577 w 1994354"/>
                <a:gd name="connsiteY322" fmla="*/ 422452 h 2027849"/>
                <a:gd name="connsiteX323" fmla="*/ 354514 w 1994354"/>
                <a:gd name="connsiteY323" fmla="*/ 417844 h 2027849"/>
                <a:gd name="connsiteX324" fmla="*/ 372720 w 1994354"/>
                <a:gd name="connsiteY324" fmla="*/ 416133 h 2027849"/>
                <a:gd name="connsiteX325" fmla="*/ 330617 w 1994354"/>
                <a:gd name="connsiteY325" fmla="*/ 551150 h 2027849"/>
                <a:gd name="connsiteX326" fmla="*/ 335177 w 1994354"/>
                <a:gd name="connsiteY326" fmla="*/ 571461 h 2027849"/>
                <a:gd name="connsiteX327" fmla="*/ 314880 w 1994354"/>
                <a:gd name="connsiteY327" fmla="*/ 576034 h 2027849"/>
                <a:gd name="connsiteX328" fmla="*/ 308297 w 1994354"/>
                <a:gd name="connsiteY328" fmla="*/ 566410 h 2027849"/>
                <a:gd name="connsiteX329" fmla="*/ 306686 w 1994354"/>
                <a:gd name="connsiteY329" fmla="*/ 560702 h 2027849"/>
                <a:gd name="connsiteX330" fmla="*/ 307886 w 1994354"/>
                <a:gd name="connsiteY330" fmla="*/ 556790 h 2027849"/>
                <a:gd name="connsiteX331" fmla="*/ 312480 w 1994354"/>
                <a:gd name="connsiteY331" fmla="*/ 553046 h 2027849"/>
                <a:gd name="connsiteX332" fmla="*/ 330617 w 1994354"/>
                <a:gd name="connsiteY332" fmla="*/ 551150 h 2027849"/>
                <a:gd name="connsiteX333" fmla="*/ 288411 w 1994354"/>
                <a:gd name="connsiteY333" fmla="*/ 686054 h 2027849"/>
                <a:gd name="connsiteX334" fmla="*/ 293760 w 1994354"/>
                <a:gd name="connsiteY334" fmla="*/ 706097 h 2027849"/>
                <a:gd name="connsiteX335" fmla="*/ 280594 w 1994354"/>
                <a:gd name="connsiteY335" fmla="*/ 713407 h 2027849"/>
                <a:gd name="connsiteX336" fmla="*/ 266468 w 1994354"/>
                <a:gd name="connsiteY336" fmla="*/ 701850 h 2027849"/>
                <a:gd name="connsiteX337" fmla="*/ 264617 w 1994354"/>
                <a:gd name="connsiteY337" fmla="*/ 696347 h 2027849"/>
                <a:gd name="connsiteX338" fmla="*/ 265817 w 1994354"/>
                <a:gd name="connsiteY338" fmla="*/ 692435 h 2027849"/>
                <a:gd name="connsiteX339" fmla="*/ 270308 w 1994354"/>
                <a:gd name="connsiteY339" fmla="*/ 688416 h 2027849"/>
                <a:gd name="connsiteX340" fmla="*/ 288411 w 1994354"/>
                <a:gd name="connsiteY340" fmla="*/ 686054 h 2027849"/>
                <a:gd name="connsiteX341" fmla="*/ 236366 w 1994354"/>
                <a:gd name="connsiteY341" fmla="*/ 855868 h 2027849"/>
                <a:gd name="connsiteX342" fmla="*/ 240891 w 1994354"/>
                <a:gd name="connsiteY342" fmla="*/ 876072 h 2027849"/>
                <a:gd name="connsiteX343" fmla="*/ 227966 w 1994354"/>
                <a:gd name="connsiteY343" fmla="*/ 882857 h 2027849"/>
                <a:gd name="connsiteX344" fmla="*/ 213909 w 1994354"/>
                <a:gd name="connsiteY344" fmla="*/ 871200 h 2027849"/>
                <a:gd name="connsiteX345" fmla="*/ 212400 w 1994354"/>
                <a:gd name="connsiteY345" fmla="*/ 864614 h 2027849"/>
                <a:gd name="connsiteX346" fmla="*/ 213223 w 1994354"/>
                <a:gd name="connsiteY346" fmla="*/ 862005 h 2027849"/>
                <a:gd name="connsiteX347" fmla="*/ 218194 w 1994354"/>
                <a:gd name="connsiteY347" fmla="*/ 857448 h 2027849"/>
                <a:gd name="connsiteX348" fmla="*/ 236366 w 1994354"/>
                <a:gd name="connsiteY348" fmla="*/ 855868 h 2027849"/>
                <a:gd name="connsiteX349" fmla="*/ 152057 w 1994354"/>
                <a:gd name="connsiteY349" fmla="*/ 1125789 h 2027849"/>
                <a:gd name="connsiteX350" fmla="*/ 158640 w 1994354"/>
                <a:gd name="connsiteY350" fmla="*/ 1142843 h 2027849"/>
                <a:gd name="connsiteX351" fmla="*/ 144137 w 1994354"/>
                <a:gd name="connsiteY351" fmla="*/ 1153097 h 2027849"/>
                <a:gd name="connsiteX352" fmla="*/ 130046 w 1994354"/>
                <a:gd name="connsiteY352" fmla="*/ 1141440 h 2027849"/>
                <a:gd name="connsiteX353" fmla="*/ 128263 w 1994354"/>
                <a:gd name="connsiteY353" fmla="*/ 1135886 h 2027849"/>
                <a:gd name="connsiteX354" fmla="*/ 129463 w 1994354"/>
                <a:gd name="connsiteY354" fmla="*/ 1131974 h 2027849"/>
                <a:gd name="connsiteX355" fmla="*/ 133955 w 1994354"/>
                <a:gd name="connsiteY355" fmla="*/ 1128000 h 2027849"/>
                <a:gd name="connsiteX356" fmla="*/ 152057 w 1994354"/>
                <a:gd name="connsiteY356" fmla="*/ 1125789 h 2027849"/>
                <a:gd name="connsiteX357" fmla="*/ 107520 w 1994354"/>
                <a:gd name="connsiteY357" fmla="*/ 1268709 h 2027849"/>
                <a:gd name="connsiteX358" fmla="*/ 114308 w 1994354"/>
                <a:gd name="connsiteY358" fmla="*/ 1285817 h 2027849"/>
                <a:gd name="connsiteX359" fmla="*/ 99120 w 1994354"/>
                <a:gd name="connsiteY359" fmla="*/ 1296103 h 2027849"/>
                <a:gd name="connsiteX360" fmla="*/ 85680 w 1994354"/>
                <a:gd name="connsiteY360" fmla="*/ 1284604 h 2027849"/>
                <a:gd name="connsiteX361" fmla="*/ 84137 w 1994354"/>
                <a:gd name="connsiteY361" fmla="*/ 1278045 h 2027849"/>
                <a:gd name="connsiteX362" fmla="*/ 84960 w 1994354"/>
                <a:gd name="connsiteY362" fmla="*/ 1275439 h 2027849"/>
                <a:gd name="connsiteX363" fmla="*/ 89897 w 1994354"/>
                <a:gd name="connsiteY363" fmla="*/ 1270831 h 2027849"/>
                <a:gd name="connsiteX364" fmla="*/ 107520 w 1994354"/>
                <a:gd name="connsiteY364" fmla="*/ 1268709 h 2027849"/>
                <a:gd name="connsiteX365" fmla="*/ 66034 w 1994354"/>
                <a:gd name="connsiteY365" fmla="*/ 1404138 h 2027849"/>
                <a:gd name="connsiteX366" fmla="*/ 70800 w 1994354"/>
                <a:gd name="connsiteY366" fmla="*/ 1424383 h 2027849"/>
                <a:gd name="connsiteX367" fmla="*/ 58251 w 1994354"/>
                <a:gd name="connsiteY367" fmla="*/ 1431357 h 2027849"/>
                <a:gd name="connsiteX368" fmla="*/ 43680 w 1994354"/>
                <a:gd name="connsiteY368" fmla="*/ 1419419 h 2027849"/>
                <a:gd name="connsiteX369" fmla="*/ 42069 w 1994354"/>
                <a:gd name="connsiteY369" fmla="*/ 1413710 h 2027849"/>
                <a:gd name="connsiteX370" fmla="*/ 43269 w 1994354"/>
                <a:gd name="connsiteY370" fmla="*/ 1409798 h 2027849"/>
                <a:gd name="connsiteX371" fmla="*/ 47863 w 1994354"/>
                <a:gd name="connsiteY371" fmla="*/ 1406047 h 2027849"/>
                <a:gd name="connsiteX372" fmla="*/ 66034 w 1994354"/>
                <a:gd name="connsiteY372" fmla="*/ 1404120 h 2027849"/>
                <a:gd name="connsiteX373" fmla="*/ 24343 w 1994354"/>
                <a:gd name="connsiteY373" fmla="*/ 1539477 h 2027849"/>
                <a:gd name="connsiteX374" fmla="*/ 30206 w 1994354"/>
                <a:gd name="connsiteY374" fmla="*/ 1556812 h 2027849"/>
                <a:gd name="connsiteX375" fmla="*/ 13166 w 1994354"/>
                <a:gd name="connsiteY375" fmla="*/ 1566278 h 2027849"/>
                <a:gd name="connsiteX376" fmla="*/ 1852 w 1994354"/>
                <a:gd name="connsiteY376" fmla="*/ 1554857 h 2027849"/>
                <a:gd name="connsiteX377" fmla="*/ 0 w 1994354"/>
                <a:gd name="connsiteY377" fmla="*/ 1549355 h 2027849"/>
                <a:gd name="connsiteX378" fmla="*/ 1200 w 1994354"/>
                <a:gd name="connsiteY378" fmla="*/ 1545443 h 2027849"/>
                <a:gd name="connsiteX379" fmla="*/ 5692 w 1994354"/>
                <a:gd name="connsiteY379" fmla="*/ 1541421 h 2027849"/>
                <a:gd name="connsiteX380" fmla="*/ 24343 w 1994354"/>
                <a:gd name="connsiteY380" fmla="*/ 1539460 h 2027849"/>
                <a:gd name="connsiteX381" fmla="*/ 155897 w 1994354"/>
                <a:gd name="connsiteY381" fmla="*/ 1579526 h 2027849"/>
                <a:gd name="connsiteX382" fmla="*/ 165189 w 1994354"/>
                <a:gd name="connsiteY382" fmla="*/ 1598414 h 2027849"/>
                <a:gd name="connsiteX383" fmla="*/ 146880 w 1994354"/>
                <a:gd name="connsiteY383" fmla="*/ 1607880 h 2027849"/>
                <a:gd name="connsiteX384" fmla="*/ 137451 w 1994354"/>
                <a:gd name="connsiteY384" fmla="*/ 1589219 h 2027849"/>
                <a:gd name="connsiteX385" fmla="*/ 155897 w 1994354"/>
                <a:gd name="connsiteY385" fmla="*/ 1579509 h 2027849"/>
                <a:gd name="connsiteX386" fmla="*/ 317314 w 1994354"/>
                <a:gd name="connsiteY386" fmla="*/ 1059326 h 2027849"/>
                <a:gd name="connsiteX387" fmla="*/ 307509 w 1994354"/>
                <a:gd name="connsiteY387" fmla="*/ 1041021 h 2027849"/>
                <a:gd name="connsiteX388" fmla="*/ 307509 w 1994354"/>
                <a:gd name="connsiteY388" fmla="*/ 1041017 h 2027849"/>
                <a:gd name="connsiteX389" fmla="*/ 325749 w 1994354"/>
                <a:gd name="connsiteY389" fmla="*/ 1031325 h 2027849"/>
                <a:gd name="connsiteX390" fmla="*/ 335451 w 1994354"/>
                <a:gd name="connsiteY390" fmla="*/ 1049582 h 2027849"/>
                <a:gd name="connsiteX391" fmla="*/ 317314 w 1994354"/>
                <a:gd name="connsiteY391" fmla="*/ 1059309 h 2027849"/>
                <a:gd name="connsiteX392" fmla="*/ 590606 w 1994354"/>
                <a:gd name="connsiteY392" fmla="*/ 178252 h 2027849"/>
                <a:gd name="connsiteX393" fmla="*/ 600206 w 1994354"/>
                <a:gd name="connsiteY393" fmla="*/ 196214 h 2027849"/>
                <a:gd name="connsiteX394" fmla="*/ 600069 w 1994354"/>
                <a:gd name="connsiteY394" fmla="*/ 196629 h 2027849"/>
                <a:gd name="connsiteX395" fmla="*/ 581726 w 1994354"/>
                <a:gd name="connsiteY395" fmla="*/ 206112 h 2027849"/>
                <a:gd name="connsiteX396" fmla="*/ 572229 w 1994354"/>
                <a:gd name="connsiteY396" fmla="*/ 187756 h 2027849"/>
                <a:gd name="connsiteX397" fmla="*/ 590229 w 1994354"/>
                <a:gd name="connsiteY397" fmla="*/ 178097 h 2027849"/>
                <a:gd name="connsiteX398" fmla="*/ 590606 w 1994354"/>
                <a:gd name="connsiteY398" fmla="*/ 178221 h 2027849"/>
                <a:gd name="connsiteX399" fmla="*/ 513737 w 1994354"/>
                <a:gd name="connsiteY399" fmla="*/ 474857 h 2027849"/>
                <a:gd name="connsiteX400" fmla="*/ 495291 w 1994354"/>
                <a:gd name="connsiteY400" fmla="*/ 484159 h 2027849"/>
                <a:gd name="connsiteX401" fmla="*/ 486000 w 1994354"/>
                <a:gd name="connsiteY401" fmla="*/ 465710 h 2027849"/>
                <a:gd name="connsiteX402" fmla="*/ 504308 w 1994354"/>
                <a:gd name="connsiteY402" fmla="*/ 456367 h 2027849"/>
                <a:gd name="connsiteX403" fmla="*/ 513737 w 1994354"/>
                <a:gd name="connsiteY403" fmla="*/ 474840 h 2027849"/>
                <a:gd name="connsiteX404" fmla="*/ 548503 w 1994354"/>
                <a:gd name="connsiteY404" fmla="*/ 313115 h 2027849"/>
                <a:gd name="connsiteX405" fmla="*/ 558583 w 1994354"/>
                <a:gd name="connsiteY405" fmla="*/ 331416 h 2027849"/>
                <a:gd name="connsiteX406" fmla="*/ 540275 w 1994354"/>
                <a:gd name="connsiteY406" fmla="*/ 341493 h 2027849"/>
                <a:gd name="connsiteX407" fmla="*/ 530194 w 1994354"/>
                <a:gd name="connsiteY407" fmla="*/ 323191 h 2027849"/>
                <a:gd name="connsiteX408" fmla="*/ 530229 w 1994354"/>
                <a:gd name="connsiteY408" fmla="*/ 323095 h 2027849"/>
                <a:gd name="connsiteX409" fmla="*/ 548434 w 1994354"/>
                <a:gd name="connsiteY409" fmla="*/ 313080 h 2027849"/>
                <a:gd name="connsiteX410" fmla="*/ 548503 w 1994354"/>
                <a:gd name="connsiteY410" fmla="*/ 313097 h 2027849"/>
                <a:gd name="connsiteX411" fmla="*/ 462069 w 1994354"/>
                <a:gd name="connsiteY411" fmla="*/ 591473 h 2027849"/>
                <a:gd name="connsiteX412" fmla="*/ 472012 w 1994354"/>
                <a:gd name="connsiteY412" fmla="*/ 609641 h 2027849"/>
                <a:gd name="connsiteX413" fmla="*/ 453840 w 1994354"/>
                <a:gd name="connsiteY413" fmla="*/ 619570 h 2027849"/>
                <a:gd name="connsiteX414" fmla="*/ 443897 w 1994354"/>
                <a:gd name="connsiteY414" fmla="*/ 601416 h 2027849"/>
                <a:gd name="connsiteX415" fmla="*/ 461589 w 1994354"/>
                <a:gd name="connsiteY415" fmla="*/ 591312 h 2027849"/>
                <a:gd name="connsiteX416" fmla="*/ 462069 w 1994354"/>
                <a:gd name="connsiteY416" fmla="*/ 591456 h 2027849"/>
                <a:gd name="connsiteX417" fmla="*/ 402034 w 1994354"/>
                <a:gd name="connsiteY417" fmla="*/ 736368 h 2027849"/>
                <a:gd name="connsiteX418" fmla="*/ 420172 w 1994354"/>
                <a:gd name="connsiteY418" fmla="*/ 726487 h 2027849"/>
                <a:gd name="connsiteX419" fmla="*/ 430046 w 1994354"/>
                <a:gd name="connsiteY419" fmla="*/ 744631 h 2027849"/>
                <a:gd name="connsiteX420" fmla="*/ 429977 w 1994354"/>
                <a:gd name="connsiteY420" fmla="*/ 744902 h 2027849"/>
                <a:gd name="connsiteX421" fmla="*/ 411737 w 1994354"/>
                <a:gd name="connsiteY421" fmla="*/ 754598 h 2027849"/>
                <a:gd name="connsiteX422" fmla="*/ 402034 w 1994354"/>
                <a:gd name="connsiteY422" fmla="*/ 736351 h 2027849"/>
                <a:gd name="connsiteX423" fmla="*/ 359349 w 1994354"/>
                <a:gd name="connsiteY423" fmla="*/ 924271 h 2027849"/>
                <a:gd name="connsiteX424" fmla="*/ 349063 w 1994354"/>
                <a:gd name="connsiteY424" fmla="*/ 906093 h 2027849"/>
                <a:gd name="connsiteX425" fmla="*/ 367234 w 1994354"/>
                <a:gd name="connsiteY425" fmla="*/ 895804 h 2027849"/>
                <a:gd name="connsiteX426" fmla="*/ 377520 w 1994354"/>
                <a:gd name="connsiteY426" fmla="*/ 913982 h 2027849"/>
                <a:gd name="connsiteX427" fmla="*/ 377486 w 1994354"/>
                <a:gd name="connsiteY427" fmla="*/ 914129 h 2027849"/>
                <a:gd name="connsiteX428" fmla="*/ 359417 w 1994354"/>
                <a:gd name="connsiteY428" fmla="*/ 924271 h 2027849"/>
                <a:gd name="connsiteX429" fmla="*/ 359349 w 1994354"/>
                <a:gd name="connsiteY429" fmla="*/ 924254 h 2027849"/>
                <a:gd name="connsiteX430" fmla="*/ 283749 w 1994354"/>
                <a:gd name="connsiteY430" fmla="*/ 1166095 h 2027849"/>
                <a:gd name="connsiteX431" fmla="*/ 293931 w 1994354"/>
                <a:gd name="connsiteY431" fmla="*/ 1184284 h 2027849"/>
                <a:gd name="connsiteX432" fmla="*/ 275760 w 1994354"/>
                <a:gd name="connsiteY432" fmla="*/ 1194477 h 2027849"/>
                <a:gd name="connsiteX433" fmla="*/ 265543 w 1994354"/>
                <a:gd name="connsiteY433" fmla="*/ 1176285 h 2027849"/>
                <a:gd name="connsiteX434" fmla="*/ 265577 w 1994354"/>
                <a:gd name="connsiteY434" fmla="*/ 1176223 h 2027849"/>
                <a:gd name="connsiteX435" fmla="*/ 283611 w 1994354"/>
                <a:gd name="connsiteY435" fmla="*/ 1166040 h 2027849"/>
                <a:gd name="connsiteX436" fmla="*/ 283749 w 1994354"/>
                <a:gd name="connsiteY436" fmla="*/ 1166078 h 2027849"/>
                <a:gd name="connsiteX437" fmla="*/ 198069 w 1994354"/>
                <a:gd name="connsiteY437" fmla="*/ 1444732 h 2027849"/>
                <a:gd name="connsiteX438" fmla="*/ 207051 w 1994354"/>
                <a:gd name="connsiteY438" fmla="*/ 1463304 h 2027849"/>
                <a:gd name="connsiteX439" fmla="*/ 188468 w 1994354"/>
                <a:gd name="connsiteY439" fmla="*/ 1472280 h 2027849"/>
                <a:gd name="connsiteX440" fmla="*/ 179486 w 1994354"/>
                <a:gd name="connsiteY440" fmla="*/ 1453742 h 2027849"/>
                <a:gd name="connsiteX441" fmla="*/ 197417 w 1994354"/>
                <a:gd name="connsiteY441" fmla="*/ 1444492 h 2027849"/>
                <a:gd name="connsiteX442" fmla="*/ 198069 w 1994354"/>
                <a:gd name="connsiteY442" fmla="*/ 1444715 h 2027849"/>
                <a:gd name="connsiteX443" fmla="*/ 240069 w 1994354"/>
                <a:gd name="connsiteY443" fmla="*/ 1309433 h 2027849"/>
                <a:gd name="connsiteX444" fmla="*/ 249463 w 1994354"/>
                <a:gd name="connsiteY444" fmla="*/ 1328157 h 2027849"/>
                <a:gd name="connsiteX445" fmla="*/ 230743 w 1994354"/>
                <a:gd name="connsiteY445" fmla="*/ 1337558 h 2027849"/>
                <a:gd name="connsiteX446" fmla="*/ 221349 w 1994354"/>
                <a:gd name="connsiteY446" fmla="*/ 1318835 h 2027849"/>
                <a:gd name="connsiteX447" fmla="*/ 221417 w 1994354"/>
                <a:gd name="connsiteY447" fmla="*/ 1318622 h 2027849"/>
                <a:gd name="connsiteX448" fmla="*/ 240000 w 1994354"/>
                <a:gd name="connsiteY448" fmla="*/ 1309396 h 2027849"/>
                <a:gd name="connsiteX449" fmla="*/ 240069 w 1994354"/>
                <a:gd name="connsiteY449" fmla="*/ 1309416 h 2027849"/>
                <a:gd name="connsiteX450" fmla="*/ 291189 w 1994354"/>
                <a:gd name="connsiteY450" fmla="*/ 1621512 h 2027849"/>
                <a:gd name="connsiteX451" fmla="*/ 300583 w 1994354"/>
                <a:gd name="connsiteY451" fmla="*/ 1640191 h 2027849"/>
                <a:gd name="connsiteX452" fmla="*/ 282206 w 1994354"/>
                <a:gd name="connsiteY452" fmla="*/ 1650004 h 2027849"/>
                <a:gd name="connsiteX453" fmla="*/ 272400 w 1994354"/>
                <a:gd name="connsiteY453" fmla="*/ 1631633 h 2027849"/>
                <a:gd name="connsiteX454" fmla="*/ 272606 w 1994354"/>
                <a:gd name="connsiteY454" fmla="*/ 1631013 h 2027849"/>
                <a:gd name="connsiteX455" fmla="*/ 291189 w 1994354"/>
                <a:gd name="connsiteY455" fmla="*/ 1621495 h 2027849"/>
                <a:gd name="connsiteX456" fmla="*/ 366103 w 1994354"/>
                <a:gd name="connsiteY456" fmla="*/ 1379541 h 2027849"/>
                <a:gd name="connsiteX457" fmla="*/ 356126 w 1994354"/>
                <a:gd name="connsiteY457" fmla="*/ 1361112 h 2027849"/>
                <a:gd name="connsiteX458" fmla="*/ 374571 w 1994354"/>
                <a:gd name="connsiteY458" fmla="*/ 1351152 h 2027849"/>
                <a:gd name="connsiteX459" fmla="*/ 384514 w 1994354"/>
                <a:gd name="connsiteY459" fmla="*/ 1369581 h 2027849"/>
                <a:gd name="connsiteX460" fmla="*/ 384514 w 1994354"/>
                <a:gd name="connsiteY460" fmla="*/ 1369632 h 2027849"/>
                <a:gd name="connsiteX461" fmla="*/ 366103 w 1994354"/>
                <a:gd name="connsiteY461" fmla="*/ 1379524 h 2027849"/>
                <a:gd name="connsiteX462" fmla="*/ 410366 w 1994354"/>
                <a:gd name="connsiteY462" fmla="*/ 1236247 h 2027849"/>
                <a:gd name="connsiteX463" fmla="*/ 400766 w 1994354"/>
                <a:gd name="connsiteY463" fmla="*/ 1217733 h 2027849"/>
                <a:gd name="connsiteX464" fmla="*/ 419280 w 1994354"/>
                <a:gd name="connsiteY464" fmla="*/ 1208133 h 2027849"/>
                <a:gd name="connsiteX465" fmla="*/ 428846 w 1994354"/>
                <a:gd name="connsiteY465" fmla="*/ 1226695 h 2027849"/>
                <a:gd name="connsiteX466" fmla="*/ 410366 w 1994354"/>
                <a:gd name="connsiteY466" fmla="*/ 1236230 h 2027849"/>
                <a:gd name="connsiteX467" fmla="*/ 546720 w 1994354"/>
                <a:gd name="connsiteY467" fmla="*/ 796615 h 2027849"/>
                <a:gd name="connsiteX468" fmla="*/ 537154 w 1994354"/>
                <a:gd name="connsiteY468" fmla="*/ 778067 h 2027849"/>
                <a:gd name="connsiteX469" fmla="*/ 555703 w 1994354"/>
                <a:gd name="connsiteY469" fmla="*/ 768501 h 2027849"/>
                <a:gd name="connsiteX470" fmla="*/ 565269 w 1994354"/>
                <a:gd name="connsiteY470" fmla="*/ 787039 h 2027849"/>
                <a:gd name="connsiteX471" fmla="*/ 546720 w 1994354"/>
                <a:gd name="connsiteY471" fmla="*/ 796598 h 2027849"/>
                <a:gd name="connsiteX472" fmla="*/ 597703 w 1994354"/>
                <a:gd name="connsiteY472" fmla="*/ 633552 h 2027849"/>
                <a:gd name="connsiteX473" fmla="*/ 607029 w 1994354"/>
                <a:gd name="connsiteY473" fmla="*/ 652032 h 2027849"/>
                <a:gd name="connsiteX474" fmla="*/ 588549 w 1994354"/>
                <a:gd name="connsiteY474" fmla="*/ 661358 h 2027849"/>
                <a:gd name="connsiteX475" fmla="*/ 579223 w 1994354"/>
                <a:gd name="connsiteY475" fmla="*/ 642868 h 2027849"/>
                <a:gd name="connsiteX476" fmla="*/ 597703 w 1994354"/>
                <a:gd name="connsiteY476" fmla="*/ 633535 h 2027849"/>
                <a:gd name="connsiteX477" fmla="*/ 494023 w 1994354"/>
                <a:gd name="connsiteY477" fmla="*/ 966048 h 2027849"/>
                <a:gd name="connsiteX478" fmla="*/ 484560 w 1994354"/>
                <a:gd name="connsiteY478" fmla="*/ 947421 h 2027849"/>
                <a:gd name="connsiteX479" fmla="*/ 503177 w 1994354"/>
                <a:gd name="connsiteY479" fmla="*/ 937968 h 2027849"/>
                <a:gd name="connsiteX480" fmla="*/ 512640 w 1994354"/>
                <a:gd name="connsiteY480" fmla="*/ 956592 h 2027849"/>
                <a:gd name="connsiteX481" fmla="*/ 512640 w 1994354"/>
                <a:gd name="connsiteY481" fmla="*/ 956620 h 2027849"/>
                <a:gd name="connsiteX482" fmla="*/ 494023 w 1994354"/>
                <a:gd name="connsiteY482" fmla="*/ 966031 h 2027849"/>
                <a:gd name="connsiteX483" fmla="*/ 452537 w 1994354"/>
                <a:gd name="connsiteY483" fmla="*/ 1101254 h 2027849"/>
                <a:gd name="connsiteX484" fmla="*/ 442629 w 1994354"/>
                <a:gd name="connsiteY484" fmla="*/ 1082939 h 2027849"/>
                <a:gd name="connsiteX485" fmla="*/ 461040 w 1994354"/>
                <a:gd name="connsiteY485" fmla="*/ 1073219 h 2027849"/>
                <a:gd name="connsiteX486" fmla="*/ 470846 w 1994354"/>
                <a:gd name="connsiteY486" fmla="*/ 1091321 h 2027849"/>
                <a:gd name="connsiteX487" fmla="*/ 452537 w 1994354"/>
                <a:gd name="connsiteY487" fmla="*/ 1101237 h 2027849"/>
                <a:gd name="connsiteX488" fmla="*/ 665349 w 1994354"/>
                <a:gd name="connsiteY488" fmla="*/ 365030 h 2027849"/>
                <a:gd name="connsiteX489" fmla="*/ 683657 w 1994354"/>
                <a:gd name="connsiteY489" fmla="*/ 355056 h 2027849"/>
                <a:gd name="connsiteX490" fmla="*/ 693463 w 1994354"/>
                <a:gd name="connsiteY490" fmla="*/ 373502 h 2027849"/>
                <a:gd name="connsiteX491" fmla="*/ 675223 w 1994354"/>
                <a:gd name="connsiteY491" fmla="*/ 383359 h 2027849"/>
                <a:gd name="connsiteX492" fmla="*/ 665349 w 1994354"/>
                <a:gd name="connsiteY492" fmla="*/ 365051 h 2027849"/>
                <a:gd name="connsiteX493" fmla="*/ 665349 w 1994354"/>
                <a:gd name="connsiteY493" fmla="*/ 365013 h 2027849"/>
                <a:gd name="connsiteX494" fmla="*/ 630617 w 1994354"/>
                <a:gd name="connsiteY494" fmla="*/ 526495 h 2027849"/>
                <a:gd name="connsiteX495" fmla="*/ 620846 w 1994354"/>
                <a:gd name="connsiteY495" fmla="*/ 508008 h 2027849"/>
                <a:gd name="connsiteX496" fmla="*/ 639360 w 1994354"/>
                <a:gd name="connsiteY496" fmla="*/ 498254 h 2027849"/>
                <a:gd name="connsiteX497" fmla="*/ 649097 w 1994354"/>
                <a:gd name="connsiteY497" fmla="*/ 516741 h 2027849"/>
                <a:gd name="connsiteX498" fmla="*/ 649097 w 1994354"/>
                <a:gd name="connsiteY498" fmla="*/ 516761 h 2027849"/>
                <a:gd name="connsiteX499" fmla="*/ 630617 w 1994354"/>
                <a:gd name="connsiteY499" fmla="*/ 526478 h 2027849"/>
                <a:gd name="connsiteX500" fmla="*/ 468137 w 1994354"/>
                <a:gd name="connsiteY500" fmla="*/ 1528505 h 2027849"/>
                <a:gd name="connsiteX501" fmla="*/ 477291 w 1994354"/>
                <a:gd name="connsiteY501" fmla="*/ 1546992 h 2027849"/>
                <a:gd name="connsiteX502" fmla="*/ 458812 w 1994354"/>
                <a:gd name="connsiteY502" fmla="*/ 1556150 h 2027849"/>
                <a:gd name="connsiteX503" fmla="*/ 449589 w 1994354"/>
                <a:gd name="connsiteY503" fmla="*/ 1537852 h 2027849"/>
                <a:gd name="connsiteX504" fmla="*/ 468103 w 1994354"/>
                <a:gd name="connsiteY504" fmla="*/ 1528471 h 2027849"/>
                <a:gd name="connsiteX505" fmla="*/ 468137 w 1994354"/>
                <a:gd name="connsiteY505" fmla="*/ 1528488 h 2027849"/>
                <a:gd name="connsiteX506" fmla="*/ 425829 w 1994354"/>
                <a:gd name="connsiteY506" fmla="*/ 1663283 h 2027849"/>
                <a:gd name="connsiteX507" fmla="*/ 435943 w 1994354"/>
                <a:gd name="connsiteY507" fmla="*/ 1681643 h 2027849"/>
                <a:gd name="connsiteX508" fmla="*/ 417532 w 1994354"/>
                <a:gd name="connsiteY508" fmla="*/ 1691904 h 2027849"/>
                <a:gd name="connsiteX509" fmla="*/ 407554 w 1994354"/>
                <a:gd name="connsiteY509" fmla="*/ 1673411 h 2027849"/>
                <a:gd name="connsiteX510" fmla="*/ 425829 w 1994354"/>
                <a:gd name="connsiteY510" fmla="*/ 1663265 h 2027849"/>
                <a:gd name="connsiteX511" fmla="*/ 587726 w 1994354"/>
                <a:gd name="connsiteY511" fmla="*/ 1143192 h 2027849"/>
                <a:gd name="connsiteX512" fmla="*/ 577714 w 1994354"/>
                <a:gd name="connsiteY512" fmla="*/ 1124901 h 2027849"/>
                <a:gd name="connsiteX513" fmla="*/ 595920 w 1994354"/>
                <a:gd name="connsiteY513" fmla="*/ 1114965 h 2027849"/>
                <a:gd name="connsiteX514" fmla="*/ 595989 w 1994354"/>
                <a:gd name="connsiteY514" fmla="*/ 1114989 h 2027849"/>
                <a:gd name="connsiteX515" fmla="*/ 606103 w 1994354"/>
                <a:gd name="connsiteY515" fmla="*/ 1133232 h 2027849"/>
                <a:gd name="connsiteX516" fmla="*/ 587726 w 1994354"/>
                <a:gd name="connsiteY516" fmla="*/ 1143175 h 2027849"/>
                <a:gd name="connsiteX517" fmla="*/ 690926 w 1994354"/>
                <a:gd name="connsiteY517" fmla="*/ 810446 h 2027849"/>
                <a:gd name="connsiteX518" fmla="*/ 700629 w 1994354"/>
                <a:gd name="connsiteY518" fmla="*/ 828940 h 2027849"/>
                <a:gd name="connsiteX519" fmla="*/ 682148 w 1994354"/>
                <a:gd name="connsiteY519" fmla="*/ 838639 h 2027849"/>
                <a:gd name="connsiteX520" fmla="*/ 681771 w 1994354"/>
                <a:gd name="connsiteY520" fmla="*/ 838523 h 2027849"/>
                <a:gd name="connsiteX521" fmla="*/ 672308 w 1994354"/>
                <a:gd name="connsiteY521" fmla="*/ 819899 h 2027849"/>
                <a:gd name="connsiteX522" fmla="*/ 690926 w 1994354"/>
                <a:gd name="connsiteY522" fmla="*/ 810429 h 2027849"/>
                <a:gd name="connsiteX523" fmla="*/ 638469 w 1994354"/>
                <a:gd name="connsiteY523" fmla="*/ 979934 h 2027849"/>
                <a:gd name="connsiteX524" fmla="*/ 647795 w 1994354"/>
                <a:gd name="connsiteY524" fmla="*/ 998616 h 2027849"/>
                <a:gd name="connsiteX525" fmla="*/ 629109 w 1994354"/>
                <a:gd name="connsiteY525" fmla="*/ 1007949 h 2027849"/>
                <a:gd name="connsiteX526" fmla="*/ 619783 w 1994354"/>
                <a:gd name="connsiteY526" fmla="*/ 989270 h 2027849"/>
                <a:gd name="connsiteX527" fmla="*/ 638469 w 1994354"/>
                <a:gd name="connsiteY527" fmla="*/ 979917 h 2027849"/>
                <a:gd name="connsiteX528" fmla="*/ 545589 w 1994354"/>
                <a:gd name="connsiteY528" fmla="*/ 1278196 h 2027849"/>
                <a:gd name="connsiteX529" fmla="*/ 535886 w 1994354"/>
                <a:gd name="connsiteY529" fmla="*/ 1259819 h 2027849"/>
                <a:gd name="connsiteX530" fmla="*/ 535886 w 1994354"/>
                <a:gd name="connsiteY530" fmla="*/ 1259778 h 2027849"/>
                <a:gd name="connsiteX531" fmla="*/ 554332 w 1994354"/>
                <a:gd name="connsiteY531" fmla="*/ 1250037 h 2027849"/>
                <a:gd name="connsiteX532" fmla="*/ 564103 w 1994354"/>
                <a:gd name="connsiteY532" fmla="*/ 1268551 h 2027849"/>
                <a:gd name="connsiteX533" fmla="*/ 545589 w 1994354"/>
                <a:gd name="connsiteY533" fmla="*/ 1278179 h 2027849"/>
                <a:gd name="connsiteX534" fmla="*/ 500880 w 1994354"/>
                <a:gd name="connsiteY534" fmla="*/ 1421352 h 2027849"/>
                <a:gd name="connsiteX535" fmla="*/ 491486 w 1994354"/>
                <a:gd name="connsiteY535" fmla="*/ 1402632 h 2027849"/>
                <a:gd name="connsiteX536" fmla="*/ 510206 w 1994354"/>
                <a:gd name="connsiteY536" fmla="*/ 1393235 h 2027849"/>
                <a:gd name="connsiteX537" fmla="*/ 519600 w 1994354"/>
                <a:gd name="connsiteY537" fmla="*/ 1411951 h 2027849"/>
                <a:gd name="connsiteX538" fmla="*/ 500880 w 1994354"/>
                <a:gd name="connsiteY538" fmla="*/ 1421335 h 2027849"/>
                <a:gd name="connsiteX539" fmla="*/ 995897 w 1994354"/>
                <a:gd name="connsiteY539" fmla="*/ 303981 h 2027849"/>
                <a:gd name="connsiteX540" fmla="*/ 1005806 w 1994354"/>
                <a:gd name="connsiteY540" fmla="*/ 322121 h 2027849"/>
                <a:gd name="connsiteX541" fmla="*/ 987669 w 1994354"/>
                <a:gd name="connsiteY541" fmla="*/ 332020 h 2027849"/>
                <a:gd name="connsiteX542" fmla="*/ 987429 w 1994354"/>
                <a:gd name="connsiteY542" fmla="*/ 331951 h 2027849"/>
                <a:gd name="connsiteX543" fmla="*/ 977657 w 1994354"/>
                <a:gd name="connsiteY543" fmla="*/ 313728 h 2027849"/>
                <a:gd name="connsiteX544" fmla="*/ 995897 w 1994354"/>
                <a:gd name="connsiteY544" fmla="*/ 303971 h 2027849"/>
                <a:gd name="connsiteX545" fmla="*/ 954377 w 1994354"/>
                <a:gd name="connsiteY545" fmla="*/ 439015 h 2027849"/>
                <a:gd name="connsiteX546" fmla="*/ 963635 w 1994354"/>
                <a:gd name="connsiteY546" fmla="*/ 457670 h 2027849"/>
                <a:gd name="connsiteX547" fmla="*/ 945052 w 1994354"/>
                <a:gd name="connsiteY547" fmla="*/ 466711 h 2027849"/>
                <a:gd name="connsiteX548" fmla="*/ 936000 w 1994354"/>
                <a:gd name="connsiteY548" fmla="*/ 448118 h 2027849"/>
                <a:gd name="connsiteX549" fmla="*/ 954377 w 1994354"/>
                <a:gd name="connsiteY549" fmla="*/ 439005 h 2027849"/>
                <a:gd name="connsiteX550" fmla="*/ 909497 w 1994354"/>
                <a:gd name="connsiteY550" fmla="*/ 582052 h 2027849"/>
                <a:gd name="connsiteX551" fmla="*/ 919714 w 1994354"/>
                <a:gd name="connsiteY551" fmla="*/ 600281 h 2027849"/>
                <a:gd name="connsiteX552" fmla="*/ 901509 w 1994354"/>
                <a:gd name="connsiteY552" fmla="*/ 610509 h 2027849"/>
                <a:gd name="connsiteX553" fmla="*/ 891257 w 1994354"/>
                <a:gd name="connsiteY553" fmla="*/ 592279 h 2027849"/>
                <a:gd name="connsiteX554" fmla="*/ 891326 w 1994354"/>
                <a:gd name="connsiteY554" fmla="*/ 592073 h 2027849"/>
                <a:gd name="connsiteX555" fmla="*/ 909429 w 1994354"/>
                <a:gd name="connsiteY555" fmla="*/ 582034 h 2027849"/>
                <a:gd name="connsiteX556" fmla="*/ 909497 w 1994354"/>
                <a:gd name="connsiteY556" fmla="*/ 582052 h 2027849"/>
                <a:gd name="connsiteX557" fmla="*/ 867532 w 1994354"/>
                <a:gd name="connsiteY557" fmla="*/ 717247 h 2027849"/>
                <a:gd name="connsiteX558" fmla="*/ 877509 w 1994354"/>
                <a:gd name="connsiteY558" fmla="*/ 735384 h 2027849"/>
                <a:gd name="connsiteX559" fmla="*/ 859372 w 1994354"/>
                <a:gd name="connsiteY559" fmla="*/ 745358 h 2027849"/>
                <a:gd name="connsiteX560" fmla="*/ 849394 w 1994354"/>
                <a:gd name="connsiteY560" fmla="*/ 727221 h 2027849"/>
                <a:gd name="connsiteX561" fmla="*/ 849394 w 1994354"/>
                <a:gd name="connsiteY561" fmla="*/ 727221 h 2027849"/>
                <a:gd name="connsiteX562" fmla="*/ 867223 w 1994354"/>
                <a:gd name="connsiteY562" fmla="*/ 717158 h 2027849"/>
                <a:gd name="connsiteX563" fmla="*/ 867532 w 1994354"/>
                <a:gd name="connsiteY563" fmla="*/ 717247 h 2027849"/>
                <a:gd name="connsiteX564" fmla="*/ 782914 w 1994354"/>
                <a:gd name="connsiteY564" fmla="*/ 1040219 h 2027849"/>
                <a:gd name="connsiteX565" fmla="*/ 764503 w 1994354"/>
                <a:gd name="connsiteY565" fmla="*/ 1049620 h 2027849"/>
                <a:gd name="connsiteX566" fmla="*/ 755109 w 1994354"/>
                <a:gd name="connsiteY566" fmla="*/ 1031205 h 2027849"/>
                <a:gd name="connsiteX567" fmla="*/ 773349 w 1994354"/>
                <a:gd name="connsiteY567" fmla="*/ 1021752 h 2027849"/>
                <a:gd name="connsiteX568" fmla="*/ 782914 w 1994354"/>
                <a:gd name="connsiteY568" fmla="*/ 1040205 h 2027849"/>
                <a:gd name="connsiteX569" fmla="*/ 782914 w 1994354"/>
                <a:gd name="connsiteY569" fmla="*/ 1040225 h 2027849"/>
                <a:gd name="connsiteX570" fmla="*/ 825669 w 1994354"/>
                <a:gd name="connsiteY570" fmla="*/ 852237 h 2027849"/>
                <a:gd name="connsiteX571" fmla="*/ 835646 w 1994354"/>
                <a:gd name="connsiteY571" fmla="*/ 870559 h 2027849"/>
                <a:gd name="connsiteX572" fmla="*/ 817337 w 1994354"/>
                <a:gd name="connsiteY572" fmla="*/ 880553 h 2027849"/>
                <a:gd name="connsiteX573" fmla="*/ 807360 w 1994354"/>
                <a:gd name="connsiteY573" fmla="*/ 862231 h 2027849"/>
                <a:gd name="connsiteX574" fmla="*/ 825669 w 1994354"/>
                <a:gd name="connsiteY574" fmla="*/ 852244 h 2027849"/>
                <a:gd name="connsiteX575" fmla="*/ 731349 w 1994354"/>
                <a:gd name="connsiteY575" fmla="*/ 1156961 h 2027849"/>
                <a:gd name="connsiteX576" fmla="*/ 741120 w 1994354"/>
                <a:gd name="connsiteY576" fmla="*/ 1175294 h 2027849"/>
                <a:gd name="connsiteX577" fmla="*/ 722812 w 1994354"/>
                <a:gd name="connsiteY577" fmla="*/ 1185079 h 2027849"/>
                <a:gd name="connsiteX578" fmla="*/ 713006 w 1994354"/>
                <a:gd name="connsiteY578" fmla="*/ 1166747 h 2027849"/>
                <a:gd name="connsiteX579" fmla="*/ 713040 w 1994354"/>
                <a:gd name="connsiteY579" fmla="*/ 1166664 h 2027849"/>
                <a:gd name="connsiteX580" fmla="*/ 731040 w 1994354"/>
                <a:gd name="connsiteY580" fmla="*/ 1156876 h 2027849"/>
                <a:gd name="connsiteX581" fmla="*/ 731349 w 1994354"/>
                <a:gd name="connsiteY581" fmla="*/ 1156968 h 2027849"/>
                <a:gd name="connsiteX582" fmla="*/ 603360 w 1994354"/>
                <a:gd name="connsiteY582" fmla="*/ 1570423 h 2027849"/>
                <a:gd name="connsiteX583" fmla="*/ 612617 w 1994354"/>
                <a:gd name="connsiteY583" fmla="*/ 1588855 h 2027849"/>
                <a:gd name="connsiteX584" fmla="*/ 594206 w 1994354"/>
                <a:gd name="connsiteY584" fmla="*/ 1598126 h 2027849"/>
                <a:gd name="connsiteX585" fmla="*/ 584914 w 1994354"/>
                <a:gd name="connsiteY585" fmla="*/ 1579739 h 2027849"/>
                <a:gd name="connsiteX586" fmla="*/ 602812 w 1994354"/>
                <a:gd name="connsiteY586" fmla="*/ 1570245 h 2027849"/>
                <a:gd name="connsiteX587" fmla="*/ 603360 w 1994354"/>
                <a:gd name="connsiteY587" fmla="*/ 1570430 h 2027849"/>
                <a:gd name="connsiteX588" fmla="*/ 645257 w 1994354"/>
                <a:gd name="connsiteY588" fmla="*/ 1435091 h 2027849"/>
                <a:gd name="connsiteX589" fmla="*/ 655097 w 1994354"/>
                <a:gd name="connsiteY589" fmla="*/ 1453605 h 2027849"/>
                <a:gd name="connsiteX590" fmla="*/ 636583 w 1994354"/>
                <a:gd name="connsiteY590" fmla="*/ 1463445 h 2027849"/>
                <a:gd name="connsiteX591" fmla="*/ 626743 w 1994354"/>
                <a:gd name="connsiteY591" fmla="*/ 1444931 h 2027849"/>
                <a:gd name="connsiteX592" fmla="*/ 626812 w 1994354"/>
                <a:gd name="connsiteY592" fmla="*/ 1444718 h 2027849"/>
                <a:gd name="connsiteX593" fmla="*/ 645257 w 1994354"/>
                <a:gd name="connsiteY593" fmla="*/ 1435097 h 2027849"/>
                <a:gd name="connsiteX594" fmla="*/ 689795 w 1994354"/>
                <a:gd name="connsiteY594" fmla="*/ 1292033 h 2027849"/>
                <a:gd name="connsiteX595" fmla="*/ 699017 w 1994354"/>
                <a:gd name="connsiteY595" fmla="*/ 1310678 h 2027849"/>
                <a:gd name="connsiteX596" fmla="*/ 699017 w 1994354"/>
                <a:gd name="connsiteY596" fmla="*/ 1310712 h 2027849"/>
                <a:gd name="connsiteX597" fmla="*/ 680400 w 1994354"/>
                <a:gd name="connsiteY597" fmla="*/ 1319771 h 2027849"/>
                <a:gd name="connsiteX598" fmla="*/ 671349 w 1994354"/>
                <a:gd name="connsiteY598" fmla="*/ 1301157 h 2027849"/>
                <a:gd name="connsiteX599" fmla="*/ 689795 w 1994354"/>
                <a:gd name="connsiteY599" fmla="*/ 1292040 h 2027849"/>
                <a:gd name="connsiteX600" fmla="*/ 561463 w 1994354"/>
                <a:gd name="connsiteY600" fmla="*/ 1705327 h 2027849"/>
                <a:gd name="connsiteX601" fmla="*/ 570823 w 1994354"/>
                <a:gd name="connsiteY601" fmla="*/ 1723958 h 2027849"/>
                <a:gd name="connsiteX602" fmla="*/ 552549 w 1994354"/>
                <a:gd name="connsiteY602" fmla="*/ 1733712 h 2027849"/>
                <a:gd name="connsiteX603" fmla="*/ 542812 w 1994354"/>
                <a:gd name="connsiteY603" fmla="*/ 1715448 h 2027849"/>
                <a:gd name="connsiteX604" fmla="*/ 542983 w 1994354"/>
                <a:gd name="connsiteY604" fmla="*/ 1714907 h 2027849"/>
                <a:gd name="connsiteX605" fmla="*/ 561463 w 1994354"/>
                <a:gd name="connsiteY605" fmla="*/ 1705334 h 2027849"/>
                <a:gd name="connsiteX606" fmla="*/ 696446 w 1994354"/>
                <a:gd name="connsiteY606" fmla="*/ 1747214 h 2027849"/>
                <a:gd name="connsiteX607" fmla="*/ 706251 w 1994354"/>
                <a:gd name="connsiteY607" fmla="*/ 1765763 h 2027849"/>
                <a:gd name="connsiteX608" fmla="*/ 687600 w 1994354"/>
                <a:gd name="connsiteY608" fmla="*/ 1775675 h 2027849"/>
                <a:gd name="connsiteX609" fmla="*/ 677966 w 1994354"/>
                <a:gd name="connsiteY609" fmla="*/ 1756986 h 2027849"/>
                <a:gd name="connsiteX610" fmla="*/ 696446 w 1994354"/>
                <a:gd name="connsiteY610" fmla="*/ 1747221 h 2027849"/>
                <a:gd name="connsiteX611" fmla="*/ 1266411 w 1994354"/>
                <a:gd name="connsiteY611" fmla="*/ 387888 h 2027849"/>
                <a:gd name="connsiteX612" fmla="*/ 1275840 w 1994354"/>
                <a:gd name="connsiteY612" fmla="*/ 406283 h 2027849"/>
                <a:gd name="connsiteX613" fmla="*/ 1257463 w 1994354"/>
                <a:gd name="connsiteY613" fmla="*/ 415711 h 2027849"/>
                <a:gd name="connsiteX614" fmla="*/ 1248000 w 1994354"/>
                <a:gd name="connsiteY614" fmla="*/ 397372 h 2027849"/>
                <a:gd name="connsiteX615" fmla="*/ 1266034 w 1994354"/>
                <a:gd name="connsiteY615" fmla="*/ 387779 h 2027849"/>
                <a:gd name="connsiteX616" fmla="*/ 1266411 w 1994354"/>
                <a:gd name="connsiteY616" fmla="*/ 387895 h 2027849"/>
                <a:gd name="connsiteX617" fmla="*/ 873291 w 1994354"/>
                <a:gd name="connsiteY617" fmla="*/ 1654176 h 2027849"/>
                <a:gd name="connsiteX618" fmla="*/ 882994 w 1994354"/>
                <a:gd name="connsiteY618" fmla="*/ 1672386 h 2027849"/>
                <a:gd name="connsiteX619" fmla="*/ 864754 w 1994354"/>
                <a:gd name="connsiteY619" fmla="*/ 1682075 h 2027849"/>
                <a:gd name="connsiteX620" fmla="*/ 855052 w 1994354"/>
                <a:gd name="connsiteY620" fmla="*/ 1663968 h 2027849"/>
                <a:gd name="connsiteX621" fmla="*/ 872674 w 1994354"/>
                <a:gd name="connsiteY621" fmla="*/ 1653988 h 2027849"/>
                <a:gd name="connsiteX622" fmla="*/ 873291 w 1994354"/>
                <a:gd name="connsiteY622" fmla="*/ 1654176 h 2027849"/>
                <a:gd name="connsiteX623" fmla="*/ 831360 w 1994354"/>
                <a:gd name="connsiteY623" fmla="*/ 1789067 h 2027849"/>
                <a:gd name="connsiteX624" fmla="*/ 841269 w 1994354"/>
                <a:gd name="connsiteY624" fmla="*/ 1807389 h 2027849"/>
                <a:gd name="connsiteX625" fmla="*/ 823234 w 1994354"/>
                <a:gd name="connsiteY625" fmla="*/ 1817630 h 2027849"/>
                <a:gd name="connsiteX626" fmla="*/ 812983 w 1994354"/>
                <a:gd name="connsiteY626" fmla="*/ 1799603 h 2027849"/>
                <a:gd name="connsiteX627" fmla="*/ 813120 w 1994354"/>
                <a:gd name="connsiteY627" fmla="*/ 1799191 h 2027849"/>
                <a:gd name="connsiteX628" fmla="*/ 831360 w 1994354"/>
                <a:gd name="connsiteY628" fmla="*/ 1789067 h 2027849"/>
                <a:gd name="connsiteX629" fmla="*/ 1129611 w 1994354"/>
                <a:gd name="connsiteY629" fmla="*/ 829200 h 2027849"/>
                <a:gd name="connsiteX630" fmla="*/ 1119737 w 1994354"/>
                <a:gd name="connsiteY630" fmla="*/ 810998 h 2027849"/>
                <a:gd name="connsiteX631" fmla="*/ 1137943 w 1994354"/>
                <a:gd name="connsiteY631" fmla="*/ 801131 h 2027849"/>
                <a:gd name="connsiteX632" fmla="*/ 1147817 w 1994354"/>
                <a:gd name="connsiteY632" fmla="*/ 819316 h 2027849"/>
                <a:gd name="connsiteX633" fmla="*/ 1129886 w 1994354"/>
                <a:gd name="connsiteY633" fmla="*/ 829283 h 2027849"/>
                <a:gd name="connsiteX634" fmla="*/ 1129611 w 1994354"/>
                <a:gd name="connsiteY634" fmla="*/ 829200 h 2027849"/>
                <a:gd name="connsiteX635" fmla="*/ 1096251 w 1994354"/>
                <a:gd name="connsiteY635" fmla="*/ 936172 h 2027849"/>
                <a:gd name="connsiteX636" fmla="*/ 1106057 w 1994354"/>
                <a:gd name="connsiteY636" fmla="*/ 954604 h 2027849"/>
                <a:gd name="connsiteX637" fmla="*/ 1087646 w 1994354"/>
                <a:gd name="connsiteY637" fmla="*/ 964420 h 2027849"/>
                <a:gd name="connsiteX638" fmla="*/ 1077806 w 1994354"/>
                <a:gd name="connsiteY638" fmla="*/ 945988 h 2027849"/>
                <a:gd name="connsiteX639" fmla="*/ 1077840 w 1994354"/>
                <a:gd name="connsiteY639" fmla="*/ 945916 h 2027849"/>
                <a:gd name="connsiteX640" fmla="*/ 1096251 w 1994354"/>
                <a:gd name="connsiteY640" fmla="*/ 936162 h 2027849"/>
                <a:gd name="connsiteX641" fmla="*/ 1044206 w 1994354"/>
                <a:gd name="connsiteY641" fmla="*/ 1105811 h 2027849"/>
                <a:gd name="connsiteX642" fmla="*/ 1053326 w 1994354"/>
                <a:gd name="connsiteY642" fmla="*/ 1124603 h 2027849"/>
                <a:gd name="connsiteX643" fmla="*/ 1034537 w 1994354"/>
                <a:gd name="connsiteY643" fmla="*/ 1133712 h 2027849"/>
                <a:gd name="connsiteX644" fmla="*/ 1025417 w 1994354"/>
                <a:gd name="connsiteY644" fmla="*/ 1114924 h 2027849"/>
                <a:gd name="connsiteX645" fmla="*/ 1025451 w 1994354"/>
                <a:gd name="connsiteY645" fmla="*/ 1114817 h 2027849"/>
                <a:gd name="connsiteX646" fmla="*/ 1044206 w 1994354"/>
                <a:gd name="connsiteY646" fmla="*/ 1105800 h 2027849"/>
                <a:gd name="connsiteX647" fmla="*/ 992709 w 1994354"/>
                <a:gd name="connsiteY647" fmla="*/ 1268832 h 2027849"/>
                <a:gd name="connsiteX648" fmla="*/ 983451 w 1994354"/>
                <a:gd name="connsiteY648" fmla="*/ 1250222 h 2027849"/>
                <a:gd name="connsiteX649" fmla="*/ 1002034 w 1994354"/>
                <a:gd name="connsiteY649" fmla="*/ 1241044 h 2027849"/>
                <a:gd name="connsiteX650" fmla="*/ 1011189 w 1994354"/>
                <a:gd name="connsiteY650" fmla="*/ 1259616 h 2027849"/>
                <a:gd name="connsiteX651" fmla="*/ 992709 w 1994354"/>
                <a:gd name="connsiteY651" fmla="*/ 1268822 h 2027849"/>
                <a:gd name="connsiteX652" fmla="*/ 925097 w 1994354"/>
                <a:gd name="connsiteY652" fmla="*/ 1537214 h 2027849"/>
                <a:gd name="connsiteX653" fmla="*/ 906789 w 1994354"/>
                <a:gd name="connsiteY653" fmla="*/ 1546941 h 2027849"/>
                <a:gd name="connsiteX654" fmla="*/ 897052 w 1994354"/>
                <a:gd name="connsiteY654" fmla="*/ 1528636 h 2027849"/>
                <a:gd name="connsiteX655" fmla="*/ 915223 w 1994354"/>
                <a:gd name="connsiteY655" fmla="*/ 1518864 h 2027849"/>
                <a:gd name="connsiteX656" fmla="*/ 925097 w 1994354"/>
                <a:gd name="connsiteY656" fmla="*/ 1537204 h 2027849"/>
                <a:gd name="connsiteX657" fmla="*/ 959623 w 1994354"/>
                <a:gd name="connsiteY657" fmla="*/ 1375763 h 2027849"/>
                <a:gd name="connsiteX658" fmla="*/ 969497 w 1994354"/>
                <a:gd name="connsiteY658" fmla="*/ 1394095 h 2027849"/>
                <a:gd name="connsiteX659" fmla="*/ 951291 w 1994354"/>
                <a:gd name="connsiteY659" fmla="*/ 1404000 h 2027849"/>
                <a:gd name="connsiteX660" fmla="*/ 941383 w 1994354"/>
                <a:gd name="connsiteY660" fmla="*/ 1385791 h 2027849"/>
                <a:gd name="connsiteX661" fmla="*/ 959623 w 1994354"/>
                <a:gd name="connsiteY661" fmla="*/ 1375752 h 2027849"/>
                <a:gd name="connsiteX662" fmla="*/ 1205966 w 1994354"/>
                <a:gd name="connsiteY662" fmla="*/ 532900 h 2027849"/>
                <a:gd name="connsiteX663" fmla="*/ 1223931 w 1994354"/>
                <a:gd name="connsiteY663" fmla="*/ 522532 h 2027849"/>
                <a:gd name="connsiteX664" fmla="*/ 1234286 w 1994354"/>
                <a:gd name="connsiteY664" fmla="*/ 540494 h 2027849"/>
                <a:gd name="connsiteX665" fmla="*/ 1234149 w 1994354"/>
                <a:gd name="connsiteY665" fmla="*/ 540998 h 2027849"/>
                <a:gd name="connsiteX666" fmla="*/ 1216012 w 1994354"/>
                <a:gd name="connsiteY666" fmla="*/ 551033 h 2027849"/>
                <a:gd name="connsiteX667" fmla="*/ 1205966 w 1994354"/>
                <a:gd name="connsiteY667" fmla="*/ 532889 h 2027849"/>
                <a:gd name="connsiteX668" fmla="*/ 1171337 w 1994354"/>
                <a:gd name="connsiteY668" fmla="*/ 694242 h 2027849"/>
                <a:gd name="connsiteX669" fmla="*/ 1161497 w 1994354"/>
                <a:gd name="connsiteY669" fmla="*/ 675799 h 2027849"/>
                <a:gd name="connsiteX670" fmla="*/ 1179943 w 1994354"/>
                <a:gd name="connsiteY670" fmla="*/ 665959 h 2027849"/>
                <a:gd name="connsiteX671" fmla="*/ 1189132 w 1994354"/>
                <a:gd name="connsiteY671" fmla="*/ 684737 h 2027849"/>
                <a:gd name="connsiteX672" fmla="*/ 1171337 w 1994354"/>
                <a:gd name="connsiteY672" fmla="*/ 694221 h 2027849"/>
                <a:gd name="connsiteX673" fmla="*/ 967029 w 1994354"/>
                <a:gd name="connsiteY673" fmla="*/ 1831156 h 2027849"/>
                <a:gd name="connsiteX674" fmla="*/ 976354 w 1994354"/>
                <a:gd name="connsiteY674" fmla="*/ 1849838 h 2027849"/>
                <a:gd name="connsiteX675" fmla="*/ 958012 w 1994354"/>
                <a:gd name="connsiteY675" fmla="*/ 1859647 h 2027849"/>
                <a:gd name="connsiteX676" fmla="*/ 948206 w 1994354"/>
                <a:gd name="connsiteY676" fmla="*/ 1841304 h 2027849"/>
                <a:gd name="connsiteX677" fmla="*/ 948411 w 1994354"/>
                <a:gd name="connsiteY677" fmla="*/ 1840667 h 2027849"/>
                <a:gd name="connsiteX678" fmla="*/ 967029 w 1994354"/>
                <a:gd name="connsiteY678" fmla="*/ 1831135 h 2027849"/>
                <a:gd name="connsiteX679" fmla="*/ 1041669 w 1994354"/>
                <a:gd name="connsiteY679" fmla="*/ 1589099 h 2027849"/>
                <a:gd name="connsiteX680" fmla="*/ 1032000 w 1994354"/>
                <a:gd name="connsiteY680" fmla="*/ 1570516 h 2027849"/>
                <a:gd name="connsiteX681" fmla="*/ 1050583 w 1994354"/>
                <a:gd name="connsiteY681" fmla="*/ 1560837 h 2027849"/>
                <a:gd name="connsiteX682" fmla="*/ 1060251 w 1994354"/>
                <a:gd name="connsiteY682" fmla="*/ 1579420 h 2027849"/>
                <a:gd name="connsiteX683" fmla="*/ 1060217 w 1994354"/>
                <a:gd name="connsiteY683" fmla="*/ 1579526 h 2027849"/>
                <a:gd name="connsiteX684" fmla="*/ 1041669 w 1994354"/>
                <a:gd name="connsiteY684" fmla="*/ 1589102 h 2027849"/>
                <a:gd name="connsiteX685" fmla="*/ 1104686 w 1994354"/>
                <a:gd name="connsiteY685" fmla="*/ 1436184 h 2027849"/>
                <a:gd name="connsiteX686" fmla="*/ 1086309 w 1994354"/>
                <a:gd name="connsiteY686" fmla="*/ 1445925 h 2027849"/>
                <a:gd name="connsiteX687" fmla="*/ 1076571 w 1994354"/>
                <a:gd name="connsiteY687" fmla="*/ 1427548 h 2027849"/>
                <a:gd name="connsiteX688" fmla="*/ 1094949 w 1994354"/>
                <a:gd name="connsiteY688" fmla="*/ 1417814 h 2027849"/>
                <a:gd name="connsiteX689" fmla="*/ 1104686 w 1994354"/>
                <a:gd name="connsiteY689" fmla="*/ 1436191 h 2027849"/>
                <a:gd name="connsiteX690" fmla="*/ 1128275 w 1994354"/>
                <a:gd name="connsiteY690" fmla="*/ 1310873 h 2027849"/>
                <a:gd name="connsiteX691" fmla="*/ 1118469 w 1994354"/>
                <a:gd name="connsiteY691" fmla="*/ 1292517 h 2027849"/>
                <a:gd name="connsiteX692" fmla="*/ 1136880 w 1994354"/>
                <a:gd name="connsiteY692" fmla="*/ 1282883 h 2027849"/>
                <a:gd name="connsiteX693" fmla="*/ 1146617 w 1994354"/>
                <a:gd name="connsiteY693" fmla="*/ 1301010 h 2027849"/>
                <a:gd name="connsiteX694" fmla="*/ 1128275 w 1994354"/>
                <a:gd name="connsiteY694" fmla="*/ 1310880 h 2027849"/>
                <a:gd name="connsiteX695" fmla="*/ 1359874 w 1994354"/>
                <a:gd name="connsiteY695" fmla="*/ 564816 h 2027849"/>
                <a:gd name="connsiteX696" fmla="*/ 1369303 w 1994354"/>
                <a:gd name="connsiteY696" fmla="*/ 583457 h 2027849"/>
                <a:gd name="connsiteX697" fmla="*/ 1350652 w 1994354"/>
                <a:gd name="connsiteY697" fmla="*/ 592876 h 2027849"/>
                <a:gd name="connsiteX698" fmla="*/ 1341291 w 1994354"/>
                <a:gd name="connsiteY698" fmla="*/ 574279 h 2027849"/>
                <a:gd name="connsiteX699" fmla="*/ 1359874 w 1994354"/>
                <a:gd name="connsiteY699" fmla="*/ 564816 h 2027849"/>
                <a:gd name="connsiteX700" fmla="*/ 1314960 w 1994354"/>
                <a:gd name="connsiteY700" fmla="*/ 707836 h 2027849"/>
                <a:gd name="connsiteX701" fmla="*/ 1325109 w 1994354"/>
                <a:gd name="connsiteY701" fmla="*/ 726103 h 2027849"/>
                <a:gd name="connsiteX702" fmla="*/ 1306869 w 1994354"/>
                <a:gd name="connsiteY702" fmla="*/ 736265 h 2027849"/>
                <a:gd name="connsiteX703" fmla="*/ 1296686 w 1994354"/>
                <a:gd name="connsiteY703" fmla="*/ 717998 h 2027849"/>
                <a:gd name="connsiteX704" fmla="*/ 1296720 w 1994354"/>
                <a:gd name="connsiteY704" fmla="*/ 717909 h 2027849"/>
                <a:gd name="connsiteX705" fmla="*/ 1314960 w 1994354"/>
                <a:gd name="connsiteY705" fmla="*/ 707836 h 2027849"/>
                <a:gd name="connsiteX706" fmla="*/ 1273097 w 1994354"/>
                <a:gd name="connsiteY706" fmla="*/ 843072 h 2027849"/>
                <a:gd name="connsiteX707" fmla="*/ 1282834 w 1994354"/>
                <a:gd name="connsiteY707" fmla="*/ 861319 h 2027849"/>
                <a:gd name="connsiteX708" fmla="*/ 1264594 w 1994354"/>
                <a:gd name="connsiteY708" fmla="*/ 871070 h 2027849"/>
                <a:gd name="connsiteX709" fmla="*/ 1254823 w 1994354"/>
                <a:gd name="connsiteY709" fmla="*/ 852916 h 2027849"/>
                <a:gd name="connsiteX710" fmla="*/ 1272994 w 1994354"/>
                <a:gd name="connsiteY710" fmla="*/ 843041 h 2027849"/>
                <a:gd name="connsiteX711" fmla="*/ 1273097 w 1994354"/>
                <a:gd name="connsiteY711" fmla="*/ 843072 h 2027849"/>
                <a:gd name="connsiteX712" fmla="*/ 1212994 w 1994354"/>
                <a:gd name="connsiteY712" fmla="*/ 987813 h 2027849"/>
                <a:gd name="connsiteX713" fmla="*/ 1231440 w 1994354"/>
                <a:gd name="connsiteY713" fmla="*/ 978240 h 2027849"/>
                <a:gd name="connsiteX714" fmla="*/ 1241040 w 1994354"/>
                <a:gd name="connsiteY714" fmla="*/ 996700 h 2027849"/>
                <a:gd name="connsiteX715" fmla="*/ 1222594 w 1994354"/>
                <a:gd name="connsiteY715" fmla="*/ 1006279 h 2027849"/>
                <a:gd name="connsiteX716" fmla="*/ 1212994 w 1994354"/>
                <a:gd name="connsiteY716" fmla="*/ 987813 h 2027849"/>
                <a:gd name="connsiteX717" fmla="*/ 1170275 w 1994354"/>
                <a:gd name="connsiteY717" fmla="*/ 1175829 h 2027849"/>
                <a:gd name="connsiteX718" fmla="*/ 1160229 w 1994354"/>
                <a:gd name="connsiteY718" fmla="*/ 1157510 h 2027849"/>
                <a:gd name="connsiteX719" fmla="*/ 1178537 w 1994354"/>
                <a:gd name="connsiteY719" fmla="*/ 1147464 h 2027849"/>
                <a:gd name="connsiteX720" fmla="*/ 1188583 w 1994354"/>
                <a:gd name="connsiteY720" fmla="*/ 1165783 h 2027849"/>
                <a:gd name="connsiteX721" fmla="*/ 1188583 w 1994354"/>
                <a:gd name="connsiteY721" fmla="*/ 1165817 h 2027849"/>
                <a:gd name="connsiteX722" fmla="*/ 1170275 w 1994354"/>
                <a:gd name="connsiteY722" fmla="*/ 1175829 h 2027849"/>
                <a:gd name="connsiteX723" fmla="*/ 1101806 w 1994354"/>
                <a:gd name="connsiteY723" fmla="*/ 1872964 h 2027849"/>
                <a:gd name="connsiteX724" fmla="*/ 1111817 w 1994354"/>
                <a:gd name="connsiteY724" fmla="*/ 1891420 h 2027849"/>
                <a:gd name="connsiteX725" fmla="*/ 1093269 w 1994354"/>
                <a:gd name="connsiteY725" fmla="*/ 1901524 h 2027849"/>
                <a:gd name="connsiteX726" fmla="*/ 1083394 w 1994354"/>
                <a:gd name="connsiteY726" fmla="*/ 1882955 h 2027849"/>
                <a:gd name="connsiteX727" fmla="*/ 1101806 w 1994354"/>
                <a:gd name="connsiteY727" fmla="*/ 1872964 h 2027849"/>
                <a:gd name="connsiteX728" fmla="*/ 1671977 w 1994354"/>
                <a:gd name="connsiteY728" fmla="*/ 513710 h 2027849"/>
                <a:gd name="connsiteX729" fmla="*/ 1681543 w 1994354"/>
                <a:gd name="connsiteY729" fmla="*/ 531744 h 2027849"/>
                <a:gd name="connsiteX730" fmla="*/ 1681406 w 1994354"/>
                <a:gd name="connsiteY730" fmla="*/ 532135 h 2027849"/>
                <a:gd name="connsiteX731" fmla="*/ 1662994 w 1994354"/>
                <a:gd name="connsiteY731" fmla="*/ 541543 h 2027849"/>
                <a:gd name="connsiteX732" fmla="*/ 1653566 w 1994354"/>
                <a:gd name="connsiteY732" fmla="*/ 523121 h 2027849"/>
                <a:gd name="connsiteX733" fmla="*/ 1671977 w 1994354"/>
                <a:gd name="connsiteY733" fmla="*/ 513707 h 2027849"/>
                <a:gd name="connsiteX734" fmla="*/ 1611497 w 1994354"/>
                <a:gd name="connsiteY734" fmla="*/ 658739 h 2027849"/>
                <a:gd name="connsiteX735" fmla="*/ 1629566 w 1994354"/>
                <a:gd name="connsiteY735" fmla="*/ 648669 h 2027849"/>
                <a:gd name="connsiteX736" fmla="*/ 1639646 w 1994354"/>
                <a:gd name="connsiteY736" fmla="*/ 666751 h 2027849"/>
                <a:gd name="connsiteX737" fmla="*/ 1621577 w 1994354"/>
                <a:gd name="connsiteY737" fmla="*/ 676817 h 2027849"/>
                <a:gd name="connsiteX738" fmla="*/ 1611497 w 1994354"/>
                <a:gd name="connsiteY738" fmla="*/ 658739 h 2027849"/>
                <a:gd name="connsiteX739" fmla="*/ 1577006 w 1994354"/>
                <a:gd name="connsiteY739" fmla="*/ 820077 h 2027849"/>
                <a:gd name="connsiteX740" fmla="*/ 1566789 w 1994354"/>
                <a:gd name="connsiteY740" fmla="*/ 801833 h 2027849"/>
                <a:gd name="connsiteX741" fmla="*/ 1585029 w 1994354"/>
                <a:gd name="connsiteY741" fmla="*/ 791630 h 2027849"/>
                <a:gd name="connsiteX742" fmla="*/ 1595246 w 1994354"/>
                <a:gd name="connsiteY742" fmla="*/ 809870 h 2027849"/>
                <a:gd name="connsiteX743" fmla="*/ 1595212 w 1994354"/>
                <a:gd name="connsiteY743" fmla="*/ 809997 h 2027849"/>
                <a:gd name="connsiteX744" fmla="*/ 1577006 w 1994354"/>
                <a:gd name="connsiteY744" fmla="*/ 820077 h 2027849"/>
                <a:gd name="connsiteX745" fmla="*/ 1543714 w 1994354"/>
                <a:gd name="connsiteY745" fmla="*/ 927011 h 2027849"/>
                <a:gd name="connsiteX746" fmla="*/ 1553246 w 1994354"/>
                <a:gd name="connsiteY746" fmla="*/ 945391 h 2027849"/>
                <a:gd name="connsiteX747" fmla="*/ 1534869 w 1994354"/>
                <a:gd name="connsiteY747" fmla="*/ 954930 h 2027849"/>
                <a:gd name="connsiteX748" fmla="*/ 1525337 w 1994354"/>
                <a:gd name="connsiteY748" fmla="*/ 936549 h 2027849"/>
                <a:gd name="connsiteX749" fmla="*/ 1525337 w 1994354"/>
                <a:gd name="connsiteY749" fmla="*/ 936532 h 2027849"/>
                <a:gd name="connsiteX750" fmla="*/ 1543372 w 1994354"/>
                <a:gd name="connsiteY750" fmla="*/ 926908 h 2027849"/>
                <a:gd name="connsiteX751" fmla="*/ 1543714 w 1994354"/>
                <a:gd name="connsiteY751" fmla="*/ 927021 h 2027849"/>
                <a:gd name="connsiteX752" fmla="*/ 1501440 w 1994354"/>
                <a:gd name="connsiteY752" fmla="*/ 1061880 h 2027849"/>
                <a:gd name="connsiteX753" fmla="*/ 1511520 w 1994354"/>
                <a:gd name="connsiteY753" fmla="*/ 1080155 h 2027849"/>
                <a:gd name="connsiteX754" fmla="*/ 1493246 w 1994354"/>
                <a:gd name="connsiteY754" fmla="*/ 1090235 h 2027849"/>
                <a:gd name="connsiteX755" fmla="*/ 1483166 w 1994354"/>
                <a:gd name="connsiteY755" fmla="*/ 1071960 h 2027849"/>
                <a:gd name="connsiteX756" fmla="*/ 1501440 w 1994354"/>
                <a:gd name="connsiteY756" fmla="*/ 1061880 h 2027849"/>
                <a:gd name="connsiteX757" fmla="*/ 1449326 w 1994354"/>
                <a:gd name="connsiteY757" fmla="*/ 1231468 h 2027849"/>
                <a:gd name="connsiteX758" fmla="*/ 1459029 w 1994354"/>
                <a:gd name="connsiteY758" fmla="*/ 1249968 h 2027849"/>
                <a:gd name="connsiteX759" fmla="*/ 1440549 w 1994354"/>
                <a:gd name="connsiteY759" fmla="*/ 1259678 h 2027849"/>
                <a:gd name="connsiteX760" fmla="*/ 1430812 w 1994354"/>
                <a:gd name="connsiteY760" fmla="*/ 1241177 h 2027849"/>
                <a:gd name="connsiteX761" fmla="*/ 1430880 w 1994354"/>
                <a:gd name="connsiteY761" fmla="*/ 1241006 h 2027849"/>
                <a:gd name="connsiteX762" fmla="*/ 1449291 w 1994354"/>
                <a:gd name="connsiteY762" fmla="*/ 1231464 h 2027849"/>
                <a:gd name="connsiteX763" fmla="*/ 1449326 w 1994354"/>
                <a:gd name="connsiteY763" fmla="*/ 1231478 h 2027849"/>
                <a:gd name="connsiteX764" fmla="*/ 1312320 w 1994354"/>
                <a:gd name="connsiteY764" fmla="*/ 1673068 h 2027849"/>
                <a:gd name="connsiteX765" fmla="*/ 1302103 w 1994354"/>
                <a:gd name="connsiteY765" fmla="*/ 1654773 h 2027849"/>
                <a:gd name="connsiteX766" fmla="*/ 1320411 w 1994354"/>
                <a:gd name="connsiteY766" fmla="*/ 1644552 h 2027849"/>
                <a:gd name="connsiteX767" fmla="*/ 1330629 w 1994354"/>
                <a:gd name="connsiteY767" fmla="*/ 1662851 h 2027849"/>
                <a:gd name="connsiteX768" fmla="*/ 1330560 w 1994354"/>
                <a:gd name="connsiteY768" fmla="*/ 1663043 h 2027849"/>
                <a:gd name="connsiteX769" fmla="*/ 1312320 w 1994354"/>
                <a:gd name="connsiteY769" fmla="*/ 1673078 h 2027849"/>
                <a:gd name="connsiteX770" fmla="*/ 1366046 w 1994354"/>
                <a:gd name="connsiteY770" fmla="*/ 1501855 h 2027849"/>
                <a:gd name="connsiteX771" fmla="*/ 1374960 w 1994354"/>
                <a:gd name="connsiteY771" fmla="*/ 1520702 h 2027849"/>
                <a:gd name="connsiteX772" fmla="*/ 1356103 w 1994354"/>
                <a:gd name="connsiteY772" fmla="*/ 1529616 h 2027849"/>
                <a:gd name="connsiteX773" fmla="*/ 1347189 w 1994354"/>
                <a:gd name="connsiteY773" fmla="*/ 1510770 h 2027849"/>
                <a:gd name="connsiteX774" fmla="*/ 1347223 w 1994354"/>
                <a:gd name="connsiteY774" fmla="*/ 1510701 h 2027849"/>
                <a:gd name="connsiteX775" fmla="*/ 1365909 w 1994354"/>
                <a:gd name="connsiteY775" fmla="*/ 1501811 h 2027849"/>
                <a:gd name="connsiteX776" fmla="*/ 1366046 w 1994354"/>
                <a:gd name="connsiteY776" fmla="*/ 1501859 h 2027849"/>
                <a:gd name="connsiteX777" fmla="*/ 1407737 w 1994354"/>
                <a:gd name="connsiteY777" fmla="*/ 1366807 h 2027849"/>
                <a:gd name="connsiteX778" fmla="*/ 1416823 w 1994354"/>
                <a:gd name="connsiteY778" fmla="*/ 1385500 h 2027849"/>
                <a:gd name="connsiteX779" fmla="*/ 1398137 w 1994354"/>
                <a:gd name="connsiteY779" fmla="*/ 1394592 h 2027849"/>
                <a:gd name="connsiteX780" fmla="*/ 1389052 w 1994354"/>
                <a:gd name="connsiteY780" fmla="*/ 1375900 h 2027849"/>
                <a:gd name="connsiteX781" fmla="*/ 1389086 w 1994354"/>
                <a:gd name="connsiteY781" fmla="*/ 1375783 h 2027849"/>
                <a:gd name="connsiteX782" fmla="*/ 1407463 w 1994354"/>
                <a:gd name="connsiteY782" fmla="*/ 1366718 h 2027849"/>
                <a:gd name="connsiteX783" fmla="*/ 1407737 w 1994354"/>
                <a:gd name="connsiteY783" fmla="*/ 1366811 h 2027849"/>
                <a:gd name="connsiteX784" fmla="*/ 1278652 w 1994354"/>
                <a:gd name="connsiteY784" fmla="*/ 1779950 h 2027849"/>
                <a:gd name="connsiteX785" fmla="*/ 1288594 w 1994354"/>
                <a:gd name="connsiteY785" fmla="*/ 1798008 h 2027849"/>
                <a:gd name="connsiteX786" fmla="*/ 1270560 w 1994354"/>
                <a:gd name="connsiteY786" fmla="*/ 1807965 h 2027849"/>
                <a:gd name="connsiteX787" fmla="*/ 1260583 w 1994354"/>
                <a:gd name="connsiteY787" fmla="*/ 1789941 h 2027849"/>
                <a:gd name="connsiteX788" fmla="*/ 1278069 w 1994354"/>
                <a:gd name="connsiteY788" fmla="*/ 1779768 h 2027849"/>
                <a:gd name="connsiteX789" fmla="*/ 1278652 w 1994354"/>
                <a:gd name="connsiteY789" fmla="*/ 1779936 h 2027849"/>
                <a:gd name="connsiteX790" fmla="*/ 1236823 w 1994354"/>
                <a:gd name="connsiteY790" fmla="*/ 1914871 h 2027849"/>
                <a:gd name="connsiteX791" fmla="*/ 1246766 w 1994354"/>
                <a:gd name="connsiteY791" fmla="*/ 1933149 h 2027849"/>
                <a:gd name="connsiteX792" fmla="*/ 1246766 w 1994354"/>
                <a:gd name="connsiteY792" fmla="*/ 1933169 h 2027849"/>
                <a:gd name="connsiteX793" fmla="*/ 1228937 w 1994354"/>
                <a:gd name="connsiteY793" fmla="*/ 1943616 h 2027849"/>
                <a:gd name="connsiteX794" fmla="*/ 1218480 w 1994354"/>
                <a:gd name="connsiteY794" fmla="*/ 1925774 h 2027849"/>
                <a:gd name="connsiteX795" fmla="*/ 1218686 w 1994354"/>
                <a:gd name="connsiteY795" fmla="*/ 1925054 h 2027849"/>
                <a:gd name="connsiteX796" fmla="*/ 1236789 w 1994354"/>
                <a:gd name="connsiteY796" fmla="*/ 1914851 h 2027849"/>
                <a:gd name="connsiteX797" fmla="*/ 1236823 w 1994354"/>
                <a:gd name="connsiteY797" fmla="*/ 1914857 h 2027849"/>
                <a:gd name="connsiteX798" fmla="*/ 1414389 w 1994354"/>
                <a:gd name="connsiteY798" fmla="*/ 1822056 h 2027849"/>
                <a:gd name="connsiteX799" fmla="*/ 1423440 w 1994354"/>
                <a:gd name="connsiteY799" fmla="*/ 1840584 h 2027849"/>
                <a:gd name="connsiteX800" fmla="*/ 1404926 w 1994354"/>
                <a:gd name="connsiteY800" fmla="*/ 1849636 h 2027849"/>
                <a:gd name="connsiteX801" fmla="*/ 1395806 w 1994354"/>
                <a:gd name="connsiteY801" fmla="*/ 1831269 h 2027849"/>
                <a:gd name="connsiteX802" fmla="*/ 1414389 w 1994354"/>
                <a:gd name="connsiteY802" fmla="*/ 1822039 h 2027849"/>
                <a:gd name="connsiteX803" fmla="*/ 1414389 w 1994354"/>
                <a:gd name="connsiteY803" fmla="*/ 1822043 h 2027849"/>
                <a:gd name="connsiteX804" fmla="*/ 1372320 w 1994354"/>
                <a:gd name="connsiteY804" fmla="*/ 1956909 h 2027849"/>
                <a:gd name="connsiteX805" fmla="*/ 1381989 w 1994354"/>
                <a:gd name="connsiteY805" fmla="*/ 1975495 h 2027849"/>
                <a:gd name="connsiteX806" fmla="*/ 1363372 w 1994354"/>
                <a:gd name="connsiteY806" fmla="*/ 1985332 h 2027849"/>
                <a:gd name="connsiteX807" fmla="*/ 1353840 w 1994354"/>
                <a:gd name="connsiteY807" fmla="*/ 1966615 h 2027849"/>
                <a:gd name="connsiteX808" fmla="*/ 1372320 w 1994354"/>
                <a:gd name="connsiteY808" fmla="*/ 1956895 h 2027849"/>
                <a:gd name="connsiteX809" fmla="*/ 1456115 w 1994354"/>
                <a:gd name="connsiteY809" fmla="*/ 1686669 h 2027849"/>
                <a:gd name="connsiteX810" fmla="*/ 1465852 w 1994354"/>
                <a:gd name="connsiteY810" fmla="*/ 1705214 h 2027849"/>
                <a:gd name="connsiteX811" fmla="*/ 1447303 w 1994354"/>
                <a:gd name="connsiteY811" fmla="*/ 1714951 h 2027849"/>
                <a:gd name="connsiteX812" fmla="*/ 1437566 w 1994354"/>
                <a:gd name="connsiteY812" fmla="*/ 1696396 h 2027849"/>
                <a:gd name="connsiteX813" fmla="*/ 1456115 w 1994354"/>
                <a:gd name="connsiteY813" fmla="*/ 1686655 h 2027849"/>
                <a:gd name="connsiteX814" fmla="*/ 1500480 w 1994354"/>
                <a:gd name="connsiteY814" fmla="*/ 1543560 h 2027849"/>
                <a:gd name="connsiteX815" fmla="*/ 1510251 w 1994354"/>
                <a:gd name="connsiteY815" fmla="*/ 1562075 h 2027849"/>
                <a:gd name="connsiteX816" fmla="*/ 1491737 w 1994354"/>
                <a:gd name="connsiteY816" fmla="*/ 1571767 h 2027849"/>
                <a:gd name="connsiteX817" fmla="*/ 1482069 w 1994354"/>
                <a:gd name="connsiteY817" fmla="*/ 1553263 h 2027849"/>
                <a:gd name="connsiteX818" fmla="*/ 1500480 w 1994354"/>
                <a:gd name="connsiteY818" fmla="*/ 1543547 h 2027849"/>
                <a:gd name="connsiteX819" fmla="*/ 1575806 w 1994354"/>
                <a:gd name="connsiteY819" fmla="*/ 1301640 h 2027849"/>
                <a:gd name="connsiteX820" fmla="*/ 1565897 w 1994354"/>
                <a:gd name="connsiteY820" fmla="*/ 1283256 h 2027849"/>
                <a:gd name="connsiteX821" fmla="*/ 1584103 w 1994354"/>
                <a:gd name="connsiteY821" fmla="*/ 1273289 h 2027849"/>
                <a:gd name="connsiteX822" fmla="*/ 1594697 w 1994354"/>
                <a:gd name="connsiteY822" fmla="*/ 1291300 h 2027849"/>
                <a:gd name="connsiteX823" fmla="*/ 1576663 w 1994354"/>
                <a:gd name="connsiteY823" fmla="*/ 1301880 h 2027849"/>
                <a:gd name="connsiteX824" fmla="*/ 1575806 w 1994354"/>
                <a:gd name="connsiteY824" fmla="*/ 1301627 h 2027849"/>
                <a:gd name="connsiteX825" fmla="*/ 1628229 w 1994354"/>
                <a:gd name="connsiteY825" fmla="*/ 1132135 h 2027849"/>
                <a:gd name="connsiteX826" fmla="*/ 1618492 w 1994354"/>
                <a:gd name="connsiteY826" fmla="*/ 1113665 h 2027849"/>
                <a:gd name="connsiteX827" fmla="*/ 1636800 w 1994354"/>
                <a:gd name="connsiteY827" fmla="*/ 1103880 h 2027849"/>
                <a:gd name="connsiteX828" fmla="*/ 1646674 w 1994354"/>
                <a:gd name="connsiteY828" fmla="*/ 1122326 h 2027849"/>
                <a:gd name="connsiteX829" fmla="*/ 1628229 w 1994354"/>
                <a:gd name="connsiteY829" fmla="*/ 1132121 h 2027849"/>
                <a:gd name="connsiteX830" fmla="*/ 1507475 w 1994354"/>
                <a:gd name="connsiteY830" fmla="*/ 1998854 h 2027849"/>
                <a:gd name="connsiteX831" fmla="*/ 1517006 w 1994354"/>
                <a:gd name="connsiteY831" fmla="*/ 2016230 h 2027849"/>
                <a:gd name="connsiteX832" fmla="*/ 1516629 w 1994354"/>
                <a:gd name="connsiteY832" fmla="*/ 2017303 h 2027849"/>
                <a:gd name="connsiteX833" fmla="*/ 1499006 w 1994354"/>
                <a:gd name="connsiteY833" fmla="*/ 2027332 h 2027849"/>
                <a:gd name="connsiteX834" fmla="*/ 1498457 w 1994354"/>
                <a:gd name="connsiteY834" fmla="*/ 2027174 h 2027849"/>
                <a:gd name="connsiteX835" fmla="*/ 1488994 w 1994354"/>
                <a:gd name="connsiteY835" fmla="*/ 2008499 h 2027849"/>
                <a:gd name="connsiteX836" fmla="*/ 1507475 w 1994354"/>
                <a:gd name="connsiteY836" fmla="*/ 1998840 h 2027849"/>
                <a:gd name="connsiteX837" fmla="*/ 1626994 w 1994354"/>
                <a:gd name="connsiteY837" fmla="*/ 1613682 h 2027849"/>
                <a:gd name="connsiteX838" fmla="*/ 1617532 w 1994354"/>
                <a:gd name="connsiteY838" fmla="*/ 1595102 h 2027849"/>
                <a:gd name="connsiteX839" fmla="*/ 1635429 w 1994354"/>
                <a:gd name="connsiteY839" fmla="*/ 1585437 h 2027849"/>
                <a:gd name="connsiteX840" fmla="*/ 1644617 w 1994354"/>
                <a:gd name="connsiteY840" fmla="*/ 1604150 h 2027849"/>
                <a:gd name="connsiteX841" fmla="*/ 1626994 w 1994354"/>
                <a:gd name="connsiteY841" fmla="*/ 1613668 h 2027849"/>
                <a:gd name="connsiteX842" fmla="*/ 1814023 w 1994354"/>
                <a:gd name="connsiteY842" fmla="*/ 1010887 h 2027849"/>
                <a:gd name="connsiteX843" fmla="*/ 1822972 w 1994354"/>
                <a:gd name="connsiteY843" fmla="*/ 1029559 h 2027849"/>
                <a:gd name="connsiteX844" fmla="*/ 1805040 w 1994354"/>
                <a:gd name="connsiteY844" fmla="*/ 1038744 h 2027849"/>
                <a:gd name="connsiteX845" fmla="*/ 1795611 w 1994354"/>
                <a:gd name="connsiteY845" fmla="*/ 1020316 h 2027849"/>
                <a:gd name="connsiteX846" fmla="*/ 1814023 w 1994354"/>
                <a:gd name="connsiteY846" fmla="*/ 1010873 h 2027849"/>
                <a:gd name="connsiteX847" fmla="*/ 1855749 w 1994354"/>
                <a:gd name="connsiteY847" fmla="*/ 875599 h 2027849"/>
                <a:gd name="connsiteX848" fmla="*/ 1864972 w 1994354"/>
                <a:gd name="connsiteY848" fmla="*/ 894357 h 2027849"/>
                <a:gd name="connsiteX849" fmla="*/ 1847109 w 1994354"/>
                <a:gd name="connsiteY849" fmla="*/ 903854 h 2027849"/>
                <a:gd name="connsiteX850" fmla="*/ 1837303 w 1994354"/>
                <a:gd name="connsiteY850" fmla="*/ 885405 h 2027849"/>
                <a:gd name="connsiteX851" fmla="*/ 1855749 w 1994354"/>
                <a:gd name="connsiteY851" fmla="*/ 875592 h 2027849"/>
                <a:gd name="connsiteX852" fmla="*/ 1686789 w 1994354"/>
                <a:gd name="connsiteY852" fmla="*/ 1468807 h 2027849"/>
                <a:gd name="connsiteX853" fmla="*/ 1669783 w 1994354"/>
                <a:gd name="connsiteY853" fmla="*/ 1478863 h 2027849"/>
                <a:gd name="connsiteX854" fmla="*/ 1668686 w 1994354"/>
                <a:gd name="connsiteY854" fmla="*/ 1478538 h 2027849"/>
                <a:gd name="connsiteX855" fmla="*/ 1659291 w 1994354"/>
                <a:gd name="connsiteY855" fmla="*/ 1459999 h 2027849"/>
                <a:gd name="connsiteX856" fmla="*/ 1677532 w 1994354"/>
                <a:gd name="connsiteY856" fmla="*/ 1450512 h 2027849"/>
                <a:gd name="connsiteX857" fmla="*/ 1687166 w 1994354"/>
                <a:gd name="connsiteY857" fmla="*/ 1467635 h 2027849"/>
                <a:gd name="connsiteX858" fmla="*/ 1686789 w 1994354"/>
                <a:gd name="connsiteY858" fmla="*/ 1468793 h 2027849"/>
                <a:gd name="connsiteX859" fmla="*/ 1719223 w 1994354"/>
                <a:gd name="connsiteY859" fmla="*/ 1315207 h 2027849"/>
                <a:gd name="connsiteX860" fmla="*/ 1728686 w 1994354"/>
                <a:gd name="connsiteY860" fmla="*/ 1333828 h 2027849"/>
                <a:gd name="connsiteX861" fmla="*/ 1710857 w 1994354"/>
                <a:gd name="connsiteY861" fmla="*/ 1343534 h 2027849"/>
                <a:gd name="connsiteX862" fmla="*/ 1700880 w 1994354"/>
                <a:gd name="connsiteY862" fmla="*/ 1325181 h 2027849"/>
                <a:gd name="connsiteX863" fmla="*/ 1719223 w 1994354"/>
                <a:gd name="connsiteY863" fmla="*/ 1315193 h 2027849"/>
                <a:gd name="connsiteX864" fmla="*/ 1549543 w 1994354"/>
                <a:gd name="connsiteY864" fmla="*/ 1863988 h 2027849"/>
                <a:gd name="connsiteX865" fmla="*/ 1558457 w 1994354"/>
                <a:gd name="connsiteY865" fmla="*/ 1882584 h 2027849"/>
                <a:gd name="connsiteX866" fmla="*/ 1540251 w 1994354"/>
                <a:gd name="connsiteY866" fmla="*/ 1891636 h 2027849"/>
                <a:gd name="connsiteX867" fmla="*/ 1531063 w 1994354"/>
                <a:gd name="connsiteY867" fmla="*/ 1873159 h 2027849"/>
                <a:gd name="connsiteX868" fmla="*/ 1549543 w 1994354"/>
                <a:gd name="connsiteY868" fmla="*/ 1863974 h 2027849"/>
                <a:gd name="connsiteX869" fmla="*/ 1591372 w 1994354"/>
                <a:gd name="connsiteY869" fmla="*/ 1728635 h 2027849"/>
                <a:gd name="connsiteX870" fmla="*/ 1600697 w 1994354"/>
                <a:gd name="connsiteY870" fmla="*/ 1746384 h 2027849"/>
                <a:gd name="connsiteX871" fmla="*/ 1600423 w 1994354"/>
                <a:gd name="connsiteY871" fmla="*/ 1747149 h 2027849"/>
                <a:gd name="connsiteX872" fmla="*/ 1583383 w 1994354"/>
                <a:gd name="connsiteY872" fmla="*/ 1757119 h 2027849"/>
                <a:gd name="connsiteX873" fmla="*/ 1582251 w 1994354"/>
                <a:gd name="connsiteY873" fmla="*/ 1756776 h 2027849"/>
                <a:gd name="connsiteX874" fmla="*/ 1572720 w 1994354"/>
                <a:gd name="connsiteY874" fmla="*/ 1738139 h 2027849"/>
                <a:gd name="connsiteX875" fmla="*/ 1591372 w 1994354"/>
                <a:gd name="connsiteY875" fmla="*/ 1728621 h 2027849"/>
                <a:gd name="connsiteX876" fmla="*/ 1933132 w 1994354"/>
                <a:gd name="connsiteY876" fmla="*/ 625320 h 2027849"/>
                <a:gd name="connsiteX877" fmla="*/ 1923874 w 1994354"/>
                <a:gd name="connsiteY877" fmla="*/ 606844 h 2027849"/>
                <a:gd name="connsiteX878" fmla="*/ 1942354 w 1994354"/>
                <a:gd name="connsiteY878" fmla="*/ 597593 h 2027849"/>
                <a:gd name="connsiteX879" fmla="*/ 1951783 w 1994354"/>
                <a:gd name="connsiteY879" fmla="*/ 614729 h 2027849"/>
                <a:gd name="connsiteX880" fmla="*/ 1951337 w 1994354"/>
                <a:gd name="connsiteY880" fmla="*/ 615998 h 2027849"/>
                <a:gd name="connsiteX881" fmla="*/ 1934674 w 1994354"/>
                <a:gd name="connsiteY881" fmla="*/ 625800 h 2027849"/>
                <a:gd name="connsiteX882" fmla="*/ 1933132 w 1994354"/>
                <a:gd name="connsiteY882" fmla="*/ 625307 h 2027849"/>
                <a:gd name="connsiteX883" fmla="*/ 1909577 w 1994354"/>
                <a:gd name="connsiteY883" fmla="*/ 750669 h 2027849"/>
                <a:gd name="connsiteX884" fmla="*/ 1892640 w 1994354"/>
                <a:gd name="connsiteY884" fmla="*/ 760999 h 2027849"/>
                <a:gd name="connsiteX885" fmla="*/ 1891611 w 1994354"/>
                <a:gd name="connsiteY885" fmla="*/ 760704 h 2027849"/>
                <a:gd name="connsiteX886" fmla="*/ 1881703 w 1994354"/>
                <a:gd name="connsiteY886" fmla="*/ 742348 h 2027849"/>
                <a:gd name="connsiteX887" fmla="*/ 1900046 w 1994354"/>
                <a:gd name="connsiteY887" fmla="*/ 732429 h 2027849"/>
                <a:gd name="connsiteX888" fmla="*/ 1909955 w 1994354"/>
                <a:gd name="connsiteY888" fmla="*/ 749441 h 2027849"/>
                <a:gd name="connsiteX889" fmla="*/ 1909577 w 1994354"/>
                <a:gd name="connsiteY889" fmla="*/ 750669 h 2027849"/>
                <a:gd name="connsiteX890" fmla="*/ 1763006 w 1994354"/>
                <a:gd name="connsiteY890" fmla="*/ 1173947 h 2027849"/>
                <a:gd name="connsiteX891" fmla="*/ 1753577 w 1994354"/>
                <a:gd name="connsiteY891" fmla="*/ 1155316 h 2027849"/>
                <a:gd name="connsiteX892" fmla="*/ 1772194 w 1994354"/>
                <a:gd name="connsiteY892" fmla="*/ 1145877 h 2027849"/>
                <a:gd name="connsiteX893" fmla="*/ 1781109 w 1994354"/>
                <a:gd name="connsiteY893" fmla="*/ 1164775 h 2027849"/>
                <a:gd name="connsiteX894" fmla="*/ 1763006 w 1994354"/>
                <a:gd name="connsiteY894" fmla="*/ 1173947 h 2027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Lst>
              <a:rect l="l" t="t" r="r" b="b"/>
              <a:pathLst>
                <a:path w="1994354" h="2027849">
                  <a:moveTo>
                    <a:pt x="1991760" y="484629"/>
                  </a:moveTo>
                  <a:cubicBezTo>
                    <a:pt x="1988229" y="489871"/>
                    <a:pt x="1981783" y="492281"/>
                    <a:pt x="1975680" y="490615"/>
                  </a:cubicBezTo>
                  <a:cubicBezTo>
                    <a:pt x="1969372" y="488719"/>
                    <a:pt x="1965052" y="482980"/>
                    <a:pt x="1964914" y="476410"/>
                  </a:cubicBezTo>
                  <a:cubicBezTo>
                    <a:pt x="1964949" y="469567"/>
                    <a:pt x="1969680" y="463639"/>
                    <a:pt x="1976332" y="462086"/>
                  </a:cubicBezTo>
                  <a:cubicBezTo>
                    <a:pt x="1977806" y="461699"/>
                    <a:pt x="1979280" y="461325"/>
                    <a:pt x="1980754" y="460944"/>
                  </a:cubicBezTo>
                  <a:cubicBezTo>
                    <a:pt x="1982914" y="461630"/>
                    <a:pt x="1985109" y="462292"/>
                    <a:pt x="1987269" y="462967"/>
                  </a:cubicBezTo>
                  <a:cubicBezTo>
                    <a:pt x="1988160" y="463927"/>
                    <a:pt x="1989052" y="464897"/>
                    <a:pt x="1989977" y="465847"/>
                  </a:cubicBezTo>
                  <a:cubicBezTo>
                    <a:pt x="1995052" y="470839"/>
                    <a:pt x="1995806" y="478769"/>
                    <a:pt x="1991760" y="484629"/>
                  </a:cubicBezTo>
                  <a:close/>
                  <a:moveTo>
                    <a:pt x="1670160" y="996885"/>
                  </a:moveTo>
                  <a:cubicBezTo>
                    <a:pt x="1662411" y="994629"/>
                    <a:pt x="1657955" y="986507"/>
                    <a:pt x="1660183" y="978748"/>
                  </a:cubicBezTo>
                  <a:cubicBezTo>
                    <a:pt x="1662446" y="970985"/>
                    <a:pt x="1670571" y="966525"/>
                    <a:pt x="1678320" y="968784"/>
                  </a:cubicBezTo>
                  <a:cubicBezTo>
                    <a:pt x="1678457" y="968819"/>
                    <a:pt x="1678560" y="968856"/>
                    <a:pt x="1678697" y="968894"/>
                  </a:cubicBezTo>
                  <a:cubicBezTo>
                    <a:pt x="1686446" y="971150"/>
                    <a:pt x="1690903" y="979272"/>
                    <a:pt x="1688674" y="987031"/>
                  </a:cubicBezTo>
                  <a:cubicBezTo>
                    <a:pt x="1686411" y="994793"/>
                    <a:pt x="1678286" y="999254"/>
                    <a:pt x="1670537" y="996995"/>
                  </a:cubicBezTo>
                  <a:cubicBezTo>
                    <a:pt x="1670400" y="996960"/>
                    <a:pt x="1670297" y="996923"/>
                    <a:pt x="1670160" y="996885"/>
                  </a:cubicBezTo>
                  <a:close/>
                  <a:moveTo>
                    <a:pt x="1712194" y="862015"/>
                  </a:moveTo>
                  <a:cubicBezTo>
                    <a:pt x="1704377" y="859711"/>
                    <a:pt x="1699886" y="851493"/>
                    <a:pt x="1702183" y="843662"/>
                  </a:cubicBezTo>
                  <a:cubicBezTo>
                    <a:pt x="1704480" y="835831"/>
                    <a:pt x="1712709" y="831353"/>
                    <a:pt x="1720526" y="833657"/>
                  </a:cubicBezTo>
                  <a:cubicBezTo>
                    <a:pt x="1728343" y="835951"/>
                    <a:pt x="1732834" y="844115"/>
                    <a:pt x="1730571" y="851925"/>
                  </a:cubicBezTo>
                  <a:cubicBezTo>
                    <a:pt x="1728137" y="859673"/>
                    <a:pt x="1720046" y="864127"/>
                    <a:pt x="1712194" y="862015"/>
                  </a:cubicBezTo>
                  <a:close/>
                  <a:moveTo>
                    <a:pt x="1756526" y="718790"/>
                  </a:moveTo>
                  <a:cubicBezTo>
                    <a:pt x="1748743" y="716380"/>
                    <a:pt x="1744354" y="708110"/>
                    <a:pt x="1746789" y="700317"/>
                  </a:cubicBezTo>
                  <a:cubicBezTo>
                    <a:pt x="1749154" y="692623"/>
                    <a:pt x="1757246" y="688252"/>
                    <a:pt x="1764994" y="690490"/>
                  </a:cubicBezTo>
                  <a:cubicBezTo>
                    <a:pt x="1772709" y="692983"/>
                    <a:pt x="1777063" y="701119"/>
                    <a:pt x="1774903" y="708926"/>
                  </a:cubicBezTo>
                  <a:cubicBezTo>
                    <a:pt x="1772469" y="716657"/>
                    <a:pt x="1764309" y="721039"/>
                    <a:pt x="1756526" y="718790"/>
                  </a:cubicBezTo>
                  <a:close/>
                  <a:moveTo>
                    <a:pt x="1798046" y="583409"/>
                  </a:moveTo>
                  <a:cubicBezTo>
                    <a:pt x="1790332" y="580992"/>
                    <a:pt x="1786080" y="572794"/>
                    <a:pt x="1788480" y="565097"/>
                  </a:cubicBezTo>
                  <a:cubicBezTo>
                    <a:pt x="1790914" y="557397"/>
                    <a:pt x="1799109" y="553115"/>
                    <a:pt x="1806789" y="555532"/>
                  </a:cubicBezTo>
                  <a:cubicBezTo>
                    <a:pt x="1806960" y="555583"/>
                    <a:pt x="1807097" y="555635"/>
                    <a:pt x="1807269" y="555689"/>
                  </a:cubicBezTo>
                  <a:cubicBezTo>
                    <a:pt x="1814983" y="558106"/>
                    <a:pt x="1819234" y="566304"/>
                    <a:pt x="1816834" y="574002"/>
                  </a:cubicBezTo>
                  <a:cubicBezTo>
                    <a:pt x="1814400" y="581702"/>
                    <a:pt x="1806206" y="585984"/>
                    <a:pt x="1798526" y="583567"/>
                  </a:cubicBezTo>
                  <a:cubicBezTo>
                    <a:pt x="1798354" y="583516"/>
                    <a:pt x="1798217" y="583464"/>
                    <a:pt x="1798046" y="583409"/>
                  </a:cubicBezTo>
                  <a:close/>
                  <a:moveTo>
                    <a:pt x="1839874" y="448499"/>
                  </a:moveTo>
                  <a:cubicBezTo>
                    <a:pt x="1833669" y="446359"/>
                    <a:pt x="1829623" y="440397"/>
                    <a:pt x="1829897" y="433841"/>
                  </a:cubicBezTo>
                  <a:cubicBezTo>
                    <a:pt x="1830137" y="427019"/>
                    <a:pt x="1835074" y="421276"/>
                    <a:pt x="1841795" y="420038"/>
                  </a:cubicBezTo>
                  <a:cubicBezTo>
                    <a:pt x="1843303" y="419729"/>
                    <a:pt x="1844846" y="419517"/>
                    <a:pt x="1846389" y="419260"/>
                  </a:cubicBezTo>
                  <a:cubicBezTo>
                    <a:pt x="1848137" y="419801"/>
                    <a:pt x="1849852" y="420340"/>
                    <a:pt x="1851600" y="420878"/>
                  </a:cubicBezTo>
                  <a:cubicBezTo>
                    <a:pt x="1852732" y="421955"/>
                    <a:pt x="1853897" y="422997"/>
                    <a:pt x="1854960" y="424115"/>
                  </a:cubicBezTo>
                  <a:cubicBezTo>
                    <a:pt x="1859589" y="428757"/>
                    <a:pt x="1860617" y="435895"/>
                    <a:pt x="1857463" y="441648"/>
                  </a:cubicBezTo>
                  <a:cubicBezTo>
                    <a:pt x="1853931" y="447772"/>
                    <a:pt x="1846629" y="450617"/>
                    <a:pt x="1839874" y="448499"/>
                  </a:cubicBezTo>
                  <a:close/>
                  <a:moveTo>
                    <a:pt x="1542446" y="1408602"/>
                  </a:moveTo>
                  <a:cubicBezTo>
                    <a:pt x="1550160" y="1411070"/>
                    <a:pt x="1554480" y="1419271"/>
                    <a:pt x="1552149" y="1427033"/>
                  </a:cubicBezTo>
                  <a:cubicBezTo>
                    <a:pt x="1549543" y="1434696"/>
                    <a:pt x="1541315" y="1438924"/>
                    <a:pt x="1533566" y="1436610"/>
                  </a:cubicBezTo>
                  <a:cubicBezTo>
                    <a:pt x="1525852" y="1434100"/>
                    <a:pt x="1521566" y="1425854"/>
                    <a:pt x="1523966" y="1418095"/>
                  </a:cubicBezTo>
                  <a:cubicBezTo>
                    <a:pt x="1526434" y="1410371"/>
                    <a:pt x="1534732" y="1406119"/>
                    <a:pt x="1542446" y="1408602"/>
                  </a:cubicBezTo>
                  <a:close/>
                  <a:moveTo>
                    <a:pt x="1705269" y="406742"/>
                  </a:moveTo>
                  <a:cubicBezTo>
                    <a:pt x="1698994" y="404781"/>
                    <a:pt x="1694709" y="398997"/>
                    <a:pt x="1694640" y="392424"/>
                  </a:cubicBezTo>
                  <a:cubicBezTo>
                    <a:pt x="1694709" y="385564"/>
                    <a:pt x="1699543" y="379667"/>
                    <a:pt x="1706229" y="378199"/>
                  </a:cubicBezTo>
                  <a:cubicBezTo>
                    <a:pt x="1707703" y="377832"/>
                    <a:pt x="1709212" y="377513"/>
                    <a:pt x="1710720" y="377171"/>
                  </a:cubicBezTo>
                  <a:cubicBezTo>
                    <a:pt x="1712880" y="377856"/>
                    <a:pt x="1715074" y="378518"/>
                    <a:pt x="1717234" y="379193"/>
                  </a:cubicBezTo>
                  <a:cubicBezTo>
                    <a:pt x="1718263" y="380342"/>
                    <a:pt x="1719257" y="381491"/>
                    <a:pt x="1720286" y="382643"/>
                  </a:cubicBezTo>
                  <a:cubicBezTo>
                    <a:pt x="1724880" y="387710"/>
                    <a:pt x="1725394" y="395280"/>
                    <a:pt x="1721520" y="400920"/>
                  </a:cubicBezTo>
                  <a:cubicBezTo>
                    <a:pt x="1717852" y="406060"/>
                    <a:pt x="1711372" y="408381"/>
                    <a:pt x="1705269" y="406742"/>
                  </a:cubicBezTo>
                  <a:close/>
                  <a:moveTo>
                    <a:pt x="1135269" y="1765992"/>
                  </a:moveTo>
                  <a:cubicBezTo>
                    <a:pt x="1127520" y="1763747"/>
                    <a:pt x="1123097" y="1755655"/>
                    <a:pt x="1125326" y="1747920"/>
                  </a:cubicBezTo>
                  <a:cubicBezTo>
                    <a:pt x="1127589" y="1740189"/>
                    <a:pt x="1135680" y="1735739"/>
                    <a:pt x="1143394" y="1737988"/>
                  </a:cubicBezTo>
                  <a:cubicBezTo>
                    <a:pt x="1143497" y="1738015"/>
                    <a:pt x="1143600" y="1738046"/>
                    <a:pt x="1143703" y="1738077"/>
                  </a:cubicBezTo>
                  <a:cubicBezTo>
                    <a:pt x="1151451" y="1740220"/>
                    <a:pt x="1156012" y="1748253"/>
                    <a:pt x="1153886" y="1756015"/>
                  </a:cubicBezTo>
                  <a:cubicBezTo>
                    <a:pt x="1151726" y="1763781"/>
                    <a:pt x="1143703" y="1768337"/>
                    <a:pt x="1135955" y="1766195"/>
                  </a:cubicBezTo>
                  <a:cubicBezTo>
                    <a:pt x="1135714" y="1766133"/>
                    <a:pt x="1135509" y="1766064"/>
                    <a:pt x="1135269" y="1765992"/>
                  </a:cubicBezTo>
                  <a:close/>
                  <a:moveTo>
                    <a:pt x="1527943" y="499615"/>
                  </a:moveTo>
                  <a:cubicBezTo>
                    <a:pt x="1520229" y="497243"/>
                    <a:pt x="1515909" y="489072"/>
                    <a:pt x="1518275" y="481365"/>
                  </a:cubicBezTo>
                  <a:cubicBezTo>
                    <a:pt x="1520640" y="473657"/>
                    <a:pt x="1528834" y="469331"/>
                    <a:pt x="1536514" y="471703"/>
                  </a:cubicBezTo>
                  <a:cubicBezTo>
                    <a:pt x="1536583" y="471720"/>
                    <a:pt x="1536652" y="471741"/>
                    <a:pt x="1536720" y="471761"/>
                  </a:cubicBezTo>
                  <a:cubicBezTo>
                    <a:pt x="1544469" y="474011"/>
                    <a:pt x="1548926" y="482112"/>
                    <a:pt x="1546663" y="489861"/>
                  </a:cubicBezTo>
                  <a:cubicBezTo>
                    <a:pt x="1544434" y="497606"/>
                    <a:pt x="1536309" y="502063"/>
                    <a:pt x="1528560" y="499814"/>
                  </a:cubicBezTo>
                  <a:cubicBezTo>
                    <a:pt x="1528354" y="499752"/>
                    <a:pt x="1528149" y="499687"/>
                    <a:pt x="1527943" y="499615"/>
                  </a:cubicBezTo>
                  <a:close/>
                  <a:moveTo>
                    <a:pt x="1569326" y="364553"/>
                  </a:moveTo>
                  <a:cubicBezTo>
                    <a:pt x="1562949" y="362184"/>
                    <a:pt x="1558937" y="355831"/>
                    <a:pt x="1559554" y="349053"/>
                  </a:cubicBezTo>
                  <a:cubicBezTo>
                    <a:pt x="1560275" y="342525"/>
                    <a:pt x="1565212" y="337255"/>
                    <a:pt x="1571692" y="336124"/>
                  </a:cubicBezTo>
                  <a:cubicBezTo>
                    <a:pt x="1573234" y="335843"/>
                    <a:pt x="1574812" y="335699"/>
                    <a:pt x="1576354" y="335489"/>
                  </a:cubicBezTo>
                  <a:cubicBezTo>
                    <a:pt x="1578103" y="336031"/>
                    <a:pt x="1579852" y="336569"/>
                    <a:pt x="1581566" y="337108"/>
                  </a:cubicBezTo>
                  <a:cubicBezTo>
                    <a:pt x="1582800" y="338380"/>
                    <a:pt x="1584103" y="339593"/>
                    <a:pt x="1585269" y="340931"/>
                  </a:cubicBezTo>
                  <a:cubicBezTo>
                    <a:pt x="1589623" y="345827"/>
                    <a:pt x="1590172" y="353051"/>
                    <a:pt x="1586571" y="358536"/>
                  </a:cubicBezTo>
                  <a:cubicBezTo>
                    <a:pt x="1582903" y="364279"/>
                    <a:pt x="1575771" y="366765"/>
                    <a:pt x="1569326" y="364553"/>
                  </a:cubicBezTo>
                  <a:close/>
                  <a:moveTo>
                    <a:pt x="1450594" y="749925"/>
                  </a:moveTo>
                  <a:cubicBezTo>
                    <a:pt x="1458275" y="752551"/>
                    <a:pt x="1462526" y="760793"/>
                    <a:pt x="1460160" y="768569"/>
                  </a:cubicBezTo>
                  <a:cubicBezTo>
                    <a:pt x="1457417" y="776198"/>
                    <a:pt x="1449189" y="780347"/>
                    <a:pt x="1441406" y="778015"/>
                  </a:cubicBezTo>
                  <a:cubicBezTo>
                    <a:pt x="1433657" y="775478"/>
                    <a:pt x="1429406" y="767129"/>
                    <a:pt x="1431943" y="759371"/>
                  </a:cubicBezTo>
                  <a:cubicBezTo>
                    <a:pt x="1434480" y="751612"/>
                    <a:pt x="1442846" y="747377"/>
                    <a:pt x="1450594" y="749915"/>
                  </a:cubicBezTo>
                  <a:close/>
                  <a:moveTo>
                    <a:pt x="1494617" y="606611"/>
                  </a:moveTo>
                  <a:cubicBezTo>
                    <a:pt x="1502332" y="609100"/>
                    <a:pt x="1506754" y="617188"/>
                    <a:pt x="1504697" y="625032"/>
                  </a:cubicBezTo>
                  <a:cubicBezTo>
                    <a:pt x="1502229" y="632757"/>
                    <a:pt x="1494069" y="637135"/>
                    <a:pt x="1486251" y="634937"/>
                  </a:cubicBezTo>
                  <a:cubicBezTo>
                    <a:pt x="1478400" y="632678"/>
                    <a:pt x="1473909" y="624497"/>
                    <a:pt x="1476137" y="616660"/>
                  </a:cubicBezTo>
                  <a:cubicBezTo>
                    <a:pt x="1478400" y="608822"/>
                    <a:pt x="1486594" y="604300"/>
                    <a:pt x="1494446" y="606559"/>
                  </a:cubicBezTo>
                  <a:cubicBezTo>
                    <a:pt x="1494480" y="606576"/>
                    <a:pt x="1494549" y="606593"/>
                    <a:pt x="1494617" y="606614"/>
                  </a:cubicBezTo>
                  <a:close/>
                  <a:moveTo>
                    <a:pt x="1408594" y="885100"/>
                  </a:moveTo>
                  <a:cubicBezTo>
                    <a:pt x="1416343" y="887455"/>
                    <a:pt x="1420697" y="895636"/>
                    <a:pt x="1418332" y="903371"/>
                  </a:cubicBezTo>
                  <a:cubicBezTo>
                    <a:pt x="1415966" y="911105"/>
                    <a:pt x="1407806" y="915467"/>
                    <a:pt x="1400057" y="913108"/>
                  </a:cubicBezTo>
                  <a:cubicBezTo>
                    <a:pt x="1399920" y="913063"/>
                    <a:pt x="1399749" y="913015"/>
                    <a:pt x="1399611" y="912964"/>
                  </a:cubicBezTo>
                  <a:cubicBezTo>
                    <a:pt x="1391863" y="910653"/>
                    <a:pt x="1387440" y="902496"/>
                    <a:pt x="1389771" y="894751"/>
                  </a:cubicBezTo>
                  <a:cubicBezTo>
                    <a:pt x="1392069" y="887003"/>
                    <a:pt x="1400229" y="882593"/>
                    <a:pt x="1407977" y="884904"/>
                  </a:cubicBezTo>
                  <a:cubicBezTo>
                    <a:pt x="1408183" y="884966"/>
                    <a:pt x="1408389" y="885031"/>
                    <a:pt x="1408594" y="885103"/>
                  </a:cubicBezTo>
                  <a:close/>
                  <a:moveTo>
                    <a:pt x="1185943" y="1602844"/>
                  </a:moveTo>
                  <a:cubicBezTo>
                    <a:pt x="1193760" y="1605295"/>
                    <a:pt x="1198080" y="1613610"/>
                    <a:pt x="1195646" y="1621413"/>
                  </a:cubicBezTo>
                  <a:cubicBezTo>
                    <a:pt x="1193177" y="1629216"/>
                    <a:pt x="1184880" y="1633557"/>
                    <a:pt x="1177063" y="1631105"/>
                  </a:cubicBezTo>
                  <a:cubicBezTo>
                    <a:pt x="1176994" y="1631082"/>
                    <a:pt x="1176892" y="1631054"/>
                    <a:pt x="1176823" y="1631027"/>
                  </a:cubicBezTo>
                  <a:cubicBezTo>
                    <a:pt x="1169074" y="1628373"/>
                    <a:pt x="1164960" y="1619952"/>
                    <a:pt x="1167600" y="1612214"/>
                  </a:cubicBezTo>
                  <a:cubicBezTo>
                    <a:pt x="1170206" y="1604661"/>
                    <a:pt x="1178297" y="1600519"/>
                    <a:pt x="1185943" y="1602847"/>
                  </a:cubicBezTo>
                  <a:close/>
                  <a:moveTo>
                    <a:pt x="1229966" y="1459626"/>
                  </a:moveTo>
                  <a:cubicBezTo>
                    <a:pt x="1237714" y="1462080"/>
                    <a:pt x="1242137" y="1470172"/>
                    <a:pt x="1240080" y="1478020"/>
                  </a:cubicBezTo>
                  <a:cubicBezTo>
                    <a:pt x="1237611" y="1485758"/>
                    <a:pt x="1229451" y="1490136"/>
                    <a:pt x="1221635" y="1487904"/>
                  </a:cubicBezTo>
                  <a:cubicBezTo>
                    <a:pt x="1213817" y="1485607"/>
                    <a:pt x="1209360" y="1477437"/>
                    <a:pt x="1211623" y="1469627"/>
                  </a:cubicBezTo>
                  <a:cubicBezTo>
                    <a:pt x="1213989" y="1461857"/>
                    <a:pt x="1222149" y="1457411"/>
                    <a:pt x="1229966" y="1459629"/>
                  </a:cubicBezTo>
                  <a:close/>
                  <a:moveTo>
                    <a:pt x="1263429" y="1352801"/>
                  </a:moveTo>
                  <a:cubicBezTo>
                    <a:pt x="1255680" y="1350388"/>
                    <a:pt x="1251291" y="1342204"/>
                    <a:pt x="1253589" y="1334417"/>
                  </a:cubicBezTo>
                  <a:cubicBezTo>
                    <a:pt x="1255955" y="1326665"/>
                    <a:pt x="1264149" y="1322294"/>
                    <a:pt x="1271897" y="1324656"/>
                  </a:cubicBezTo>
                  <a:cubicBezTo>
                    <a:pt x="1271931" y="1324663"/>
                    <a:pt x="1271931" y="1324670"/>
                    <a:pt x="1271966" y="1324677"/>
                  </a:cubicBezTo>
                  <a:cubicBezTo>
                    <a:pt x="1279714" y="1327056"/>
                    <a:pt x="1284172" y="1335196"/>
                    <a:pt x="1281977" y="1343013"/>
                  </a:cubicBezTo>
                  <a:cubicBezTo>
                    <a:pt x="1279406" y="1350703"/>
                    <a:pt x="1271246" y="1355013"/>
                    <a:pt x="1263429" y="1352805"/>
                  </a:cubicBezTo>
                  <a:close/>
                  <a:moveTo>
                    <a:pt x="1348046" y="1029960"/>
                  </a:moveTo>
                  <a:cubicBezTo>
                    <a:pt x="1350411" y="1022184"/>
                    <a:pt x="1358571" y="1017737"/>
                    <a:pt x="1366389" y="1019969"/>
                  </a:cubicBezTo>
                  <a:cubicBezTo>
                    <a:pt x="1374240" y="1022232"/>
                    <a:pt x="1378732" y="1030420"/>
                    <a:pt x="1376469" y="1038254"/>
                  </a:cubicBezTo>
                  <a:cubicBezTo>
                    <a:pt x="1374206" y="1046088"/>
                    <a:pt x="1366046" y="1050607"/>
                    <a:pt x="1358194" y="1048344"/>
                  </a:cubicBezTo>
                  <a:cubicBezTo>
                    <a:pt x="1358126" y="1048324"/>
                    <a:pt x="1358057" y="1048303"/>
                    <a:pt x="1357989" y="1048283"/>
                  </a:cubicBezTo>
                  <a:cubicBezTo>
                    <a:pt x="1350206" y="1045931"/>
                    <a:pt x="1345783" y="1037764"/>
                    <a:pt x="1348046" y="1029964"/>
                  </a:cubicBezTo>
                  <a:close/>
                  <a:moveTo>
                    <a:pt x="1305052" y="1217630"/>
                  </a:moveTo>
                  <a:cubicBezTo>
                    <a:pt x="1297303" y="1215103"/>
                    <a:pt x="1293052" y="1206765"/>
                    <a:pt x="1295589" y="1199010"/>
                  </a:cubicBezTo>
                  <a:cubicBezTo>
                    <a:pt x="1298126" y="1191254"/>
                    <a:pt x="1306457" y="1187016"/>
                    <a:pt x="1314206" y="1189543"/>
                  </a:cubicBezTo>
                  <a:cubicBezTo>
                    <a:pt x="1321955" y="1192070"/>
                    <a:pt x="1326206" y="1200408"/>
                    <a:pt x="1323669" y="1208167"/>
                  </a:cubicBezTo>
                  <a:cubicBezTo>
                    <a:pt x="1321132" y="1215923"/>
                    <a:pt x="1312800" y="1220160"/>
                    <a:pt x="1305052" y="1217633"/>
                  </a:cubicBezTo>
                  <a:close/>
                  <a:moveTo>
                    <a:pt x="1434549" y="322752"/>
                  </a:moveTo>
                  <a:cubicBezTo>
                    <a:pt x="1428343" y="320675"/>
                    <a:pt x="1424229" y="314777"/>
                    <a:pt x="1424400" y="308229"/>
                  </a:cubicBezTo>
                  <a:cubicBezTo>
                    <a:pt x="1424537" y="301396"/>
                    <a:pt x="1429406" y="295584"/>
                    <a:pt x="1436126" y="294278"/>
                  </a:cubicBezTo>
                  <a:cubicBezTo>
                    <a:pt x="1437635" y="293935"/>
                    <a:pt x="1439177" y="293688"/>
                    <a:pt x="1440686" y="293400"/>
                  </a:cubicBezTo>
                  <a:cubicBezTo>
                    <a:pt x="1442434" y="293939"/>
                    <a:pt x="1444183" y="294477"/>
                    <a:pt x="1445897" y="295019"/>
                  </a:cubicBezTo>
                  <a:cubicBezTo>
                    <a:pt x="1447063" y="296075"/>
                    <a:pt x="1448263" y="297076"/>
                    <a:pt x="1449394" y="298193"/>
                  </a:cubicBezTo>
                  <a:cubicBezTo>
                    <a:pt x="1454263" y="302976"/>
                    <a:pt x="1455223" y="310454"/>
                    <a:pt x="1451726" y="316310"/>
                  </a:cubicBezTo>
                  <a:cubicBezTo>
                    <a:pt x="1448091" y="322073"/>
                    <a:pt x="1441063" y="324710"/>
                    <a:pt x="1434549" y="322756"/>
                  </a:cubicBezTo>
                  <a:close/>
                  <a:moveTo>
                    <a:pt x="1401463" y="429796"/>
                  </a:moveTo>
                  <a:cubicBezTo>
                    <a:pt x="1409212" y="432062"/>
                    <a:pt x="1413635" y="440177"/>
                    <a:pt x="1411372" y="447919"/>
                  </a:cubicBezTo>
                  <a:cubicBezTo>
                    <a:pt x="1409109" y="455661"/>
                    <a:pt x="1400983" y="460097"/>
                    <a:pt x="1393234" y="457828"/>
                  </a:cubicBezTo>
                  <a:cubicBezTo>
                    <a:pt x="1393132" y="457790"/>
                    <a:pt x="1392994" y="457749"/>
                    <a:pt x="1392857" y="457708"/>
                  </a:cubicBezTo>
                  <a:cubicBezTo>
                    <a:pt x="1385109" y="455489"/>
                    <a:pt x="1380617" y="447405"/>
                    <a:pt x="1382846" y="439649"/>
                  </a:cubicBezTo>
                  <a:cubicBezTo>
                    <a:pt x="1385040" y="431894"/>
                    <a:pt x="1393132" y="427406"/>
                    <a:pt x="1400880" y="429621"/>
                  </a:cubicBezTo>
                  <a:cubicBezTo>
                    <a:pt x="1401086" y="429676"/>
                    <a:pt x="1401257" y="429737"/>
                    <a:pt x="1401463" y="429799"/>
                  </a:cubicBezTo>
                  <a:close/>
                  <a:moveTo>
                    <a:pt x="1008686" y="1696173"/>
                  </a:moveTo>
                  <a:cubicBezTo>
                    <a:pt x="1016332" y="1698655"/>
                    <a:pt x="1020549" y="1706877"/>
                    <a:pt x="1018080" y="1714540"/>
                  </a:cubicBezTo>
                  <a:cubicBezTo>
                    <a:pt x="1015577" y="1722199"/>
                    <a:pt x="1007349" y="1726399"/>
                    <a:pt x="999703" y="1723917"/>
                  </a:cubicBezTo>
                  <a:cubicBezTo>
                    <a:pt x="992091" y="1721455"/>
                    <a:pt x="987874" y="1713326"/>
                    <a:pt x="990275" y="1705698"/>
                  </a:cubicBezTo>
                  <a:cubicBezTo>
                    <a:pt x="992640" y="1698038"/>
                    <a:pt x="1000731" y="1693735"/>
                    <a:pt x="1008411" y="1696084"/>
                  </a:cubicBezTo>
                  <a:cubicBezTo>
                    <a:pt x="1008480" y="1696115"/>
                    <a:pt x="1008583" y="1696146"/>
                    <a:pt x="1008686" y="1696176"/>
                  </a:cubicBezTo>
                  <a:close/>
                  <a:moveTo>
                    <a:pt x="1299874" y="280968"/>
                  </a:moveTo>
                  <a:cubicBezTo>
                    <a:pt x="1293840" y="279131"/>
                    <a:pt x="1289554" y="273737"/>
                    <a:pt x="1289143" y="267429"/>
                  </a:cubicBezTo>
                  <a:cubicBezTo>
                    <a:pt x="1288903" y="260846"/>
                    <a:pt x="1293017" y="254890"/>
                    <a:pt x="1299257" y="252782"/>
                  </a:cubicBezTo>
                  <a:cubicBezTo>
                    <a:pt x="1301143" y="252161"/>
                    <a:pt x="1303097" y="251795"/>
                    <a:pt x="1305017" y="251311"/>
                  </a:cubicBezTo>
                  <a:cubicBezTo>
                    <a:pt x="1307212" y="251997"/>
                    <a:pt x="1309372" y="252658"/>
                    <a:pt x="1311532" y="253334"/>
                  </a:cubicBezTo>
                  <a:cubicBezTo>
                    <a:pt x="1312732" y="254633"/>
                    <a:pt x="1314000" y="255885"/>
                    <a:pt x="1315132" y="257236"/>
                  </a:cubicBezTo>
                  <a:cubicBezTo>
                    <a:pt x="1319383" y="262289"/>
                    <a:pt x="1319760" y="269537"/>
                    <a:pt x="1316057" y="275003"/>
                  </a:cubicBezTo>
                  <a:cubicBezTo>
                    <a:pt x="1312457" y="280200"/>
                    <a:pt x="1305977" y="282587"/>
                    <a:pt x="1299874" y="280972"/>
                  </a:cubicBezTo>
                  <a:close/>
                  <a:moveTo>
                    <a:pt x="729771" y="1640191"/>
                  </a:moveTo>
                  <a:cubicBezTo>
                    <a:pt x="722023" y="1638017"/>
                    <a:pt x="717497" y="1629971"/>
                    <a:pt x="719657" y="1622212"/>
                  </a:cubicBezTo>
                  <a:cubicBezTo>
                    <a:pt x="721817" y="1614456"/>
                    <a:pt x="729874" y="1609931"/>
                    <a:pt x="737623" y="1612101"/>
                  </a:cubicBezTo>
                  <a:cubicBezTo>
                    <a:pt x="737829" y="1612152"/>
                    <a:pt x="738000" y="1612204"/>
                    <a:pt x="738172" y="1612262"/>
                  </a:cubicBezTo>
                  <a:cubicBezTo>
                    <a:pt x="745920" y="1614491"/>
                    <a:pt x="750377" y="1622572"/>
                    <a:pt x="748148" y="1630314"/>
                  </a:cubicBezTo>
                  <a:cubicBezTo>
                    <a:pt x="745920" y="1638055"/>
                    <a:pt x="737829" y="1642523"/>
                    <a:pt x="730115" y="1640294"/>
                  </a:cubicBezTo>
                  <a:cubicBezTo>
                    <a:pt x="729977" y="1640263"/>
                    <a:pt x="729874" y="1640229"/>
                    <a:pt x="729771" y="1640195"/>
                  </a:cubicBezTo>
                  <a:close/>
                  <a:moveTo>
                    <a:pt x="994354" y="787235"/>
                  </a:moveTo>
                  <a:cubicBezTo>
                    <a:pt x="986606" y="784886"/>
                    <a:pt x="982251" y="776712"/>
                    <a:pt x="984617" y="768977"/>
                  </a:cubicBezTo>
                  <a:cubicBezTo>
                    <a:pt x="986949" y="761243"/>
                    <a:pt x="995109" y="756874"/>
                    <a:pt x="1002857" y="759223"/>
                  </a:cubicBezTo>
                  <a:cubicBezTo>
                    <a:pt x="1010640" y="761455"/>
                    <a:pt x="1015132" y="769567"/>
                    <a:pt x="1012869" y="777336"/>
                  </a:cubicBezTo>
                  <a:cubicBezTo>
                    <a:pt x="1010640" y="785109"/>
                    <a:pt x="1002549" y="789597"/>
                    <a:pt x="994766" y="787365"/>
                  </a:cubicBezTo>
                  <a:cubicBezTo>
                    <a:pt x="994629" y="787324"/>
                    <a:pt x="994492" y="787283"/>
                    <a:pt x="994354" y="787238"/>
                  </a:cubicBezTo>
                  <a:close/>
                  <a:moveTo>
                    <a:pt x="1122823" y="373934"/>
                  </a:moveTo>
                  <a:cubicBezTo>
                    <a:pt x="1115040" y="371805"/>
                    <a:pt x="1110446" y="363768"/>
                    <a:pt x="1112571" y="355982"/>
                  </a:cubicBezTo>
                  <a:cubicBezTo>
                    <a:pt x="1114732" y="348199"/>
                    <a:pt x="1122754" y="343615"/>
                    <a:pt x="1130537" y="345744"/>
                  </a:cubicBezTo>
                  <a:cubicBezTo>
                    <a:pt x="1130640" y="345775"/>
                    <a:pt x="1130777" y="345809"/>
                    <a:pt x="1130880" y="345844"/>
                  </a:cubicBezTo>
                  <a:cubicBezTo>
                    <a:pt x="1138629" y="348069"/>
                    <a:pt x="1143120" y="356160"/>
                    <a:pt x="1140892" y="363919"/>
                  </a:cubicBezTo>
                  <a:cubicBezTo>
                    <a:pt x="1138663" y="371678"/>
                    <a:pt x="1130571" y="376163"/>
                    <a:pt x="1122823" y="373937"/>
                  </a:cubicBezTo>
                  <a:close/>
                  <a:moveTo>
                    <a:pt x="1163966" y="238817"/>
                  </a:moveTo>
                  <a:cubicBezTo>
                    <a:pt x="1157520" y="236555"/>
                    <a:pt x="1153475" y="230205"/>
                    <a:pt x="1154091" y="223416"/>
                  </a:cubicBezTo>
                  <a:cubicBezTo>
                    <a:pt x="1154674" y="216871"/>
                    <a:pt x="1159543" y="211526"/>
                    <a:pt x="1166023" y="210357"/>
                  </a:cubicBezTo>
                  <a:cubicBezTo>
                    <a:pt x="1167566" y="210059"/>
                    <a:pt x="1169109" y="209867"/>
                    <a:pt x="1170652" y="209630"/>
                  </a:cubicBezTo>
                  <a:cubicBezTo>
                    <a:pt x="1172400" y="210168"/>
                    <a:pt x="1174149" y="210707"/>
                    <a:pt x="1175863" y="211248"/>
                  </a:cubicBezTo>
                  <a:cubicBezTo>
                    <a:pt x="1177132" y="212500"/>
                    <a:pt x="1178469" y="213689"/>
                    <a:pt x="1179669" y="215020"/>
                  </a:cubicBezTo>
                  <a:cubicBezTo>
                    <a:pt x="1184091" y="219861"/>
                    <a:pt x="1184743" y="227078"/>
                    <a:pt x="1181212" y="232618"/>
                  </a:cubicBezTo>
                  <a:cubicBezTo>
                    <a:pt x="1177543" y="238385"/>
                    <a:pt x="1170446" y="240940"/>
                    <a:pt x="1163966" y="238821"/>
                  </a:cubicBezTo>
                  <a:close/>
                  <a:moveTo>
                    <a:pt x="1089120" y="480813"/>
                  </a:moveTo>
                  <a:cubicBezTo>
                    <a:pt x="1096869" y="483275"/>
                    <a:pt x="1101291" y="491387"/>
                    <a:pt x="1099166" y="499221"/>
                  </a:cubicBezTo>
                  <a:cubicBezTo>
                    <a:pt x="1096732" y="506962"/>
                    <a:pt x="1088571" y="511358"/>
                    <a:pt x="1080754" y="509143"/>
                  </a:cubicBezTo>
                  <a:cubicBezTo>
                    <a:pt x="1072903" y="506966"/>
                    <a:pt x="1068275" y="498827"/>
                    <a:pt x="1070469" y="490965"/>
                  </a:cubicBezTo>
                  <a:cubicBezTo>
                    <a:pt x="1072629" y="483103"/>
                    <a:pt x="1080789" y="478498"/>
                    <a:pt x="1088640" y="480676"/>
                  </a:cubicBezTo>
                  <a:cubicBezTo>
                    <a:pt x="1088812" y="480720"/>
                    <a:pt x="1088949" y="480768"/>
                    <a:pt x="1089120" y="480816"/>
                  </a:cubicBezTo>
                  <a:close/>
                  <a:moveTo>
                    <a:pt x="1045166" y="624127"/>
                  </a:moveTo>
                  <a:cubicBezTo>
                    <a:pt x="1052914" y="626699"/>
                    <a:pt x="1057097" y="635064"/>
                    <a:pt x="1054526" y="642813"/>
                  </a:cubicBezTo>
                  <a:cubicBezTo>
                    <a:pt x="1051955" y="650558"/>
                    <a:pt x="1043589" y="654755"/>
                    <a:pt x="1035840" y="652183"/>
                  </a:cubicBezTo>
                  <a:cubicBezTo>
                    <a:pt x="1028091" y="649608"/>
                    <a:pt x="1023909" y="641246"/>
                    <a:pt x="1026480" y="633497"/>
                  </a:cubicBezTo>
                  <a:cubicBezTo>
                    <a:pt x="1029120" y="625793"/>
                    <a:pt x="1037417" y="621624"/>
                    <a:pt x="1045166" y="624134"/>
                  </a:cubicBezTo>
                  <a:close/>
                  <a:moveTo>
                    <a:pt x="952012" y="922330"/>
                  </a:moveTo>
                  <a:cubicBezTo>
                    <a:pt x="944229" y="919852"/>
                    <a:pt x="939943" y="911544"/>
                    <a:pt x="942446" y="903775"/>
                  </a:cubicBezTo>
                  <a:cubicBezTo>
                    <a:pt x="944914" y="896010"/>
                    <a:pt x="953212" y="891724"/>
                    <a:pt x="960994" y="894203"/>
                  </a:cubicBezTo>
                  <a:cubicBezTo>
                    <a:pt x="961132" y="894244"/>
                    <a:pt x="961234" y="894285"/>
                    <a:pt x="961372" y="894329"/>
                  </a:cubicBezTo>
                  <a:cubicBezTo>
                    <a:pt x="969120" y="896915"/>
                    <a:pt x="973269" y="905280"/>
                    <a:pt x="970697" y="913012"/>
                  </a:cubicBezTo>
                  <a:cubicBezTo>
                    <a:pt x="968126" y="920747"/>
                    <a:pt x="959760" y="924923"/>
                    <a:pt x="952012" y="922337"/>
                  </a:cubicBezTo>
                  <a:close/>
                  <a:moveTo>
                    <a:pt x="899554" y="1091829"/>
                  </a:moveTo>
                  <a:cubicBezTo>
                    <a:pt x="891771" y="1089408"/>
                    <a:pt x="887417" y="1081132"/>
                    <a:pt x="889817" y="1073342"/>
                  </a:cubicBezTo>
                  <a:cubicBezTo>
                    <a:pt x="892251" y="1065549"/>
                    <a:pt x="900549" y="1061198"/>
                    <a:pt x="908332" y="1063619"/>
                  </a:cubicBezTo>
                  <a:cubicBezTo>
                    <a:pt x="908434" y="1063660"/>
                    <a:pt x="908571" y="1063701"/>
                    <a:pt x="908709" y="1063745"/>
                  </a:cubicBezTo>
                  <a:cubicBezTo>
                    <a:pt x="916457" y="1066272"/>
                    <a:pt x="920709" y="1074611"/>
                    <a:pt x="918172" y="1082369"/>
                  </a:cubicBezTo>
                  <a:cubicBezTo>
                    <a:pt x="915635" y="1090125"/>
                    <a:pt x="907303" y="1094363"/>
                    <a:pt x="899554" y="1091836"/>
                  </a:cubicBezTo>
                  <a:close/>
                  <a:moveTo>
                    <a:pt x="866709" y="1198955"/>
                  </a:moveTo>
                  <a:cubicBezTo>
                    <a:pt x="874423" y="1201461"/>
                    <a:pt x="878709" y="1209683"/>
                    <a:pt x="876343" y="1217441"/>
                  </a:cubicBezTo>
                  <a:cubicBezTo>
                    <a:pt x="873669" y="1225091"/>
                    <a:pt x="865440" y="1229273"/>
                    <a:pt x="857692" y="1226922"/>
                  </a:cubicBezTo>
                  <a:cubicBezTo>
                    <a:pt x="849943" y="1224569"/>
                    <a:pt x="845520" y="1216372"/>
                    <a:pt x="847886" y="1208603"/>
                  </a:cubicBezTo>
                  <a:cubicBezTo>
                    <a:pt x="850251" y="1200837"/>
                    <a:pt x="858446" y="1196448"/>
                    <a:pt x="866194" y="1198800"/>
                  </a:cubicBezTo>
                  <a:cubicBezTo>
                    <a:pt x="866366" y="1198848"/>
                    <a:pt x="866537" y="1198903"/>
                    <a:pt x="866709" y="1198961"/>
                  </a:cubicBezTo>
                  <a:close/>
                  <a:moveTo>
                    <a:pt x="806194" y="1343640"/>
                  </a:moveTo>
                  <a:cubicBezTo>
                    <a:pt x="808663" y="1335899"/>
                    <a:pt x="816857" y="1331551"/>
                    <a:pt x="824640" y="1333872"/>
                  </a:cubicBezTo>
                  <a:cubicBezTo>
                    <a:pt x="832354" y="1336413"/>
                    <a:pt x="836674" y="1344576"/>
                    <a:pt x="834480" y="1352387"/>
                  </a:cubicBezTo>
                  <a:cubicBezTo>
                    <a:pt x="831977" y="1360108"/>
                    <a:pt x="823749" y="1364404"/>
                    <a:pt x="815966" y="1362052"/>
                  </a:cubicBezTo>
                  <a:cubicBezTo>
                    <a:pt x="808183" y="1359665"/>
                    <a:pt x="803829" y="1351430"/>
                    <a:pt x="806194" y="1343651"/>
                  </a:cubicBezTo>
                  <a:close/>
                  <a:moveTo>
                    <a:pt x="771429" y="1505256"/>
                  </a:moveTo>
                  <a:cubicBezTo>
                    <a:pt x="763611" y="1502795"/>
                    <a:pt x="759291" y="1494473"/>
                    <a:pt x="761760" y="1486673"/>
                  </a:cubicBezTo>
                  <a:cubicBezTo>
                    <a:pt x="764229" y="1478873"/>
                    <a:pt x="772526" y="1474543"/>
                    <a:pt x="780343" y="1477005"/>
                  </a:cubicBezTo>
                  <a:cubicBezTo>
                    <a:pt x="788160" y="1479467"/>
                    <a:pt x="792480" y="1487788"/>
                    <a:pt x="790012" y="1495595"/>
                  </a:cubicBezTo>
                  <a:cubicBezTo>
                    <a:pt x="787543" y="1503398"/>
                    <a:pt x="779246" y="1507728"/>
                    <a:pt x="771429" y="1505267"/>
                  </a:cubicBezTo>
                  <a:close/>
                  <a:moveTo>
                    <a:pt x="1028709" y="196835"/>
                  </a:moveTo>
                  <a:cubicBezTo>
                    <a:pt x="1022777" y="194644"/>
                    <a:pt x="1018834" y="188993"/>
                    <a:pt x="1018834" y="182675"/>
                  </a:cubicBezTo>
                  <a:cubicBezTo>
                    <a:pt x="1018903" y="175814"/>
                    <a:pt x="1023737" y="169927"/>
                    <a:pt x="1030457" y="168508"/>
                  </a:cubicBezTo>
                  <a:cubicBezTo>
                    <a:pt x="1031966" y="168165"/>
                    <a:pt x="1033475" y="167856"/>
                    <a:pt x="1034983" y="167534"/>
                  </a:cubicBezTo>
                  <a:lnTo>
                    <a:pt x="1041532" y="169557"/>
                  </a:lnTo>
                  <a:cubicBezTo>
                    <a:pt x="1042526" y="170716"/>
                    <a:pt x="1043486" y="171875"/>
                    <a:pt x="1044480" y="173030"/>
                  </a:cubicBezTo>
                  <a:cubicBezTo>
                    <a:pt x="1049074" y="178115"/>
                    <a:pt x="1049554" y="185685"/>
                    <a:pt x="1045646" y="191308"/>
                  </a:cubicBezTo>
                  <a:cubicBezTo>
                    <a:pt x="1041806" y="196646"/>
                    <a:pt x="1034949" y="198888"/>
                    <a:pt x="1028709" y="196845"/>
                  </a:cubicBezTo>
                  <a:close/>
                  <a:moveTo>
                    <a:pt x="724012" y="703368"/>
                  </a:moveTo>
                  <a:cubicBezTo>
                    <a:pt x="716263" y="701123"/>
                    <a:pt x="711771" y="693011"/>
                    <a:pt x="714034" y="685245"/>
                  </a:cubicBezTo>
                  <a:cubicBezTo>
                    <a:pt x="716263" y="677483"/>
                    <a:pt x="724389" y="673008"/>
                    <a:pt x="732137" y="675254"/>
                  </a:cubicBezTo>
                  <a:cubicBezTo>
                    <a:pt x="732275" y="675288"/>
                    <a:pt x="732377" y="675326"/>
                    <a:pt x="732514" y="675367"/>
                  </a:cubicBezTo>
                  <a:cubicBezTo>
                    <a:pt x="740263" y="677613"/>
                    <a:pt x="744754" y="685725"/>
                    <a:pt x="742492" y="693490"/>
                  </a:cubicBezTo>
                  <a:cubicBezTo>
                    <a:pt x="740263" y="701253"/>
                    <a:pt x="732137" y="705727"/>
                    <a:pt x="724389" y="703481"/>
                  </a:cubicBezTo>
                  <a:cubicBezTo>
                    <a:pt x="724251" y="703447"/>
                    <a:pt x="724148" y="703409"/>
                    <a:pt x="724012" y="703368"/>
                  </a:cubicBezTo>
                  <a:close/>
                  <a:moveTo>
                    <a:pt x="800469" y="406848"/>
                  </a:moveTo>
                  <a:cubicBezTo>
                    <a:pt x="802903" y="399100"/>
                    <a:pt x="811097" y="394718"/>
                    <a:pt x="818880" y="396984"/>
                  </a:cubicBezTo>
                  <a:cubicBezTo>
                    <a:pt x="826629" y="399480"/>
                    <a:pt x="830983" y="407657"/>
                    <a:pt x="828754" y="415475"/>
                  </a:cubicBezTo>
                  <a:cubicBezTo>
                    <a:pt x="826286" y="423213"/>
                    <a:pt x="818057" y="427550"/>
                    <a:pt x="810275" y="425243"/>
                  </a:cubicBezTo>
                  <a:cubicBezTo>
                    <a:pt x="802492" y="422849"/>
                    <a:pt x="798137" y="414631"/>
                    <a:pt x="800469" y="406848"/>
                  </a:cubicBezTo>
                  <a:close/>
                  <a:moveTo>
                    <a:pt x="765909" y="568451"/>
                  </a:moveTo>
                  <a:cubicBezTo>
                    <a:pt x="758091" y="566088"/>
                    <a:pt x="753669" y="557839"/>
                    <a:pt x="756034" y="550025"/>
                  </a:cubicBezTo>
                  <a:cubicBezTo>
                    <a:pt x="758400" y="542212"/>
                    <a:pt x="766663" y="537792"/>
                    <a:pt x="774446" y="540155"/>
                  </a:cubicBezTo>
                  <a:cubicBezTo>
                    <a:pt x="782263" y="542507"/>
                    <a:pt x="786686" y="550711"/>
                    <a:pt x="784354" y="558508"/>
                  </a:cubicBezTo>
                  <a:cubicBezTo>
                    <a:pt x="781920" y="566291"/>
                    <a:pt x="773726" y="570707"/>
                    <a:pt x="765909" y="568451"/>
                  </a:cubicBezTo>
                  <a:close/>
                  <a:moveTo>
                    <a:pt x="852034" y="289931"/>
                  </a:moveTo>
                  <a:cubicBezTo>
                    <a:pt x="844320" y="287541"/>
                    <a:pt x="840034" y="279353"/>
                    <a:pt x="842400" y="271649"/>
                  </a:cubicBezTo>
                  <a:cubicBezTo>
                    <a:pt x="844800" y="263942"/>
                    <a:pt x="852994" y="259632"/>
                    <a:pt x="860709" y="262025"/>
                  </a:cubicBezTo>
                  <a:cubicBezTo>
                    <a:pt x="860777" y="262056"/>
                    <a:pt x="860880" y="262087"/>
                    <a:pt x="860983" y="262118"/>
                  </a:cubicBezTo>
                  <a:cubicBezTo>
                    <a:pt x="868697" y="264508"/>
                    <a:pt x="872983" y="272695"/>
                    <a:pt x="870617" y="280399"/>
                  </a:cubicBezTo>
                  <a:cubicBezTo>
                    <a:pt x="868217" y="288107"/>
                    <a:pt x="860023" y="292416"/>
                    <a:pt x="852308" y="290023"/>
                  </a:cubicBezTo>
                  <a:cubicBezTo>
                    <a:pt x="852240" y="289992"/>
                    <a:pt x="852137" y="289961"/>
                    <a:pt x="852034" y="289931"/>
                  </a:cubicBezTo>
                  <a:close/>
                  <a:moveTo>
                    <a:pt x="894549" y="155219"/>
                  </a:moveTo>
                  <a:cubicBezTo>
                    <a:pt x="888206" y="153419"/>
                    <a:pt x="883783" y="147693"/>
                    <a:pt x="883646" y="141103"/>
                  </a:cubicBezTo>
                  <a:cubicBezTo>
                    <a:pt x="883577" y="134760"/>
                    <a:pt x="887589" y="129093"/>
                    <a:pt x="893589" y="127022"/>
                  </a:cubicBezTo>
                  <a:cubicBezTo>
                    <a:pt x="895475" y="126388"/>
                    <a:pt x="897429" y="125973"/>
                    <a:pt x="899314" y="125455"/>
                  </a:cubicBezTo>
                  <a:cubicBezTo>
                    <a:pt x="901509" y="126141"/>
                    <a:pt x="903669" y="126806"/>
                    <a:pt x="905863" y="127481"/>
                  </a:cubicBezTo>
                  <a:cubicBezTo>
                    <a:pt x="907063" y="128760"/>
                    <a:pt x="908366" y="129991"/>
                    <a:pt x="909532" y="131335"/>
                  </a:cubicBezTo>
                  <a:cubicBezTo>
                    <a:pt x="913714" y="136108"/>
                    <a:pt x="914297" y="143037"/>
                    <a:pt x="911006" y="148454"/>
                  </a:cubicBezTo>
                  <a:cubicBezTo>
                    <a:pt x="907646" y="154125"/>
                    <a:pt x="900926" y="156881"/>
                    <a:pt x="894549" y="155219"/>
                  </a:cubicBezTo>
                  <a:close/>
                  <a:moveTo>
                    <a:pt x="758674" y="113078"/>
                  </a:moveTo>
                  <a:cubicBezTo>
                    <a:pt x="752469" y="110976"/>
                    <a:pt x="748354" y="105055"/>
                    <a:pt x="748594" y="98503"/>
                  </a:cubicBezTo>
                  <a:cubicBezTo>
                    <a:pt x="748766" y="91670"/>
                    <a:pt x="753669" y="85879"/>
                    <a:pt x="760389" y="84611"/>
                  </a:cubicBezTo>
                  <a:cubicBezTo>
                    <a:pt x="761897" y="84268"/>
                    <a:pt x="763440" y="84052"/>
                    <a:pt x="764949" y="83774"/>
                  </a:cubicBezTo>
                  <a:lnTo>
                    <a:pt x="770194" y="85392"/>
                  </a:lnTo>
                  <a:cubicBezTo>
                    <a:pt x="771326" y="86459"/>
                    <a:pt x="772526" y="87480"/>
                    <a:pt x="773623" y="88595"/>
                  </a:cubicBezTo>
                  <a:cubicBezTo>
                    <a:pt x="778457" y="93391"/>
                    <a:pt x="779383" y="100886"/>
                    <a:pt x="775817" y="106697"/>
                  </a:cubicBezTo>
                  <a:cubicBezTo>
                    <a:pt x="772217" y="112461"/>
                    <a:pt x="765189" y="115080"/>
                    <a:pt x="758674" y="113078"/>
                  </a:cubicBezTo>
                  <a:close/>
                  <a:moveTo>
                    <a:pt x="725554" y="220108"/>
                  </a:moveTo>
                  <a:cubicBezTo>
                    <a:pt x="733269" y="222491"/>
                    <a:pt x="737589" y="230668"/>
                    <a:pt x="735189" y="238379"/>
                  </a:cubicBezTo>
                  <a:cubicBezTo>
                    <a:pt x="732823" y="246086"/>
                    <a:pt x="724629" y="250406"/>
                    <a:pt x="716914" y="248023"/>
                  </a:cubicBezTo>
                  <a:cubicBezTo>
                    <a:pt x="709269" y="245657"/>
                    <a:pt x="704949" y="237559"/>
                    <a:pt x="707246" y="229879"/>
                  </a:cubicBezTo>
                  <a:cubicBezTo>
                    <a:pt x="709577" y="222141"/>
                    <a:pt x="717737" y="217756"/>
                    <a:pt x="725451" y="220080"/>
                  </a:cubicBezTo>
                  <a:cubicBezTo>
                    <a:pt x="725486" y="220091"/>
                    <a:pt x="725520" y="220097"/>
                    <a:pt x="725554" y="220108"/>
                  </a:cubicBezTo>
                  <a:close/>
                  <a:moveTo>
                    <a:pt x="332777" y="1486495"/>
                  </a:moveTo>
                  <a:cubicBezTo>
                    <a:pt x="340457" y="1488943"/>
                    <a:pt x="344674" y="1497148"/>
                    <a:pt x="342240" y="1504821"/>
                  </a:cubicBezTo>
                  <a:cubicBezTo>
                    <a:pt x="339771" y="1512491"/>
                    <a:pt x="331577" y="1516725"/>
                    <a:pt x="323897" y="1514277"/>
                  </a:cubicBezTo>
                  <a:cubicBezTo>
                    <a:pt x="316286" y="1511850"/>
                    <a:pt x="312069" y="1503755"/>
                    <a:pt x="314400" y="1496119"/>
                  </a:cubicBezTo>
                  <a:cubicBezTo>
                    <a:pt x="316731" y="1488425"/>
                    <a:pt x="324891" y="1484088"/>
                    <a:pt x="332571" y="1486433"/>
                  </a:cubicBezTo>
                  <a:cubicBezTo>
                    <a:pt x="332640" y="1486454"/>
                    <a:pt x="332709" y="1486475"/>
                    <a:pt x="332777" y="1486495"/>
                  </a:cubicBezTo>
                  <a:close/>
                  <a:moveTo>
                    <a:pt x="624000" y="71301"/>
                  </a:moveTo>
                  <a:cubicBezTo>
                    <a:pt x="617726" y="69364"/>
                    <a:pt x="613406" y="63600"/>
                    <a:pt x="613337" y="57031"/>
                  </a:cubicBezTo>
                  <a:cubicBezTo>
                    <a:pt x="613372" y="50181"/>
                    <a:pt x="618137" y="44263"/>
                    <a:pt x="624823" y="42761"/>
                  </a:cubicBezTo>
                  <a:cubicBezTo>
                    <a:pt x="626297" y="42388"/>
                    <a:pt x="627806" y="42045"/>
                    <a:pt x="629280" y="41685"/>
                  </a:cubicBezTo>
                  <a:cubicBezTo>
                    <a:pt x="631475" y="42371"/>
                    <a:pt x="633635" y="43036"/>
                    <a:pt x="635829" y="43711"/>
                  </a:cubicBezTo>
                  <a:cubicBezTo>
                    <a:pt x="636857" y="44849"/>
                    <a:pt x="637886" y="45984"/>
                    <a:pt x="638880" y="47140"/>
                  </a:cubicBezTo>
                  <a:cubicBezTo>
                    <a:pt x="643509" y="52180"/>
                    <a:pt x="644057" y="59747"/>
                    <a:pt x="640217" y="65407"/>
                  </a:cubicBezTo>
                  <a:cubicBezTo>
                    <a:pt x="636583" y="70574"/>
                    <a:pt x="630103" y="72926"/>
                    <a:pt x="624000" y="71301"/>
                  </a:cubicBezTo>
                  <a:close/>
                  <a:moveTo>
                    <a:pt x="185692" y="1017909"/>
                  </a:moveTo>
                  <a:cubicBezTo>
                    <a:pt x="178903" y="1017590"/>
                    <a:pt x="173212" y="1012663"/>
                    <a:pt x="171909" y="1005984"/>
                  </a:cubicBezTo>
                  <a:cubicBezTo>
                    <a:pt x="171463" y="1004051"/>
                    <a:pt x="170846" y="1002155"/>
                    <a:pt x="170332" y="1000242"/>
                  </a:cubicBezTo>
                  <a:cubicBezTo>
                    <a:pt x="170743" y="998939"/>
                    <a:pt x="171154" y="997632"/>
                    <a:pt x="171532" y="996329"/>
                  </a:cubicBezTo>
                  <a:cubicBezTo>
                    <a:pt x="173074" y="995105"/>
                    <a:pt x="174686" y="993957"/>
                    <a:pt x="176160" y="992647"/>
                  </a:cubicBezTo>
                  <a:cubicBezTo>
                    <a:pt x="181097" y="987971"/>
                    <a:pt x="188571" y="987213"/>
                    <a:pt x="194332" y="990802"/>
                  </a:cubicBezTo>
                  <a:cubicBezTo>
                    <a:pt x="199749" y="994430"/>
                    <a:pt x="202320" y="1001095"/>
                    <a:pt x="200674" y="1007421"/>
                  </a:cubicBezTo>
                  <a:cubicBezTo>
                    <a:pt x="198617" y="1013894"/>
                    <a:pt x="192480" y="1018190"/>
                    <a:pt x="185692" y="1017909"/>
                  </a:cubicBezTo>
                  <a:close/>
                  <a:moveTo>
                    <a:pt x="408720" y="300134"/>
                  </a:moveTo>
                  <a:cubicBezTo>
                    <a:pt x="401931" y="299890"/>
                    <a:pt x="396137" y="295084"/>
                    <a:pt x="394663" y="288443"/>
                  </a:cubicBezTo>
                  <a:cubicBezTo>
                    <a:pt x="394217" y="286560"/>
                    <a:pt x="393463" y="284743"/>
                    <a:pt x="392880" y="282895"/>
                  </a:cubicBezTo>
                  <a:cubicBezTo>
                    <a:pt x="393291" y="281589"/>
                    <a:pt x="393669" y="280286"/>
                    <a:pt x="394080" y="278983"/>
                  </a:cubicBezTo>
                  <a:cubicBezTo>
                    <a:pt x="395589" y="277660"/>
                    <a:pt x="397132" y="276381"/>
                    <a:pt x="398606" y="275009"/>
                  </a:cubicBezTo>
                  <a:cubicBezTo>
                    <a:pt x="403372" y="270131"/>
                    <a:pt x="410880" y="269212"/>
                    <a:pt x="416674" y="272805"/>
                  </a:cubicBezTo>
                  <a:cubicBezTo>
                    <a:pt x="422468" y="276336"/>
                    <a:pt x="425212" y="283327"/>
                    <a:pt x="423291" y="289852"/>
                  </a:cubicBezTo>
                  <a:cubicBezTo>
                    <a:pt x="421097" y="296016"/>
                    <a:pt x="415269" y="300134"/>
                    <a:pt x="408720" y="300134"/>
                  </a:cubicBezTo>
                  <a:close/>
                  <a:moveTo>
                    <a:pt x="451029" y="164973"/>
                  </a:moveTo>
                  <a:cubicBezTo>
                    <a:pt x="443966" y="164949"/>
                    <a:pt x="437897" y="159936"/>
                    <a:pt x="436526" y="153000"/>
                  </a:cubicBezTo>
                  <a:cubicBezTo>
                    <a:pt x="436080" y="151067"/>
                    <a:pt x="435463" y="149167"/>
                    <a:pt x="434949" y="147251"/>
                  </a:cubicBezTo>
                  <a:lnTo>
                    <a:pt x="436183" y="143339"/>
                  </a:lnTo>
                  <a:cubicBezTo>
                    <a:pt x="437692" y="142115"/>
                    <a:pt x="439303" y="140966"/>
                    <a:pt x="440743" y="139656"/>
                  </a:cubicBezTo>
                  <a:cubicBezTo>
                    <a:pt x="445680" y="134973"/>
                    <a:pt x="453154" y="134205"/>
                    <a:pt x="458949" y="137784"/>
                  </a:cubicBezTo>
                  <a:cubicBezTo>
                    <a:pt x="465840" y="142070"/>
                    <a:pt x="467966" y="151135"/>
                    <a:pt x="463680" y="158030"/>
                  </a:cubicBezTo>
                  <a:cubicBezTo>
                    <a:pt x="460972" y="162398"/>
                    <a:pt x="456172" y="165028"/>
                    <a:pt x="451029" y="164973"/>
                  </a:cubicBezTo>
                  <a:close/>
                  <a:moveTo>
                    <a:pt x="491280" y="29863"/>
                  </a:moveTo>
                  <a:cubicBezTo>
                    <a:pt x="485246" y="29119"/>
                    <a:pt x="480240" y="24765"/>
                    <a:pt x="478697" y="18868"/>
                  </a:cubicBezTo>
                  <a:cubicBezTo>
                    <a:pt x="478080" y="16468"/>
                    <a:pt x="477600" y="14030"/>
                    <a:pt x="477017" y="11606"/>
                  </a:cubicBezTo>
                  <a:lnTo>
                    <a:pt x="477840" y="8997"/>
                  </a:lnTo>
                  <a:cubicBezTo>
                    <a:pt x="482674" y="4354"/>
                    <a:pt x="487577" y="-147"/>
                    <a:pt x="494949" y="4"/>
                  </a:cubicBezTo>
                  <a:cubicBezTo>
                    <a:pt x="496663" y="542"/>
                    <a:pt x="498411" y="1084"/>
                    <a:pt x="500160" y="1622"/>
                  </a:cubicBezTo>
                  <a:cubicBezTo>
                    <a:pt x="501429" y="2884"/>
                    <a:pt x="502731" y="4090"/>
                    <a:pt x="503931" y="5421"/>
                  </a:cubicBezTo>
                  <a:cubicBezTo>
                    <a:pt x="507806" y="9796"/>
                    <a:pt x="508766" y="16025"/>
                    <a:pt x="506366" y="21353"/>
                  </a:cubicBezTo>
                  <a:cubicBezTo>
                    <a:pt x="503589" y="27045"/>
                    <a:pt x="497589" y="30432"/>
                    <a:pt x="491280" y="29863"/>
                  </a:cubicBezTo>
                  <a:close/>
                  <a:moveTo>
                    <a:pt x="372720" y="416133"/>
                  </a:moveTo>
                  <a:cubicBezTo>
                    <a:pt x="379577" y="420446"/>
                    <a:pt x="381635" y="429491"/>
                    <a:pt x="377314" y="436337"/>
                  </a:cubicBezTo>
                  <a:cubicBezTo>
                    <a:pt x="374400" y="440952"/>
                    <a:pt x="369189" y="443572"/>
                    <a:pt x="363737" y="443133"/>
                  </a:cubicBezTo>
                  <a:cubicBezTo>
                    <a:pt x="357154" y="442766"/>
                    <a:pt x="351669" y="438045"/>
                    <a:pt x="350297" y="431609"/>
                  </a:cubicBezTo>
                  <a:lnTo>
                    <a:pt x="348754" y="425061"/>
                  </a:lnTo>
                  <a:lnTo>
                    <a:pt x="349577" y="422452"/>
                  </a:lnTo>
                  <a:cubicBezTo>
                    <a:pt x="351223" y="420916"/>
                    <a:pt x="352869" y="419366"/>
                    <a:pt x="354514" y="417844"/>
                  </a:cubicBezTo>
                  <a:cubicBezTo>
                    <a:pt x="359451" y="413099"/>
                    <a:pt x="366994" y="412389"/>
                    <a:pt x="372720" y="416133"/>
                  </a:cubicBezTo>
                  <a:close/>
                  <a:moveTo>
                    <a:pt x="330617" y="551150"/>
                  </a:moveTo>
                  <a:cubicBezTo>
                    <a:pt x="337474" y="555497"/>
                    <a:pt x="339532" y="564590"/>
                    <a:pt x="335177" y="571461"/>
                  </a:cubicBezTo>
                  <a:cubicBezTo>
                    <a:pt x="330857" y="578335"/>
                    <a:pt x="321737" y="580382"/>
                    <a:pt x="314880" y="576034"/>
                  </a:cubicBezTo>
                  <a:cubicBezTo>
                    <a:pt x="311451" y="573868"/>
                    <a:pt x="309086" y="570388"/>
                    <a:pt x="308297" y="566410"/>
                  </a:cubicBezTo>
                  <a:cubicBezTo>
                    <a:pt x="307852" y="564487"/>
                    <a:pt x="307234" y="562605"/>
                    <a:pt x="306686" y="560702"/>
                  </a:cubicBezTo>
                  <a:cubicBezTo>
                    <a:pt x="307097" y="559399"/>
                    <a:pt x="307509" y="558096"/>
                    <a:pt x="307886" y="556790"/>
                  </a:cubicBezTo>
                  <a:cubicBezTo>
                    <a:pt x="309429" y="555546"/>
                    <a:pt x="311006" y="554369"/>
                    <a:pt x="312480" y="553046"/>
                  </a:cubicBezTo>
                  <a:cubicBezTo>
                    <a:pt x="317383" y="548338"/>
                    <a:pt x="324857" y="547557"/>
                    <a:pt x="330617" y="551150"/>
                  </a:cubicBezTo>
                  <a:close/>
                  <a:moveTo>
                    <a:pt x="288411" y="686054"/>
                  </a:moveTo>
                  <a:cubicBezTo>
                    <a:pt x="295406" y="690113"/>
                    <a:pt x="297806" y="699086"/>
                    <a:pt x="293760" y="706097"/>
                  </a:cubicBezTo>
                  <a:cubicBezTo>
                    <a:pt x="291051" y="710771"/>
                    <a:pt x="285977" y="713579"/>
                    <a:pt x="280594" y="713407"/>
                  </a:cubicBezTo>
                  <a:cubicBezTo>
                    <a:pt x="273771" y="713311"/>
                    <a:pt x="267909" y="708518"/>
                    <a:pt x="266468" y="701850"/>
                  </a:cubicBezTo>
                  <a:cubicBezTo>
                    <a:pt x="265989" y="699981"/>
                    <a:pt x="265234" y="698181"/>
                    <a:pt x="264617" y="696347"/>
                  </a:cubicBezTo>
                  <a:cubicBezTo>
                    <a:pt x="265029" y="695044"/>
                    <a:pt x="265406" y="693737"/>
                    <a:pt x="265817" y="692435"/>
                  </a:cubicBezTo>
                  <a:cubicBezTo>
                    <a:pt x="267326" y="691097"/>
                    <a:pt x="268869" y="689801"/>
                    <a:pt x="270308" y="688416"/>
                  </a:cubicBezTo>
                  <a:cubicBezTo>
                    <a:pt x="275074" y="683517"/>
                    <a:pt x="282549" y="682540"/>
                    <a:pt x="288411" y="686054"/>
                  </a:cubicBezTo>
                  <a:close/>
                  <a:moveTo>
                    <a:pt x="236366" y="855868"/>
                  </a:moveTo>
                  <a:cubicBezTo>
                    <a:pt x="243189" y="860201"/>
                    <a:pt x="245212" y="869246"/>
                    <a:pt x="240891" y="876072"/>
                  </a:cubicBezTo>
                  <a:cubicBezTo>
                    <a:pt x="238080" y="880471"/>
                    <a:pt x="233177" y="883056"/>
                    <a:pt x="227966" y="882857"/>
                  </a:cubicBezTo>
                  <a:cubicBezTo>
                    <a:pt x="221143" y="882741"/>
                    <a:pt x="215280" y="877896"/>
                    <a:pt x="213909" y="871200"/>
                  </a:cubicBezTo>
                  <a:cubicBezTo>
                    <a:pt x="213394" y="869010"/>
                    <a:pt x="212914" y="866808"/>
                    <a:pt x="212400" y="864614"/>
                  </a:cubicBezTo>
                  <a:lnTo>
                    <a:pt x="213223" y="862005"/>
                  </a:lnTo>
                  <a:cubicBezTo>
                    <a:pt x="214869" y="860486"/>
                    <a:pt x="216514" y="858960"/>
                    <a:pt x="218194" y="857448"/>
                  </a:cubicBezTo>
                  <a:cubicBezTo>
                    <a:pt x="223132" y="852707"/>
                    <a:pt x="230709" y="852048"/>
                    <a:pt x="236366" y="855868"/>
                  </a:cubicBezTo>
                  <a:close/>
                  <a:moveTo>
                    <a:pt x="152057" y="1125789"/>
                  </a:moveTo>
                  <a:cubicBezTo>
                    <a:pt x="157852" y="1129324"/>
                    <a:pt x="160560" y="1136321"/>
                    <a:pt x="158640" y="1142843"/>
                  </a:cubicBezTo>
                  <a:cubicBezTo>
                    <a:pt x="156514" y="1149031"/>
                    <a:pt x="150686" y="1153166"/>
                    <a:pt x="144137" y="1153097"/>
                  </a:cubicBezTo>
                  <a:cubicBezTo>
                    <a:pt x="137314" y="1152888"/>
                    <a:pt x="131520" y="1148088"/>
                    <a:pt x="130046" y="1141440"/>
                  </a:cubicBezTo>
                  <a:cubicBezTo>
                    <a:pt x="129600" y="1139555"/>
                    <a:pt x="128846" y="1137734"/>
                    <a:pt x="128263" y="1135886"/>
                  </a:cubicBezTo>
                  <a:cubicBezTo>
                    <a:pt x="128640" y="1134580"/>
                    <a:pt x="129051" y="1133277"/>
                    <a:pt x="129463" y="1131974"/>
                  </a:cubicBezTo>
                  <a:cubicBezTo>
                    <a:pt x="130972" y="1130651"/>
                    <a:pt x="132514" y="1129372"/>
                    <a:pt x="133955" y="1128000"/>
                  </a:cubicBezTo>
                  <a:cubicBezTo>
                    <a:pt x="138720" y="1123128"/>
                    <a:pt x="146263" y="1122213"/>
                    <a:pt x="152057" y="1125789"/>
                  </a:cubicBezTo>
                  <a:close/>
                  <a:moveTo>
                    <a:pt x="107520" y="1268709"/>
                  </a:moveTo>
                  <a:cubicBezTo>
                    <a:pt x="113314" y="1272275"/>
                    <a:pt x="116091" y="1279242"/>
                    <a:pt x="114308" y="1285817"/>
                  </a:cubicBezTo>
                  <a:cubicBezTo>
                    <a:pt x="112183" y="1292311"/>
                    <a:pt x="105943" y="1296546"/>
                    <a:pt x="99120" y="1296103"/>
                  </a:cubicBezTo>
                  <a:cubicBezTo>
                    <a:pt x="92537" y="1295757"/>
                    <a:pt x="87051" y="1291039"/>
                    <a:pt x="85680" y="1284604"/>
                  </a:cubicBezTo>
                  <a:lnTo>
                    <a:pt x="84137" y="1278045"/>
                  </a:lnTo>
                  <a:lnTo>
                    <a:pt x="84960" y="1275439"/>
                  </a:lnTo>
                  <a:cubicBezTo>
                    <a:pt x="86606" y="1273900"/>
                    <a:pt x="88251" y="1272353"/>
                    <a:pt x="89897" y="1270831"/>
                  </a:cubicBezTo>
                  <a:cubicBezTo>
                    <a:pt x="94628" y="1266278"/>
                    <a:pt x="101829" y="1265414"/>
                    <a:pt x="107520" y="1268709"/>
                  </a:cubicBezTo>
                  <a:close/>
                  <a:moveTo>
                    <a:pt x="66034" y="1404138"/>
                  </a:moveTo>
                  <a:cubicBezTo>
                    <a:pt x="72960" y="1408409"/>
                    <a:pt x="75086" y="1417475"/>
                    <a:pt x="70800" y="1424383"/>
                  </a:cubicBezTo>
                  <a:cubicBezTo>
                    <a:pt x="68126" y="1428734"/>
                    <a:pt x="63360" y="1431374"/>
                    <a:pt x="58251" y="1431357"/>
                  </a:cubicBezTo>
                  <a:cubicBezTo>
                    <a:pt x="51189" y="1431333"/>
                    <a:pt x="45086" y="1426348"/>
                    <a:pt x="43680" y="1419419"/>
                  </a:cubicBezTo>
                  <a:cubicBezTo>
                    <a:pt x="43234" y="1417495"/>
                    <a:pt x="42617" y="1415613"/>
                    <a:pt x="42069" y="1413710"/>
                  </a:cubicBezTo>
                  <a:cubicBezTo>
                    <a:pt x="42480" y="1412407"/>
                    <a:pt x="42891" y="1411101"/>
                    <a:pt x="43269" y="1409798"/>
                  </a:cubicBezTo>
                  <a:cubicBezTo>
                    <a:pt x="44812" y="1408553"/>
                    <a:pt x="46389" y="1407371"/>
                    <a:pt x="47863" y="1406047"/>
                  </a:cubicBezTo>
                  <a:cubicBezTo>
                    <a:pt x="52766" y="1401312"/>
                    <a:pt x="60240" y="1400517"/>
                    <a:pt x="66034" y="1404120"/>
                  </a:cubicBezTo>
                  <a:close/>
                  <a:moveTo>
                    <a:pt x="24343" y="1539477"/>
                  </a:moveTo>
                  <a:cubicBezTo>
                    <a:pt x="30000" y="1543245"/>
                    <a:pt x="32434" y="1550373"/>
                    <a:pt x="30206" y="1556812"/>
                  </a:cubicBezTo>
                  <a:cubicBezTo>
                    <a:pt x="27532" y="1563635"/>
                    <a:pt x="20366" y="1567602"/>
                    <a:pt x="13166" y="1566278"/>
                  </a:cubicBezTo>
                  <a:cubicBezTo>
                    <a:pt x="7474" y="1565044"/>
                    <a:pt x="3017" y="1560566"/>
                    <a:pt x="1852" y="1554857"/>
                  </a:cubicBezTo>
                  <a:cubicBezTo>
                    <a:pt x="1337" y="1552989"/>
                    <a:pt x="617" y="1551185"/>
                    <a:pt x="0" y="1549355"/>
                  </a:cubicBezTo>
                  <a:cubicBezTo>
                    <a:pt x="377" y="1548052"/>
                    <a:pt x="789" y="1546745"/>
                    <a:pt x="1200" y="1545443"/>
                  </a:cubicBezTo>
                  <a:cubicBezTo>
                    <a:pt x="2709" y="1544102"/>
                    <a:pt x="4251" y="1542806"/>
                    <a:pt x="5692" y="1541421"/>
                  </a:cubicBezTo>
                  <a:cubicBezTo>
                    <a:pt x="10628" y="1536357"/>
                    <a:pt x="18480" y="1535531"/>
                    <a:pt x="24343" y="1539460"/>
                  </a:cubicBezTo>
                  <a:close/>
                  <a:moveTo>
                    <a:pt x="155897" y="1579526"/>
                  </a:moveTo>
                  <a:cubicBezTo>
                    <a:pt x="163680" y="1582180"/>
                    <a:pt x="167829" y="1590635"/>
                    <a:pt x="165189" y="1598414"/>
                  </a:cubicBezTo>
                  <a:cubicBezTo>
                    <a:pt x="162617" y="1605964"/>
                    <a:pt x="154526" y="1610140"/>
                    <a:pt x="146880" y="1607880"/>
                  </a:cubicBezTo>
                  <a:cubicBezTo>
                    <a:pt x="139200" y="1605247"/>
                    <a:pt x="135017" y="1596967"/>
                    <a:pt x="137451" y="1589219"/>
                  </a:cubicBezTo>
                  <a:cubicBezTo>
                    <a:pt x="139886" y="1581463"/>
                    <a:pt x="148115" y="1577126"/>
                    <a:pt x="155897" y="1579509"/>
                  </a:cubicBezTo>
                  <a:close/>
                  <a:moveTo>
                    <a:pt x="317314" y="1059326"/>
                  </a:moveTo>
                  <a:cubicBezTo>
                    <a:pt x="309566" y="1056977"/>
                    <a:pt x="305177" y="1048783"/>
                    <a:pt x="307509" y="1041021"/>
                  </a:cubicBezTo>
                  <a:cubicBezTo>
                    <a:pt x="307509" y="1041021"/>
                    <a:pt x="307509" y="1041017"/>
                    <a:pt x="307509" y="1041017"/>
                  </a:cubicBezTo>
                  <a:cubicBezTo>
                    <a:pt x="309874" y="1033300"/>
                    <a:pt x="318034" y="1028959"/>
                    <a:pt x="325749" y="1031325"/>
                  </a:cubicBezTo>
                  <a:cubicBezTo>
                    <a:pt x="333497" y="1033691"/>
                    <a:pt x="337817" y="1041864"/>
                    <a:pt x="335451" y="1049582"/>
                  </a:cubicBezTo>
                  <a:cubicBezTo>
                    <a:pt x="333120" y="1057255"/>
                    <a:pt x="324994" y="1061599"/>
                    <a:pt x="317314" y="1059309"/>
                  </a:cubicBezTo>
                  <a:close/>
                  <a:moveTo>
                    <a:pt x="590606" y="178252"/>
                  </a:moveTo>
                  <a:cubicBezTo>
                    <a:pt x="598217" y="180563"/>
                    <a:pt x="602503" y="188603"/>
                    <a:pt x="600206" y="196214"/>
                  </a:cubicBezTo>
                  <a:cubicBezTo>
                    <a:pt x="600172" y="196354"/>
                    <a:pt x="600103" y="196492"/>
                    <a:pt x="600069" y="196629"/>
                  </a:cubicBezTo>
                  <a:cubicBezTo>
                    <a:pt x="597635" y="204316"/>
                    <a:pt x="589406" y="208564"/>
                    <a:pt x="581726" y="206112"/>
                  </a:cubicBezTo>
                  <a:cubicBezTo>
                    <a:pt x="574012" y="203661"/>
                    <a:pt x="569795" y="195443"/>
                    <a:pt x="572229" y="187756"/>
                  </a:cubicBezTo>
                  <a:cubicBezTo>
                    <a:pt x="574526" y="180120"/>
                    <a:pt x="582583" y="175797"/>
                    <a:pt x="590229" y="178097"/>
                  </a:cubicBezTo>
                  <a:cubicBezTo>
                    <a:pt x="590332" y="178139"/>
                    <a:pt x="590469" y="178180"/>
                    <a:pt x="590606" y="178221"/>
                  </a:cubicBezTo>
                  <a:close/>
                  <a:moveTo>
                    <a:pt x="513737" y="474857"/>
                  </a:moveTo>
                  <a:cubicBezTo>
                    <a:pt x="511200" y="482520"/>
                    <a:pt x="502937" y="486683"/>
                    <a:pt x="495291" y="484159"/>
                  </a:cubicBezTo>
                  <a:cubicBezTo>
                    <a:pt x="487611" y="481632"/>
                    <a:pt x="483463" y="473373"/>
                    <a:pt x="486000" y="465710"/>
                  </a:cubicBezTo>
                  <a:cubicBezTo>
                    <a:pt x="488503" y="458095"/>
                    <a:pt x="496663" y="453926"/>
                    <a:pt x="504308" y="456367"/>
                  </a:cubicBezTo>
                  <a:cubicBezTo>
                    <a:pt x="512023" y="458867"/>
                    <a:pt x="516240" y="467136"/>
                    <a:pt x="513737" y="474840"/>
                  </a:cubicBezTo>
                  <a:close/>
                  <a:moveTo>
                    <a:pt x="548503" y="313115"/>
                  </a:moveTo>
                  <a:cubicBezTo>
                    <a:pt x="556354" y="315388"/>
                    <a:pt x="560846" y="323582"/>
                    <a:pt x="558583" y="331416"/>
                  </a:cubicBezTo>
                  <a:cubicBezTo>
                    <a:pt x="556320" y="339254"/>
                    <a:pt x="548126" y="343766"/>
                    <a:pt x="540275" y="341493"/>
                  </a:cubicBezTo>
                  <a:cubicBezTo>
                    <a:pt x="532457" y="339223"/>
                    <a:pt x="527931" y="331029"/>
                    <a:pt x="530194" y="323191"/>
                  </a:cubicBezTo>
                  <a:cubicBezTo>
                    <a:pt x="530194" y="323160"/>
                    <a:pt x="530229" y="323126"/>
                    <a:pt x="530229" y="323095"/>
                  </a:cubicBezTo>
                  <a:cubicBezTo>
                    <a:pt x="532492" y="315299"/>
                    <a:pt x="540652" y="310814"/>
                    <a:pt x="548434" y="313080"/>
                  </a:cubicBezTo>
                  <a:cubicBezTo>
                    <a:pt x="548469" y="313087"/>
                    <a:pt x="548469" y="313091"/>
                    <a:pt x="548503" y="313097"/>
                  </a:cubicBezTo>
                  <a:close/>
                  <a:moveTo>
                    <a:pt x="462069" y="591473"/>
                  </a:moveTo>
                  <a:cubicBezTo>
                    <a:pt x="469817" y="593747"/>
                    <a:pt x="474275" y="601882"/>
                    <a:pt x="472012" y="609641"/>
                  </a:cubicBezTo>
                  <a:cubicBezTo>
                    <a:pt x="469714" y="617400"/>
                    <a:pt x="461589" y="621844"/>
                    <a:pt x="453840" y="619570"/>
                  </a:cubicBezTo>
                  <a:cubicBezTo>
                    <a:pt x="446091" y="617297"/>
                    <a:pt x="441635" y="609172"/>
                    <a:pt x="443897" y="601416"/>
                  </a:cubicBezTo>
                  <a:cubicBezTo>
                    <a:pt x="445989" y="593743"/>
                    <a:pt x="453909" y="589221"/>
                    <a:pt x="461589" y="591312"/>
                  </a:cubicBezTo>
                  <a:cubicBezTo>
                    <a:pt x="461760" y="591357"/>
                    <a:pt x="461897" y="591405"/>
                    <a:pt x="462069" y="591456"/>
                  </a:cubicBezTo>
                  <a:close/>
                  <a:moveTo>
                    <a:pt x="402034" y="736368"/>
                  </a:moveTo>
                  <a:cubicBezTo>
                    <a:pt x="404332" y="728630"/>
                    <a:pt x="412423" y="724204"/>
                    <a:pt x="420172" y="726487"/>
                  </a:cubicBezTo>
                  <a:cubicBezTo>
                    <a:pt x="427920" y="728767"/>
                    <a:pt x="432343" y="736893"/>
                    <a:pt x="430046" y="744631"/>
                  </a:cubicBezTo>
                  <a:cubicBezTo>
                    <a:pt x="430046" y="744720"/>
                    <a:pt x="430012" y="744813"/>
                    <a:pt x="429977" y="744902"/>
                  </a:cubicBezTo>
                  <a:cubicBezTo>
                    <a:pt x="427611" y="752620"/>
                    <a:pt x="419451" y="756960"/>
                    <a:pt x="411737" y="754598"/>
                  </a:cubicBezTo>
                  <a:cubicBezTo>
                    <a:pt x="404023" y="752236"/>
                    <a:pt x="399669" y="744069"/>
                    <a:pt x="402034" y="736351"/>
                  </a:cubicBezTo>
                  <a:close/>
                  <a:moveTo>
                    <a:pt x="359349" y="924271"/>
                  </a:moveTo>
                  <a:cubicBezTo>
                    <a:pt x="351497" y="922094"/>
                    <a:pt x="346869" y="913954"/>
                    <a:pt x="349063" y="906093"/>
                  </a:cubicBezTo>
                  <a:cubicBezTo>
                    <a:pt x="351223" y="898231"/>
                    <a:pt x="359383" y="893627"/>
                    <a:pt x="367234" y="895804"/>
                  </a:cubicBezTo>
                  <a:cubicBezTo>
                    <a:pt x="375086" y="897984"/>
                    <a:pt x="379714" y="906120"/>
                    <a:pt x="377520" y="913982"/>
                  </a:cubicBezTo>
                  <a:cubicBezTo>
                    <a:pt x="377520" y="914030"/>
                    <a:pt x="377486" y="914082"/>
                    <a:pt x="377486" y="914129"/>
                  </a:cubicBezTo>
                  <a:cubicBezTo>
                    <a:pt x="375291" y="921923"/>
                    <a:pt x="367200" y="926462"/>
                    <a:pt x="359417" y="924271"/>
                  </a:cubicBezTo>
                  <a:cubicBezTo>
                    <a:pt x="359383" y="924264"/>
                    <a:pt x="359383" y="924261"/>
                    <a:pt x="359349" y="924254"/>
                  </a:cubicBezTo>
                  <a:close/>
                  <a:moveTo>
                    <a:pt x="283749" y="1166095"/>
                  </a:moveTo>
                  <a:cubicBezTo>
                    <a:pt x="291600" y="1168303"/>
                    <a:pt x="296160" y="1176446"/>
                    <a:pt x="293931" y="1184284"/>
                  </a:cubicBezTo>
                  <a:cubicBezTo>
                    <a:pt x="291737" y="1192121"/>
                    <a:pt x="283577" y="1196685"/>
                    <a:pt x="275760" y="1194477"/>
                  </a:cubicBezTo>
                  <a:cubicBezTo>
                    <a:pt x="267909" y="1192265"/>
                    <a:pt x="263349" y="1184123"/>
                    <a:pt x="265543" y="1176285"/>
                  </a:cubicBezTo>
                  <a:cubicBezTo>
                    <a:pt x="265577" y="1176264"/>
                    <a:pt x="265577" y="1176244"/>
                    <a:pt x="265577" y="1176223"/>
                  </a:cubicBezTo>
                  <a:cubicBezTo>
                    <a:pt x="267737" y="1168430"/>
                    <a:pt x="275829" y="1163870"/>
                    <a:pt x="283611" y="1166040"/>
                  </a:cubicBezTo>
                  <a:cubicBezTo>
                    <a:pt x="283646" y="1166054"/>
                    <a:pt x="283714" y="1166064"/>
                    <a:pt x="283749" y="1166078"/>
                  </a:cubicBezTo>
                  <a:close/>
                  <a:moveTo>
                    <a:pt x="198069" y="1444732"/>
                  </a:moveTo>
                  <a:cubicBezTo>
                    <a:pt x="205680" y="1447382"/>
                    <a:pt x="209692" y="1455696"/>
                    <a:pt x="207051" y="1463304"/>
                  </a:cubicBezTo>
                  <a:cubicBezTo>
                    <a:pt x="204411" y="1470909"/>
                    <a:pt x="196080" y="1474927"/>
                    <a:pt x="188468" y="1472280"/>
                  </a:cubicBezTo>
                  <a:cubicBezTo>
                    <a:pt x="180891" y="1469633"/>
                    <a:pt x="176846" y="1461343"/>
                    <a:pt x="179486" y="1453742"/>
                  </a:cubicBezTo>
                  <a:cubicBezTo>
                    <a:pt x="181886" y="1446234"/>
                    <a:pt x="189909" y="1442092"/>
                    <a:pt x="197417" y="1444492"/>
                  </a:cubicBezTo>
                  <a:cubicBezTo>
                    <a:pt x="197623" y="1444560"/>
                    <a:pt x="197863" y="1444636"/>
                    <a:pt x="198069" y="1444715"/>
                  </a:cubicBezTo>
                  <a:close/>
                  <a:moveTo>
                    <a:pt x="240069" y="1309433"/>
                  </a:moveTo>
                  <a:cubicBezTo>
                    <a:pt x="247852" y="1312008"/>
                    <a:pt x="252034" y="1320391"/>
                    <a:pt x="249463" y="1328157"/>
                  </a:cubicBezTo>
                  <a:cubicBezTo>
                    <a:pt x="246891" y="1335923"/>
                    <a:pt x="238526" y="1340133"/>
                    <a:pt x="230743" y="1337558"/>
                  </a:cubicBezTo>
                  <a:cubicBezTo>
                    <a:pt x="222994" y="1334983"/>
                    <a:pt x="218777" y="1326600"/>
                    <a:pt x="221349" y="1318835"/>
                  </a:cubicBezTo>
                  <a:cubicBezTo>
                    <a:pt x="221383" y="1318763"/>
                    <a:pt x="221383" y="1318694"/>
                    <a:pt x="221417" y="1318622"/>
                  </a:cubicBezTo>
                  <a:cubicBezTo>
                    <a:pt x="223989" y="1310939"/>
                    <a:pt x="232320" y="1306811"/>
                    <a:pt x="240000" y="1309396"/>
                  </a:cubicBezTo>
                  <a:cubicBezTo>
                    <a:pt x="240034" y="1309403"/>
                    <a:pt x="240034" y="1309409"/>
                    <a:pt x="240069" y="1309416"/>
                  </a:cubicBezTo>
                  <a:close/>
                  <a:moveTo>
                    <a:pt x="291189" y="1621512"/>
                  </a:moveTo>
                  <a:cubicBezTo>
                    <a:pt x="298869" y="1624176"/>
                    <a:pt x="303017" y="1632450"/>
                    <a:pt x="300583" y="1640191"/>
                  </a:cubicBezTo>
                  <a:cubicBezTo>
                    <a:pt x="298217" y="1647974"/>
                    <a:pt x="289989" y="1652366"/>
                    <a:pt x="282206" y="1650004"/>
                  </a:cubicBezTo>
                  <a:cubicBezTo>
                    <a:pt x="274423" y="1647638"/>
                    <a:pt x="270034" y="1639413"/>
                    <a:pt x="272400" y="1631633"/>
                  </a:cubicBezTo>
                  <a:cubicBezTo>
                    <a:pt x="272468" y="1631424"/>
                    <a:pt x="272537" y="1631219"/>
                    <a:pt x="272606" y="1631013"/>
                  </a:cubicBezTo>
                  <a:cubicBezTo>
                    <a:pt x="275177" y="1623295"/>
                    <a:pt x="283440" y="1619057"/>
                    <a:pt x="291189" y="1621495"/>
                  </a:cubicBezTo>
                  <a:close/>
                  <a:moveTo>
                    <a:pt x="366103" y="1379541"/>
                  </a:moveTo>
                  <a:cubicBezTo>
                    <a:pt x="358251" y="1377203"/>
                    <a:pt x="353795" y="1368953"/>
                    <a:pt x="356126" y="1361112"/>
                  </a:cubicBezTo>
                  <a:cubicBezTo>
                    <a:pt x="358492" y="1353275"/>
                    <a:pt x="366720" y="1348817"/>
                    <a:pt x="374571" y="1351152"/>
                  </a:cubicBezTo>
                  <a:cubicBezTo>
                    <a:pt x="382423" y="1353491"/>
                    <a:pt x="386880" y="1361743"/>
                    <a:pt x="384514" y="1369581"/>
                  </a:cubicBezTo>
                  <a:cubicBezTo>
                    <a:pt x="384514" y="1369598"/>
                    <a:pt x="384514" y="1369615"/>
                    <a:pt x="384514" y="1369632"/>
                  </a:cubicBezTo>
                  <a:cubicBezTo>
                    <a:pt x="382080" y="1377391"/>
                    <a:pt x="373920" y="1381790"/>
                    <a:pt x="366103" y="1379524"/>
                  </a:cubicBezTo>
                  <a:close/>
                  <a:moveTo>
                    <a:pt x="410366" y="1236247"/>
                  </a:moveTo>
                  <a:cubicBezTo>
                    <a:pt x="402617" y="1233785"/>
                    <a:pt x="398297" y="1225495"/>
                    <a:pt x="400766" y="1217733"/>
                  </a:cubicBezTo>
                  <a:cubicBezTo>
                    <a:pt x="403234" y="1209971"/>
                    <a:pt x="411532" y="1205671"/>
                    <a:pt x="419280" y="1208133"/>
                  </a:cubicBezTo>
                  <a:cubicBezTo>
                    <a:pt x="426960" y="1210701"/>
                    <a:pt x="431212" y="1218936"/>
                    <a:pt x="428846" y="1226695"/>
                  </a:cubicBezTo>
                  <a:cubicBezTo>
                    <a:pt x="426343" y="1234416"/>
                    <a:pt x="418115" y="1238678"/>
                    <a:pt x="410366" y="1236230"/>
                  </a:cubicBezTo>
                  <a:close/>
                  <a:moveTo>
                    <a:pt x="546720" y="796615"/>
                  </a:moveTo>
                  <a:cubicBezTo>
                    <a:pt x="538972" y="794133"/>
                    <a:pt x="534686" y="785829"/>
                    <a:pt x="537154" y="778067"/>
                  </a:cubicBezTo>
                  <a:cubicBezTo>
                    <a:pt x="539623" y="770304"/>
                    <a:pt x="547955" y="766022"/>
                    <a:pt x="555703" y="768501"/>
                  </a:cubicBezTo>
                  <a:cubicBezTo>
                    <a:pt x="563451" y="770983"/>
                    <a:pt x="567737" y="779284"/>
                    <a:pt x="565269" y="787039"/>
                  </a:cubicBezTo>
                  <a:cubicBezTo>
                    <a:pt x="562766" y="794798"/>
                    <a:pt x="554469" y="799077"/>
                    <a:pt x="546720" y="796598"/>
                  </a:cubicBezTo>
                  <a:close/>
                  <a:moveTo>
                    <a:pt x="597703" y="633552"/>
                  </a:moveTo>
                  <a:cubicBezTo>
                    <a:pt x="605383" y="636079"/>
                    <a:pt x="609566" y="644352"/>
                    <a:pt x="607029" y="652032"/>
                  </a:cubicBezTo>
                  <a:cubicBezTo>
                    <a:pt x="604492" y="659709"/>
                    <a:pt x="596229" y="663885"/>
                    <a:pt x="588549" y="661358"/>
                  </a:cubicBezTo>
                  <a:cubicBezTo>
                    <a:pt x="580869" y="658831"/>
                    <a:pt x="576686" y="650551"/>
                    <a:pt x="579223" y="642868"/>
                  </a:cubicBezTo>
                  <a:cubicBezTo>
                    <a:pt x="581726" y="635188"/>
                    <a:pt x="590023" y="631008"/>
                    <a:pt x="597703" y="633535"/>
                  </a:cubicBezTo>
                  <a:close/>
                  <a:moveTo>
                    <a:pt x="494023" y="966048"/>
                  </a:moveTo>
                  <a:cubicBezTo>
                    <a:pt x="486275" y="963515"/>
                    <a:pt x="482023" y="955176"/>
                    <a:pt x="484560" y="947421"/>
                  </a:cubicBezTo>
                  <a:cubicBezTo>
                    <a:pt x="487097" y="939669"/>
                    <a:pt x="495429" y="935435"/>
                    <a:pt x="503177" y="937968"/>
                  </a:cubicBezTo>
                  <a:cubicBezTo>
                    <a:pt x="510960" y="940499"/>
                    <a:pt x="515177" y="948840"/>
                    <a:pt x="512640" y="956592"/>
                  </a:cubicBezTo>
                  <a:cubicBezTo>
                    <a:pt x="512640" y="956603"/>
                    <a:pt x="512640" y="956609"/>
                    <a:pt x="512640" y="956620"/>
                  </a:cubicBezTo>
                  <a:cubicBezTo>
                    <a:pt x="510069" y="964334"/>
                    <a:pt x="501771" y="968534"/>
                    <a:pt x="494023" y="966031"/>
                  </a:cubicBezTo>
                  <a:close/>
                  <a:moveTo>
                    <a:pt x="452537" y="1101254"/>
                  </a:moveTo>
                  <a:cubicBezTo>
                    <a:pt x="444754" y="1098909"/>
                    <a:pt x="440332" y="1090728"/>
                    <a:pt x="442629" y="1082939"/>
                  </a:cubicBezTo>
                  <a:cubicBezTo>
                    <a:pt x="445029" y="1075173"/>
                    <a:pt x="453257" y="1070819"/>
                    <a:pt x="461040" y="1073219"/>
                  </a:cubicBezTo>
                  <a:cubicBezTo>
                    <a:pt x="468686" y="1075581"/>
                    <a:pt x="473040" y="1083624"/>
                    <a:pt x="470846" y="1091321"/>
                  </a:cubicBezTo>
                  <a:cubicBezTo>
                    <a:pt x="468446" y="1099046"/>
                    <a:pt x="460320" y="1103445"/>
                    <a:pt x="452537" y="1101237"/>
                  </a:cubicBezTo>
                  <a:close/>
                  <a:moveTo>
                    <a:pt x="665349" y="365030"/>
                  </a:moveTo>
                  <a:cubicBezTo>
                    <a:pt x="667714" y="357261"/>
                    <a:pt x="675840" y="352821"/>
                    <a:pt x="683657" y="355056"/>
                  </a:cubicBezTo>
                  <a:cubicBezTo>
                    <a:pt x="691440" y="357446"/>
                    <a:pt x="695829" y="365702"/>
                    <a:pt x="693463" y="373502"/>
                  </a:cubicBezTo>
                  <a:cubicBezTo>
                    <a:pt x="691097" y="381213"/>
                    <a:pt x="682972" y="385605"/>
                    <a:pt x="675223" y="383359"/>
                  </a:cubicBezTo>
                  <a:cubicBezTo>
                    <a:pt x="667440" y="381035"/>
                    <a:pt x="663017" y="372837"/>
                    <a:pt x="665349" y="365051"/>
                  </a:cubicBezTo>
                  <a:cubicBezTo>
                    <a:pt x="665349" y="365040"/>
                    <a:pt x="665349" y="365027"/>
                    <a:pt x="665349" y="365013"/>
                  </a:cubicBezTo>
                  <a:close/>
                  <a:moveTo>
                    <a:pt x="630617" y="526495"/>
                  </a:moveTo>
                  <a:cubicBezTo>
                    <a:pt x="622834" y="524085"/>
                    <a:pt x="618446" y="515808"/>
                    <a:pt x="620846" y="508008"/>
                  </a:cubicBezTo>
                  <a:cubicBezTo>
                    <a:pt x="623280" y="500208"/>
                    <a:pt x="631543" y="495840"/>
                    <a:pt x="639360" y="498254"/>
                  </a:cubicBezTo>
                  <a:cubicBezTo>
                    <a:pt x="647143" y="500664"/>
                    <a:pt x="651532" y="508941"/>
                    <a:pt x="649097" y="516741"/>
                  </a:cubicBezTo>
                  <a:cubicBezTo>
                    <a:pt x="649097" y="516748"/>
                    <a:pt x="649097" y="516755"/>
                    <a:pt x="649097" y="516761"/>
                  </a:cubicBezTo>
                  <a:cubicBezTo>
                    <a:pt x="646629" y="524496"/>
                    <a:pt x="638400" y="528816"/>
                    <a:pt x="630617" y="526478"/>
                  </a:cubicBezTo>
                  <a:close/>
                  <a:moveTo>
                    <a:pt x="468137" y="1528505"/>
                  </a:moveTo>
                  <a:cubicBezTo>
                    <a:pt x="475783" y="1531080"/>
                    <a:pt x="479863" y="1539357"/>
                    <a:pt x="477291" y="1546992"/>
                  </a:cubicBezTo>
                  <a:cubicBezTo>
                    <a:pt x="474720" y="1554628"/>
                    <a:pt x="466457" y="1558728"/>
                    <a:pt x="458812" y="1556150"/>
                  </a:cubicBezTo>
                  <a:cubicBezTo>
                    <a:pt x="451234" y="1553599"/>
                    <a:pt x="447154" y="1545446"/>
                    <a:pt x="449589" y="1537852"/>
                  </a:cubicBezTo>
                  <a:cubicBezTo>
                    <a:pt x="452091" y="1530151"/>
                    <a:pt x="460389" y="1525955"/>
                    <a:pt x="468103" y="1528471"/>
                  </a:cubicBezTo>
                  <a:cubicBezTo>
                    <a:pt x="468103" y="1528478"/>
                    <a:pt x="468137" y="1528481"/>
                    <a:pt x="468137" y="1528488"/>
                  </a:cubicBezTo>
                  <a:close/>
                  <a:moveTo>
                    <a:pt x="425829" y="1663283"/>
                  </a:moveTo>
                  <a:cubicBezTo>
                    <a:pt x="433577" y="1665707"/>
                    <a:pt x="438034" y="1673801"/>
                    <a:pt x="435943" y="1681643"/>
                  </a:cubicBezTo>
                  <a:cubicBezTo>
                    <a:pt x="433406" y="1689323"/>
                    <a:pt x="425417" y="1693780"/>
                    <a:pt x="417532" y="1691904"/>
                  </a:cubicBezTo>
                  <a:cubicBezTo>
                    <a:pt x="409852" y="1689326"/>
                    <a:pt x="405497" y="1681242"/>
                    <a:pt x="407554" y="1673411"/>
                  </a:cubicBezTo>
                  <a:cubicBezTo>
                    <a:pt x="409852" y="1665611"/>
                    <a:pt x="417977" y="1661095"/>
                    <a:pt x="425829" y="1663265"/>
                  </a:cubicBezTo>
                  <a:close/>
                  <a:moveTo>
                    <a:pt x="587726" y="1143192"/>
                  </a:moveTo>
                  <a:cubicBezTo>
                    <a:pt x="579943" y="1140854"/>
                    <a:pt x="575486" y="1132708"/>
                    <a:pt x="577714" y="1124901"/>
                  </a:cubicBezTo>
                  <a:cubicBezTo>
                    <a:pt x="579977" y="1117132"/>
                    <a:pt x="588137" y="1112685"/>
                    <a:pt x="595920" y="1114965"/>
                  </a:cubicBezTo>
                  <a:cubicBezTo>
                    <a:pt x="595920" y="1114972"/>
                    <a:pt x="595955" y="1114982"/>
                    <a:pt x="595989" y="1114989"/>
                  </a:cubicBezTo>
                  <a:cubicBezTo>
                    <a:pt x="603771" y="1117276"/>
                    <a:pt x="608297" y="1125408"/>
                    <a:pt x="606103" y="1133232"/>
                  </a:cubicBezTo>
                  <a:cubicBezTo>
                    <a:pt x="603669" y="1140971"/>
                    <a:pt x="595543" y="1145376"/>
                    <a:pt x="587726" y="1143175"/>
                  </a:cubicBezTo>
                  <a:close/>
                  <a:moveTo>
                    <a:pt x="690926" y="810446"/>
                  </a:moveTo>
                  <a:cubicBezTo>
                    <a:pt x="698709" y="812873"/>
                    <a:pt x="703063" y="821154"/>
                    <a:pt x="700629" y="828940"/>
                  </a:cubicBezTo>
                  <a:cubicBezTo>
                    <a:pt x="698194" y="836726"/>
                    <a:pt x="689931" y="841070"/>
                    <a:pt x="682148" y="838639"/>
                  </a:cubicBezTo>
                  <a:cubicBezTo>
                    <a:pt x="682012" y="838601"/>
                    <a:pt x="681874" y="838564"/>
                    <a:pt x="681771" y="838523"/>
                  </a:cubicBezTo>
                  <a:cubicBezTo>
                    <a:pt x="674023" y="835996"/>
                    <a:pt x="669771" y="827657"/>
                    <a:pt x="672308" y="819899"/>
                  </a:cubicBezTo>
                  <a:cubicBezTo>
                    <a:pt x="674846" y="812140"/>
                    <a:pt x="683177" y="807902"/>
                    <a:pt x="690926" y="810429"/>
                  </a:cubicBezTo>
                  <a:close/>
                  <a:moveTo>
                    <a:pt x="638469" y="979934"/>
                  </a:moveTo>
                  <a:cubicBezTo>
                    <a:pt x="646217" y="982516"/>
                    <a:pt x="650366" y="990881"/>
                    <a:pt x="647795" y="998616"/>
                  </a:cubicBezTo>
                  <a:cubicBezTo>
                    <a:pt x="645223" y="1006355"/>
                    <a:pt x="636857" y="1010531"/>
                    <a:pt x="629109" y="1007949"/>
                  </a:cubicBezTo>
                  <a:cubicBezTo>
                    <a:pt x="621394" y="1005364"/>
                    <a:pt x="617212" y="997005"/>
                    <a:pt x="619783" y="989270"/>
                  </a:cubicBezTo>
                  <a:cubicBezTo>
                    <a:pt x="622457" y="981621"/>
                    <a:pt x="630720" y="977483"/>
                    <a:pt x="638469" y="979917"/>
                  </a:cubicBezTo>
                  <a:close/>
                  <a:moveTo>
                    <a:pt x="545589" y="1278196"/>
                  </a:moveTo>
                  <a:cubicBezTo>
                    <a:pt x="537840" y="1275803"/>
                    <a:pt x="533486" y="1267577"/>
                    <a:pt x="535886" y="1259819"/>
                  </a:cubicBezTo>
                  <a:cubicBezTo>
                    <a:pt x="535886" y="1259805"/>
                    <a:pt x="535886" y="1259791"/>
                    <a:pt x="535886" y="1259778"/>
                  </a:cubicBezTo>
                  <a:cubicBezTo>
                    <a:pt x="538354" y="1252049"/>
                    <a:pt x="546549" y="1247716"/>
                    <a:pt x="554332" y="1250037"/>
                  </a:cubicBezTo>
                  <a:cubicBezTo>
                    <a:pt x="562046" y="1252564"/>
                    <a:pt x="566366" y="1260755"/>
                    <a:pt x="564103" y="1268551"/>
                  </a:cubicBezTo>
                  <a:cubicBezTo>
                    <a:pt x="561600" y="1276289"/>
                    <a:pt x="553372" y="1280579"/>
                    <a:pt x="545589" y="1278179"/>
                  </a:cubicBezTo>
                  <a:close/>
                  <a:moveTo>
                    <a:pt x="500880" y="1421352"/>
                  </a:moveTo>
                  <a:cubicBezTo>
                    <a:pt x="493132" y="1418778"/>
                    <a:pt x="488914" y="1410398"/>
                    <a:pt x="491486" y="1402632"/>
                  </a:cubicBezTo>
                  <a:cubicBezTo>
                    <a:pt x="494057" y="1394870"/>
                    <a:pt x="502423" y="1390660"/>
                    <a:pt x="510206" y="1393235"/>
                  </a:cubicBezTo>
                  <a:cubicBezTo>
                    <a:pt x="517955" y="1395806"/>
                    <a:pt x="522172" y="1404185"/>
                    <a:pt x="519600" y="1411951"/>
                  </a:cubicBezTo>
                  <a:cubicBezTo>
                    <a:pt x="516857" y="1419583"/>
                    <a:pt x="508629" y="1423718"/>
                    <a:pt x="500880" y="1421335"/>
                  </a:cubicBezTo>
                  <a:close/>
                  <a:moveTo>
                    <a:pt x="995897" y="303981"/>
                  </a:moveTo>
                  <a:cubicBezTo>
                    <a:pt x="1003646" y="306257"/>
                    <a:pt x="1008069" y="314380"/>
                    <a:pt x="1005806" y="322121"/>
                  </a:cubicBezTo>
                  <a:cubicBezTo>
                    <a:pt x="1003509" y="329863"/>
                    <a:pt x="995383" y="334296"/>
                    <a:pt x="987669" y="332020"/>
                  </a:cubicBezTo>
                  <a:cubicBezTo>
                    <a:pt x="987566" y="331996"/>
                    <a:pt x="987497" y="331975"/>
                    <a:pt x="987429" y="331951"/>
                  </a:cubicBezTo>
                  <a:cubicBezTo>
                    <a:pt x="979714" y="329613"/>
                    <a:pt x="975326" y="321453"/>
                    <a:pt x="977657" y="313728"/>
                  </a:cubicBezTo>
                  <a:cubicBezTo>
                    <a:pt x="980023" y="306000"/>
                    <a:pt x="988183" y="301632"/>
                    <a:pt x="995897" y="303971"/>
                  </a:cubicBezTo>
                  <a:close/>
                  <a:moveTo>
                    <a:pt x="954377" y="439015"/>
                  </a:moveTo>
                  <a:cubicBezTo>
                    <a:pt x="962057" y="441635"/>
                    <a:pt x="966206" y="449966"/>
                    <a:pt x="963635" y="457670"/>
                  </a:cubicBezTo>
                  <a:cubicBezTo>
                    <a:pt x="960994" y="465302"/>
                    <a:pt x="952663" y="469351"/>
                    <a:pt x="945052" y="466711"/>
                  </a:cubicBezTo>
                  <a:cubicBezTo>
                    <a:pt x="937406" y="464075"/>
                    <a:pt x="933360" y="455750"/>
                    <a:pt x="936000" y="448118"/>
                  </a:cubicBezTo>
                  <a:cubicBezTo>
                    <a:pt x="938606" y="440572"/>
                    <a:pt x="946800" y="436512"/>
                    <a:pt x="954377" y="439005"/>
                  </a:cubicBezTo>
                  <a:close/>
                  <a:moveTo>
                    <a:pt x="909497" y="582052"/>
                  </a:moveTo>
                  <a:cubicBezTo>
                    <a:pt x="917349" y="584263"/>
                    <a:pt x="921943" y="592423"/>
                    <a:pt x="919714" y="600281"/>
                  </a:cubicBezTo>
                  <a:cubicBezTo>
                    <a:pt x="917520" y="608140"/>
                    <a:pt x="909360" y="612720"/>
                    <a:pt x="901509" y="610509"/>
                  </a:cubicBezTo>
                  <a:cubicBezTo>
                    <a:pt x="893623" y="608297"/>
                    <a:pt x="889063" y="600137"/>
                    <a:pt x="891257" y="592279"/>
                  </a:cubicBezTo>
                  <a:cubicBezTo>
                    <a:pt x="891291" y="592211"/>
                    <a:pt x="891291" y="592142"/>
                    <a:pt x="891326" y="592073"/>
                  </a:cubicBezTo>
                  <a:cubicBezTo>
                    <a:pt x="893554" y="584301"/>
                    <a:pt x="901680" y="579806"/>
                    <a:pt x="909429" y="582034"/>
                  </a:cubicBezTo>
                  <a:cubicBezTo>
                    <a:pt x="909463" y="582041"/>
                    <a:pt x="909463" y="582045"/>
                    <a:pt x="909497" y="582052"/>
                  </a:cubicBezTo>
                  <a:close/>
                  <a:moveTo>
                    <a:pt x="867532" y="717247"/>
                  </a:moveTo>
                  <a:cubicBezTo>
                    <a:pt x="875280" y="719500"/>
                    <a:pt x="879771" y="727622"/>
                    <a:pt x="877509" y="735384"/>
                  </a:cubicBezTo>
                  <a:cubicBezTo>
                    <a:pt x="875246" y="743147"/>
                    <a:pt x="867120" y="747614"/>
                    <a:pt x="859372" y="745358"/>
                  </a:cubicBezTo>
                  <a:cubicBezTo>
                    <a:pt x="851623" y="743105"/>
                    <a:pt x="847132" y="734983"/>
                    <a:pt x="849394" y="727221"/>
                  </a:cubicBezTo>
                  <a:cubicBezTo>
                    <a:pt x="849394" y="727221"/>
                    <a:pt x="849394" y="727221"/>
                    <a:pt x="849394" y="727221"/>
                  </a:cubicBezTo>
                  <a:cubicBezTo>
                    <a:pt x="851554" y="719520"/>
                    <a:pt x="859509" y="715012"/>
                    <a:pt x="867223" y="717158"/>
                  </a:cubicBezTo>
                  <a:cubicBezTo>
                    <a:pt x="867326" y="717185"/>
                    <a:pt x="867429" y="717216"/>
                    <a:pt x="867532" y="717247"/>
                  </a:cubicBezTo>
                  <a:close/>
                  <a:moveTo>
                    <a:pt x="782914" y="1040219"/>
                  </a:moveTo>
                  <a:cubicBezTo>
                    <a:pt x="780411" y="1047899"/>
                    <a:pt x="772183" y="1052109"/>
                    <a:pt x="764503" y="1049620"/>
                  </a:cubicBezTo>
                  <a:cubicBezTo>
                    <a:pt x="756823" y="1047131"/>
                    <a:pt x="752606" y="1038888"/>
                    <a:pt x="755109" y="1031205"/>
                  </a:cubicBezTo>
                  <a:cubicBezTo>
                    <a:pt x="757577" y="1023590"/>
                    <a:pt x="765703" y="1019373"/>
                    <a:pt x="773349" y="1021752"/>
                  </a:cubicBezTo>
                  <a:cubicBezTo>
                    <a:pt x="781097" y="1024204"/>
                    <a:pt x="785383" y="1032467"/>
                    <a:pt x="782914" y="1040205"/>
                  </a:cubicBezTo>
                  <a:cubicBezTo>
                    <a:pt x="782914" y="1040212"/>
                    <a:pt x="782914" y="1040219"/>
                    <a:pt x="782914" y="1040225"/>
                  </a:cubicBezTo>
                  <a:close/>
                  <a:moveTo>
                    <a:pt x="825669" y="852237"/>
                  </a:moveTo>
                  <a:cubicBezTo>
                    <a:pt x="833486" y="854537"/>
                    <a:pt x="837977" y="862742"/>
                    <a:pt x="835646" y="870559"/>
                  </a:cubicBezTo>
                  <a:cubicBezTo>
                    <a:pt x="833349" y="878380"/>
                    <a:pt x="825154" y="882854"/>
                    <a:pt x="817337" y="880553"/>
                  </a:cubicBezTo>
                  <a:cubicBezTo>
                    <a:pt x="809520" y="878253"/>
                    <a:pt x="805063" y="870052"/>
                    <a:pt x="807360" y="862231"/>
                  </a:cubicBezTo>
                  <a:cubicBezTo>
                    <a:pt x="809657" y="854414"/>
                    <a:pt x="817852" y="849943"/>
                    <a:pt x="825669" y="852244"/>
                  </a:cubicBezTo>
                  <a:close/>
                  <a:moveTo>
                    <a:pt x="731349" y="1156961"/>
                  </a:moveTo>
                  <a:cubicBezTo>
                    <a:pt x="739097" y="1159324"/>
                    <a:pt x="743486" y="1167532"/>
                    <a:pt x="741120" y="1175294"/>
                  </a:cubicBezTo>
                  <a:cubicBezTo>
                    <a:pt x="738789" y="1183060"/>
                    <a:pt x="730560" y="1187441"/>
                    <a:pt x="722812" y="1185079"/>
                  </a:cubicBezTo>
                  <a:cubicBezTo>
                    <a:pt x="715029" y="1182720"/>
                    <a:pt x="710640" y="1174512"/>
                    <a:pt x="713006" y="1166747"/>
                  </a:cubicBezTo>
                  <a:cubicBezTo>
                    <a:pt x="713040" y="1166719"/>
                    <a:pt x="713040" y="1166692"/>
                    <a:pt x="713040" y="1166664"/>
                  </a:cubicBezTo>
                  <a:cubicBezTo>
                    <a:pt x="715303" y="1158988"/>
                    <a:pt x="723360" y="1154606"/>
                    <a:pt x="731040" y="1156876"/>
                  </a:cubicBezTo>
                  <a:cubicBezTo>
                    <a:pt x="731143" y="1156907"/>
                    <a:pt x="731246" y="1156937"/>
                    <a:pt x="731349" y="1156968"/>
                  </a:cubicBezTo>
                  <a:close/>
                  <a:moveTo>
                    <a:pt x="603360" y="1570423"/>
                  </a:moveTo>
                  <a:cubicBezTo>
                    <a:pt x="611006" y="1572953"/>
                    <a:pt x="615154" y="1581206"/>
                    <a:pt x="612617" y="1588855"/>
                  </a:cubicBezTo>
                  <a:cubicBezTo>
                    <a:pt x="610115" y="1596504"/>
                    <a:pt x="601852" y="1600656"/>
                    <a:pt x="594206" y="1598126"/>
                  </a:cubicBezTo>
                  <a:cubicBezTo>
                    <a:pt x="586560" y="1595603"/>
                    <a:pt x="582411" y="1587378"/>
                    <a:pt x="584914" y="1579739"/>
                  </a:cubicBezTo>
                  <a:cubicBezTo>
                    <a:pt x="587246" y="1572179"/>
                    <a:pt x="595234" y="1567927"/>
                    <a:pt x="602812" y="1570245"/>
                  </a:cubicBezTo>
                  <a:cubicBezTo>
                    <a:pt x="602983" y="1570303"/>
                    <a:pt x="603189" y="1570365"/>
                    <a:pt x="603360" y="1570430"/>
                  </a:cubicBezTo>
                  <a:close/>
                  <a:moveTo>
                    <a:pt x="645257" y="1435091"/>
                  </a:moveTo>
                  <a:cubicBezTo>
                    <a:pt x="653074" y="1437484"/>
                    <a:pt x="657497" y="1445774"/>
                    <a:pt x="655097" y="1453605"/>
                  </a:cubicBezTo>
                  <a:cubicBezTo>
                    <a:pt x="652697" y="1461432"/>
                    <a:pt x="644400" y="1465838"/>
                    <a:pt x="636583" y="1463445"/>
                  </a:cubicBezTo>
                  <a:cubicBezTo>
                    <a:pt x="628766" y="1461048"/>
                    <a:pt x="624343" y="1452762"/>
                    <a:pt x="626743" y="1444931"/>
                  </a:cubicBezTo>
                  <a:cubicBezTo>
                    <a:pt x="626777" y="1444862"/>
                    <a:pt x="626777" y="1444790"/>
                    <a:pt x="626812" y="1444718"/>
                  </a:cubicBezTo>
                  <a:cubicBezTo>
                    <a:pt x="629280" y="1436980"/>
                    <a:pt x="637509" y="1432680"/>
                    <a:pt x="645257" y="1435097"/>
                  </a:cubicBezTo>
                  <a:close/>
                  <a:moveTo>
                    <a:pt x="689795" y="1292033"/>
                  </a:moveTo>
                  <a:cubicBezTo>
                    <a:pt x="697509" y="1294632"/>
                    <a:pt x="701623" y="1302977"/>
                    <a:pt x="699017" y="1310678"/>
                  </a:cubicBezTo>
                  <a:cubicBezTo>
                    <a:pt x="699017" y="1310688"/>
                    <a:pt x="699017" y="1310702"/>
                    <a:pt x="699017" y="1310712"/>
                  </a:cubicBezTo>
                  <a:cubicBezTo>
                    <a:pt x="696377" y="1318355"/>
                    <a:pt x="688046" y="1322411"/>
                    <a:pt x="680400" y="1319771"/>
                  </a:cubicBezTo>
                  <a:cubicBezTo>
                    <a:pt x="672754" y="1317134"/>
                    <a:pt x="668709" y="1308799"/>
                    <a:pt x="671349" y="1301157"/>
                  </a:cubicBezTo>
                  <a:cubicBezTo>
                    <a:pt x="673955" y="1293576"/>
                    <a:pt x="682183" y="1289513"/>
                    <a:pt x="689795" y="1292040"/>
                  </a:cubicBezTo>
                  <a:close/>
                  <a:moveTo>
                    <a:pt x="561463" y="1705327"/>
                  </a:moveTo>
                  <a:cubicBezTo>
                    <a:pt x="569177" y="1707916"/>
                    <a:pt x="573360" y="1716230"/>
                    <a:pt x="570823" y="1723958"/>
                  </a:cubicBezTo>
                  <a:cubicBezTo>
                    <a:pt x="568457" y="1731693"/>
                    <a:pt x="560297" y="1736061"/>
                    <a:pt x="552549" y="1733712"/>
                  </a:cubicBezTo>
                  <a:cubicBezTo>
                    <a:pt x="544834" y="1731360"/>
                    <a:pt x="540446" y="1723183"/>
                    <a:pt x="542812" y="1715448"/>
                  </a:cubicBezTo>
                  <a:cubicBezTo>
                    <a:pt x="542846" y="1715267"/>
                    <a:pt x="542914" y="1715085"/>
                    <a:pt x="542983" y="1714907"/>
                  </a:cubicBezTo>
                  <a:cubicBezTo>
                    <a:pt x="545451" y="1707162"/>
                    <a:pt x="553714" y="1702879"/>
                    <a:pt x="561463" y="1705334"/>
                  </a:cubicBezTo>
                  <a:close/>
                  <a:moveTo>
                    <a:pt x="696446" y="1747214"/>
                  </a:moveTo>
                  <a:cubicBezTo>
                    <a:pt x="704126" y="1749789"/>
                    <a:pt x="708446" y="1757952"/>
                    <a:pt x="706251" y="1765763"/>
                  </a:cubicBezTo>
                  <a:cubicBezTo>
                    <a:pt x="703509" y="1773381"/>
                    <a:pt x="695451" y="1777674"/>
                    <a:pt x="687600" y="1775675"/>
                  </a:cubicBezTo>
                  <a:cubicBezTo>
                    <a:pt x="679955" y="1772956"/>
                    <a:pt x="675737" y="1764779"/>
                    <a:pt x="677966" y="1756986"/>
                  </a:cubicBezTo>
                  <a:cubicBezTo>
                    <a:pt x="680434" y="1749237"/>
                    <a:pt x="688663" y="1744889"/>
                    <a:pt x="696446" y="1747221"/>
                  </a:cubicBezTo>
                  <a:close/>
                  <a:moveTo>
                    <a:pt x="1266411" y="387888"/>
                  </a:moveTo>
                  <a:cubicBezTo>
                    <a:pt x="1274091" y="390364"/>
                    <a:pt x="1278309" y="398599"/>
                    <a:pt x="1275840" y="406283"/>
                  </a:cubicBezTo>
                  <a:cubicBezTo>
                    <a:pt x="1273372" y="413966"/>
                    <a:pt x="1265143" y="418187"/>
                    <a:pt x="1257463" y="415711"/>
                  </a:cubicBezTo>
                  <a:cubicBezTo>
                    <a:pt x="1249783" y="413243"/>
                    <a:pt x="1245566" y="405045"/>
                    <a:pt x="1248000" y="397372"/>
                  </a:cubicBezTo>
                  <a:cubicBezTo>
                    <a:pt x="1250332" y="389740"/>
                    <a:pt x="1258423" y="385444"/>
                    <a:pt x="1266034" y="387779"/>
                  </a:cubicBezTo>
                  <a:cubicBezTo>
                    <a:pt x="1266172" y="387816"/>
                    <a:pt x="1266275" y="387854"/>
                    <a:pt x="1266411" y="387895"/>
                  </a:cubicBezTo>
                  <a:close/>
                  <a:moveTo>
                    <a:pt x="873291" y="1654176"/>
                  </a:moveTo>
                  <a:cubicBezTo>
                    <a:pt x="881006" y="1656528"/>
                    <a:pt x="885326" y="1664682"/>
                    <a:pt x="882994" y="1672386"/>
                  </a:cubicBezTo>
                  <a:cubicBezTo>
                    <a:pt x="880629" y="1680089"/>
                    <a:pt x="872469" y="1684427"/>
                    <a:pt x="864754" y="1682075"/>
                  </a:cubicBezTo>
                  <a:cubicBezTo>
                    <a:pt x="857109" y="1679733"/>
                    <a:pt x="852754" y="1671648"/>
                    <a:pt x="855052" y="1663968"/>
                  </a:cubicBezTo>
                  <a:cubicBezTo>
                    <a:pt x="857177" y="1656347"/>
                    <a:pt x="865063" y="1651879"/>
                    <a:pt x="872674" y="1653988"/>
                  </a:cubicBezTo>
                  <a:cubicBezTo>
                    <a:pt x="872880" y="1654046"/>
                    <a:pt x="873086" y="1654108"/>
                    <a:pt x="873291" y="1654176"/>
                  </a:cubicBezTo>
                  <a:close/>
                  <a:moveTo>
                    <a:pt x="831360" y="1789067"/>
                  </a:moveTo>
                  <a:cubicBezTo>
                    <a:pt x="839143" y="1791398"/>
                    <a:pt x="843600" y="1799596"/>
                    <a:pt x="841269" y="1807389"/>
                  </a:cubicBezTo>
                  <a:cubicBezTo>
                    <a:pt x="839109" y="1815196"/>
                    <a:pt x="831052" y="1819780"/>
                    <a:pt x="823234" y="1817630"/>
                  </a:cubicBezTo>
                  <a:cubicBezTo>
                    <a:pt x="815451" y="1815480"/>
                    <a:pt x="810857" y="1807409"/>
                    <a:pt x="812983" y="1799603"/>
                  </a:cubicBezTo>
                  <a:cubicBezTo>
                    <a:pt x="813052" y="1799466"/>
                    <a:pt x="813086" y="1799328"/>
                    <a:pt x="813120" y="1799191"/>
                  </a:cubicBezTo>
                  <a:cubicBezTo>
                    <a:pt x="815383" y="1791381"/>
                    <a:pt x="823543" y="1786859"/>
                    <a:pt x="831360" y="1789067"/>
                  </a:cubicBezTo>
                  <a:close/>
                  <a:moveTo>
                    <a:pt x="1129611" y="829200"/>
                  </a:moveTo>
                  <a:cubicBezTo>
                    <a:pt x="1121863" y="826900"/>
                    <a:pt x="1117440" y="818750"/>
                    <a:pt x="1119737" y="810998"/>
                  </a:cubicBezTo>
                  <a:cubicBezTo>
                    <a:pt x="1122034" y="803249"/>
                    <a:pt x="1130194" y="798830"/>
                    <a:pt x="1137943" y="801131"/>
                  </a:cubicBezTo>
                  <a:cubicBezTo>
                    <a:pt x="1145692" y="803431"/>
                    <a:pt x="1150115" y="811567"/>
                    <a:pt x="1147817" y="819316"/>
                  </a:cubicBezTo>
                  <a:cubicBezTo>
                    <a:pt x="1145623" y="827020"/>
                    <a:pt x="1137600" y="831480"/>
                    <a:pt x="1129886" y="829283"/>
                  </a:cubicBezTo>
                  <a:cubicBezTo>
                    <a:pt x="1129783" y="829255"/>
                    <a:pt x="1129714" y="829228"/>
                    <a:pt x="1129611" y="829200"/>
                  </a:cubicBezTo>
                  <a:close/>
                  <a:moveTo>
                    <a:pt x="1096251" y="936172"/>
                  </a:moveTo>
                  <a:cubicBezTo>
                    <a:pt x="1104069" y="938551"/>
                    <a:pt x="1108457" y="946804"/>
                    <a:pt x="1106057" y="954604"/>
                  </a:cubicBezTo>
                  <a:cubicBezTo>
                    <a:pt x="1103692" y="962407"/>
                    <a:pt x="1095429" y="966799"/>
                    <a:pt x="1087646" y="964420"/>
                  </a:cubicBezTo>
                  <a:cubicBezTo>
                    <a:pt x="1079829" y="962040"/>
                    <a:pt x="1075440" y="953788"/>
                    <a:pt x="1077806" y="945988"/>
                  </a:cubicBezTo>
                  <a:cubicBezTo>
                    <a:pt x="1077840" y="945964"/>
                    <a:pt x="1077840" y="945940"/>
                    <a:pt x="1077840" y="945916"/>
                  </a:cubicBezTo>
                  <a:cubicBezTo>
                    <a:pt x="1080240" y="938143"/>
                    <a:pt x="1088469" y="933775"/>
                    <a:pt x="1096251" y="936162"/>
                  </a:cubicBezTo>
                  <a:close/>
                  <a:moveTo>
                    <a:pt x="1044206" y="1105811"/>
                  </a:moveTo>
                  <a:cubicBezTo>
                    <a:pt x="1051920" y="1108485"/>
                    <a:pt x="1056000" y="1116895"/>
                    <a:pt x="1053326" y="1124603"/>
                  </a:cubicBezTo>
                  <a:cubicBezTo>
                    <a:pt x="1050652" y="1132307"/>
                    <a:pt x="1042217" y="1136387"/>
                    <a:pt x="1034537" y="1133712"/>
                  </a:cubicBezTo>
                  <a:cubicBezTo>
                    <a:pt x="1026823" y="1131041"/>
                    <a:pt x="1022743" y="1122628"/>
                    <a:pt x="1025417" y="1114924"/>
                  </a:cubicBezTo>
                  <a:cubicBezTo>
                    <a:pt x="1025417" y="1114886"/>
                    <a:pt x="1025451" y="1114852"/>
                    <a:pt x="1025451" y="1114817"/>
                  </a:cubicBezTo>
                  <a:cubicBezTo>
                    <a:pt x="1028160" y="1107151"/>
                    <a:pt x="1036526" y="1103116"/>
                    <a:pt x="1044206" y="1105800"/>
                  </a:cubicBezTo>
                  <a:close/>
                  <a:moveTo>
                    <a:pt x="992709" y="1268832"/>
                  </a:moveTo>
                  <a:cubicBezTo>
                    <a:pt x="985029" y="1266247"/>
                    <a:pt x="980880" y="1257916"/>
                    <a:pt x="983451" y="1250222"/>
                  </a:cubicBezTo>
                  <a:cubicBezTo>
                    <a:pt x="986057" y="1242559"/>
                    <a:pt x="994354" y="1238448"/>
                    <a:pt x="1002034" y="1241044"/>
                  </a:cubicBezTo>
                  <a:cubicBezTo>
                    <a:pt x="1009680" y="1243636"/>
                    <a:pt x="1013795" y="1251953"/>
                    <a:pt x="1011189" y="1259616"/>
                  </a:cubicBezTo>
                  <a:cubicBezTo>
                    <a:pt x="1008617" y="1267252"/>
                    <a:pt x="1000354" y="1271363"/>
                    <a:pt x="992709" y="1268822"/>
                  </a:cubicBezTo>
                  <a:close/>
                  <a:moveTo>
                    <a:pt x="925097" y="1537214"/>
                  </a:moveTo>
                  <a:cubicBezTo>
                    <a:pt x="922731" y="1544956"/>
                    <a:pt x="914537" y="1549310"/>
                    <a:pt x="906789" y="1546941"/>
                  </a:cubicBezTo>
                  <a:cubicBezTo>
                    <a:pt x="899040" y="1544572"/>
                    <a:pt x="894686" y="1536374"/>
                    <a:pt x="897052" y="1528636"/>
                  </a:cubicBezTo>
                  <a:cubicBezTo>
                    <a:pt x="899417" y="1520952"/>
                    <a:pt x="907509" y="1516595"/>
                    <a:pt x="915223" y="1518864"/>
                  </a:cubicBezTo>
                  <a:cubicBezTo>
                    <a:pt x="923006" y="1521227"/>
                    <a:pt x="927394" y="1529417"/>
                    <a:pt x="925097" y="1537204"/>
                  </a:cubicBezTo>
                  <a:close/>
                  <a:moveTo>
                    <a:pt x="959623" y="1375763"/>
                  </a:moveTo>
                  <a:cubicBezTo>
                    <a:pt x="967406" y="1378108"/>
                    <a:pt x="971829" y="1386309"/>
                    <a:pt x="969497" y="1394095"/>
                  </a:cubicBezTo>
                  <a:cubicBezTo>
                    <a:pt x="967200" y="1401857"/>
                    <a:pt x="959040" y="1406294"/>
                    <a:pt x="951291" y="1404000"/>
                  </a:cubicBezTo>
                  <a:cubicBezTo>
                    <a:pt x="943509" y="1401707"/>
                    <a:pt x="939086" y="1393553"/>
                    <a:pt x="941383" y="1385791"/>
                  </a:cubicBezTo>
                  <a:cubicBezTo>
                    <a:pt x="943646" y="1377991"/>
                    <a:pt x="951806" y="1373500"/>
                    <a:pt x="959623" y="1375752"/>
                  </a:cubicBezTo>
                  <a:close/>
                  <a:moveTo>
                    <a:pt x="1205966" y="532900"/>
                  </a:moveTo>
                  <a:cubicBezTo>
                    <a:pt x="1208057" y="525076"/>
                    <a:pt x="1216115" y="520437"/>
                    <a:pt x="1223931" y="522532"/>
                  </a:cubicBezTo>
                  <a:cubicBezTo>
                    <a:pt x="1231749" y="524630"/>
                    <a:pt x="1236377" y="532670"/>
                    <a:pt x="1234286" y="540494"/>
                  </a:cubicBezTo>
                  <a:cubicBezTo>
                    <a:pt x="1234251" y="540662"/>
                    <a:pt x="1234183" y="540830"/>
                    <a:pt x="1234149" y="540998"/>
                  </a:cubicBezTo>
                  <a:cubicBezTo>
                    <a:pt x="1231920" y="548781"/>
                    <a:pt x="1223795" y="553272"/>
                    <a:pt x="1216012" y="551033"/>
                  </a:cubicBezTo>
                  <a:cubicBezTo>
                    <a:pt x="1208229" y="548794"/>
                    <a:pt x="1203737" y="540672"/>
                    <a:pt x="1205966" y="532889"/>
                  </a:cubicBezTo>
                  <a:close/>
                  <a:moveTo>
                    <a:pt x="1171337" y="694242"/>
                  </a:moveTo>
                  <a:cubicBezTo>
                    <a:pt x="1163520" y="691865"/>
                    <a:pt x="1159132" y="683606"/>
                    <a:pt x="1161497" y="675799"/>
                  </a:cubicBezTo>
                  <a:cubicBezTo>
                    <a:pt x="1163863" y="667989"/>
                    <a:pt x="1172126" y="663583"/>
                    <a:pt x="1179943" y="665959"/>
                  </a:cubicBezTo>
                  <a:cubicBezTo>
                    <a:pt x="1187657" y="668609"/>
                    <a:pt x="1191771" y="677016"/>
                    <a:pt x="1189132" y="684737"/>
                  </a:cubicBezTo>
                  <a:cubicBezTo>
                    <a:pt x="1186594" y="692078"/>
                    <a:pt x="1178846" y="696220"/>
                    <a:pt x="1171337" y="694221"/>
                  </a:cubicBezTo>
                  <a:close/>
                  <a:moveTo>
                    <a:pt x="967029" y="1831156"/>
                  </a:moveTo>
                  <a:cubicBezTo>
                    <a:pt x="974709" y="1833792"/>
                    <a:pt x="978857" y="1842110"/>
                    <a:pt x="976354" y="1849838"/>
                  </a:cubicBezTo>
                  <a:cubicBezTo>
                    <a:pt x="973989" y="1857611"/>
                    <a:pt x="965795" y="1862003"/>
                    <a:pt x="958012" y="1859647"/>
                  </a:cubicBezTo>
                  <a:cubicBezTo>
                    <a:pt x="950229" y="1857292"/>
                    <a:pt x="945840" y="1849077"/>
                    <a:pt x="948206" y="1841304"/>
                  </a:cubicBezTo>
                  <a:cubicBezTo>
                    <a:pt x="948275" y="1841088"/>
                    <a:pt x="948343" y="1840879"/>
                    <a:pt x="948411" y="1840667"/>
                  </a:cubicBezTo>
                  <a:cubicBezTo>
                    <a:pt x="950983" y="1832942"/>
                    <a:pt x="959246" y="1828701"/>
                    <a:pt x="967029" y="1831135"/>
                  </a:cubicBezTo>
                  <a:close/>
                  <a:moveTo>
                    <a:pt x="1041669" y="1589099"/>
                  </a:moveTo>
                  <a:cubicBezTo>
                    <a:pt x="1033852" y="1586640"/>
                    <a:pt x="1029532" y="1578319"/>
                    <a:pt x="1032000" y="1570516"/>
                  </a:cubicBezTo>
                  <a:cubicBezTo>
                    <a:pt x="1034434" y="1562712"/>
                    <a:pt x="1042766" y="1558379"/>
                    <a:pt x="1050583" y="1560837"/>
                  </a:cubicBezTo>
                  <a:cubicBezTo>
                    <a:pt x="1058366" y="1563299"/>
                    <a:pt x="1062720" y="1571616"/>
                    <a:pt x="1060251" y="1579420"/>
                  </a:cubicBezTo>
                  <a:cubicBezTo>
                    <a:pt x="1060251" y="1579458"/>
                    <a:pt x="1060217" y="1579492"/>
                    <a:pt x="1060217" y="1579526"/>
                  </a:cubicBezTo>
                  <a:cubicBezTo>
                    <a:pt x="1057680" y="1587240"/>
                    <a:pt x="1049417" y="1591502"/>
                    <a:pt x="1041669" y="1589102"/>
                  </a:cubicBezTo>
                  <a:close/>
                  <a:moveTo>
                    <a:pt x="1104686" y="1436184"/>
                  </a:moveTo>
                  <a:cubicBezTo>
                    <a:pt x="1102286" y="1443947"/>
                    <a:pt x="1094057" y="1448308"/>
                    <a:pt x="1086309" y="1445925"/>
                  </a:cubicBezTo>
                  <a:cubicBezTo>
                    <a:pt x="1078560" y="1443539"/>
                    <a:pt x="1074172" y="1435310"/>
                    <a:pt x="1076571" y="1427548"/>
                  </a:cubicBezTo>
                  <a:cubicBezTo>
                    <a:pt x="1078972" y="1419785"/>
                    <a:pt x="1087200" y="1415424"/>
                    <a:pt x="1094949" y="1417814"/>
                  </a:cubicBezTo>
                  <a:cubicBezTo>
                    <a:pt x="1102697" y="1420200"/>
                    <a:pt x="1107086" y="1428429"/>
                    <a:pt x="1104686" y="1436191"/>
                  </a:cubicBezTo>
                  <a:close/>
                  <a:moveTo>
                    <a:pt x="1128275" y="1310873"/>
                  </a:moveTo>
                  <a:cubicBezTo>
                    <a:pt x="1120492" y="1308501"/>
                    <a:pt x="1116137" y="1300293"/>
                    <a:pt x="1118469" y="1292517"/>
                  </a:cubicBezTo>
                  <a:cubicBezTo>
                    <a:pt x="1120903" y="1284768"/>
                    <a:pt x="1129132" y="1280455"/>
                    <a:pt x="1136880" y="1282883"/>
                  </a:cubicBezTo>
                  <a:cubicBezTo>
                    <a:pt x="1144526" y="1285272"/>
                    <a:pt x="1148846" y="1293326"/>
                    <a:pt x="1146617" y="1301010"/>
                  </a:cubicBezTo>
                  <a:cubicBezTo>
                    <a:pt x="1144251" y="1308768"/>
                    <a:pt x="1136057" y="1313167"/>
                    <a:pt x="1128275" y="1310880"/>
                  </a:cubicBezTo>
                  <a:close/>
                  <a:moveTo>
                    <a:pt x="1359874" y="564816"/>
                  </a:moveTo>
                  <a:cubicBezTo>
                    <a:pt x="1367623" y="567364"/>
                    <a:pt x="1371840" y="575709"/>
                    <a:pt x="1369303" y="583457"/>
                  </a:cubicBezTo>
                  <a:cubicBezTo>
                    <a:pt x="1366732" y="591206"/>
                    <a:pt x="1358400" y="595423"/>
                    <a:pt x="1350652" y="592876"/>
                  </a:cubicBezTo>
                  <a:cubicBezTo>
                    <a:pt x="1342937" y="590325"/>
                    <a:pt x="1338754" y="582000"/>
                    <a:pt x="1341291" y="574279"/>
                  </a:cubicBezTo>
                  <a:cubicBezTo>
                    <a:pt x="1343863" y="566582"/>
                    <a:pt x="1352126" y="562372"/>
                    <a:pt x="1359874" y="564816"/>
                  </a:cubicBezTo>
                  <a:close/>
                  <a:moveTo>
                    <a:pt x="1314960" y="707836"/>
                  </a:moveTo>
                  <a:cubicBezTo>
                    <a:pt x="1322812" y="710075"/>
                    <a:pt x="1327372" y="718252"/>
                    <a:pt x="1325109" y="726103"/>
                  </a:cubicBezTo>
                  <a:cubicBezTo>
                    <a:pt x="1322880" y="733951"/>
                    <a:pt x="1314720" y="738501"/>
                    <a:pt x="1306869" y="736265"/>
                  </a:cubicBezTo>
                  <a:cubicBezTo>
                    <a:pt x="1299017" y="734026"/>
                    <a:pt x="1294457" y="725850"/>
                    <a:pt x="1296686" y="717998"/>
                  </a:cubicBezTo>
                  <a:cubicBezTo>
                    <a:pt x="1296686" y="717971"/>
                    <a:pt x="1296720" y="717940"/>
                    <a:pt x="1296720" y="717909"/>
                  </a:cubicBezTo>
                  <a:cubicBezTo>
                    <a:pt x="1299017" y="710116"/>
                    <a:pt x="1307143" y="705621"/>
                    <a:pt x="1314960" y="707836"/>
                  </a:cubicBezTo>
                  <a:close/>
                  <a:moveTo>
                    <a:pt x="1273097" y="843072"/>
                  </a:moveTo>
                  <a:cubicBezTo>
                    <a:pt x="1280846" y="845417"/>
                    <a:pt x="1285200" y="853588"/>
                    <a:pt x="1282834" y="861319"/>
                  </a:cubicBezTo>
                  <a:cubicBezTo>
                    <a:pt x="1280503" y="869051"/>
                    <a:pt x="1272343" y="873418"/>
                    <a:pt x="1264594" y="871070"/>
                  </a:cubicBezTo>
                  <a:cubicBezTo>
                    <a:pt x="1256914" y="868735"/>
                    <a:pt x="1252526" y="860627"/>
                    <a:pt x="1254823" y="852916"/>
                  </a:cubicBezTo>
                  <a:cubicBezTo>
                    <a:pt x="1257120" y="845171"/>
                    <a:pt x="1265246" y="840751"/>
                    <a:pt x="1272994" y="843041"/>
                  </a:cubicBezTo>
                  <a:cubicBezTo>
                    <a:pt x="1273029" y="843052"/>
                    <a:pt x="1273063" y="843062"/>
                    <a:pt x="1273097" y="843072"/>
                  </a:cubicBezTo>
                  <a:close/>
                  <a:moveTo>
                    <a:pt x="1212994" y="987813"/>
                  </a:moveTo>
                  <a:cubicBezTo>
                    <a:pt x="1215463" y="980075"/>
                    <a:pt x="1223726" y="975789"/>
                    <a:pt x="1231440" y="978240"/>
                  </a:cubicBezTo>
                  <a:cubicBezTo>
                    <a:pt x="1239189" y="980695"/>
                    <a:pt x="1243475" y="988958"/>
                    <a:pt x="1241040" y="996700"/>
                  </a:cubicBezTo>
                  <a:cubicBezTo>
                    <a:pt x="1238571" y="1004428"/>
                    <a:pt x="1230343" y="1008713"/>
                    <a:pt x="1222594" y="1006279"/>
                  </a:cubicBezTo>
                  <a:cubicBezTo>
                    <a:pt x="1214880" y="1003780"/>
                    <a:pt x="1210629" y="995558"/>
                    <a:pt x="1212994" y="987813"/>
                  </a:cubicBezTo>
                  <a:close/>
                  <a:moveTo>
                    <a:pt x="1170275" y="1175829"/>
                  </a:moveTo>
                  <a:cubicBezTo>
                    <a:pt x="1162457" y="1173546"/>
                    <a:pt x="1157931" y="1165344"/>
                    <a:pt x="1160229" y="1157510"/>
                  </a:cubicBezTo>
                  <a:cubicBezTo>
                    <a:pt x="1162526" y="1149676"/>
                    <a:pt x="1170720" y="1145177"/>
                    <a:pt x="1178537" y="1147464"/>
                  </a:cubicBezTo>
                  <a:cubicBezTo>
                    <a:pt x="1186389" y="1149748"/>
                    <a:pt x="1190880" y="1157949"/>
                    <a:pt x="1188583" y="1165783"/>
                  </a:cubicBezTo>
                  <a:cubicBezTo>
                    <a:pt x="1188583" y="1165793"/>
                    <a:pt x="1188583" y="1165807"/>
                    <a:pt x="1188583" y="1165817"/>
                  </a:cubicBezTo>
                  <a:cubicBezTo>
                    <a:pt x="1186286" y="1173635"/>
                    <a:pt x="1178091" y="1178112"/>
                    <a:pt x="1170275" y="1175829"/>
                  </a:cubicBezTo>
                  <a:close/>
                  <a:moveTo>
                    <a:pt x="1101806" y="1872964"/>
                  </a:moveTo>
                  <a:cubicBezTo>
                    <a:pt x="1109520" y="1875484"/>
                    <a:pt x="1113909" y="1883585"/>
                    <a:pt x="1111817" y="1891420"/>
                  </a:cubicBezTo>
                  <a:cubicBezTo>
                    <a:pt x="1109109" y="1899024"/>
                    <a:pt x="1101120" y="1903379"/>
                    <a:pt x="1093269" y="1901524"/>
                  </a:cubicBezTo>
                  <a:cubicBezTo>
                    <a:pt x="1085589" y="1898904"/>
                    <a:pt x="1081269" y="1890779"/>
                    <a:pt x="1083394" y="1882955"/>
                  </a:cubicBezTo>
                  <a:cubicBezTo>
                    <a:pt x="1085795" y="1875179"/>
                    <a:pt x="1093989" y="1870742"/>
                    <a:pt x="1101806" y="1872964"/>
                  </a:cubicBezTo>
                  <a:close/>
                  <a:moveTo>
                    <a:pt x="1671977" y="513710"/>
                  </a:moveTo>
                  <a:cubicBezTo>
                    <a:pt x="1679589" y="516052"/>
                    <a:pt x="1683874" y="524126"/>
                    <a:pt x="1681543" y="531744"/>
                  </a:cubicBezTo>
                  <a:cubicBezTo>
                    <a:pt x="1681509" y="531874"/>
                    <a:pt x="1681440" y="532005"/>
                    <a:pt x="1681406" y="532135"/>
                  </a:cubicBezTo>
                  <a:cubicBezTo>
                    <a:pt x="1678903" y="539819"/>
                    <a:pt x="1670674" y="544032"/>
                    <a:pt x="1662994" y="541543"/>
                  </a:cubicBezTo>
                  <a:cubicBezTo>
                    <a:pt x="1655315" y="539054"/>
                    <a:pt x="1651097" y="530805"/>
                    <a:pt x="1653566" y="523121"/>
                  </a:cubicBezTo>
                  <a:cubicBezTo>
                    <a:pt x="1656069" y="515445"/>
                    <a:pt x="1664297" y="511231"/>
                    <a:pt x="1671977" y="513707"/>
                  </a:cubicBezTo>
                  <a:close/>
                  <a:moveTo>
                    <a:pt x="1611497" y="658739"/>
                  </a:moveTo>
                  <a:cubicBezTo>
                    <a:pt x="1613726" y="650966"/>
                    <a:pt x="1621817" y="646457"/>
                    <a:pt x="1629566" y="648669"/>
                  </a:cubicBezTo>
                  <a:cubicBezTo>
                    <a:pt x="1637349" y="650884"/>
                    <a:pt x="1641874" y="658979"/>
                    <a:pt x="1639646" y="666751"/>
                  </a:cubicBezTo>
                  <a:cubicBezTo>
                    <a:pt x="1637417" y="674524"/>
                    <a:pt x="1629326" y="679032"/>
                    <a:pt x="1621577" y="676817"/>
                  </a:cubicBezTo>
                  <a:cubicBezTo>
                    <a:pt x="1613795" y="674606"/>
                    <a:pt x="1609269" y="666511"/>
                    <a:pt x="1611497" y="658739"/>
                  </a:cubicBezTo>
                  <a:close/>
                  <a:moveTo>
                    <a:pt x="1577006" y="820077"/>
                  </a:moveTo>
                  <a:cubicBezTo>
                    <a:pt x="1569154" y="817859"/>
                    <a:pt x="1564594" y="809692"/>
                    <a:pt x="1566789" y="801833"/>
                  </a:cubicBezTo>
                  <a:cubicBezTo>
                    <a:pt x="1569017" y="793979"/>
                    <a:pt x="1577177" y="789408"/>
                    <a:pt x="1585029" y="791630"/>
                  </a:cubicBezTo>
                  <a:cubicBezTo>
                    <a:pt x="1592880" y="793848"/>
                    <a:pt x="1597475" y="802015"/>
                    <a:pt x="1595246" y="809870"/>
                  </a:cubicBezTo>
                  <a:cubicBezTo>
                    <a:pt x="1595246" y="809915"/>
                    <a:pt x="1595212" y="809956"/>
                    <a:pt x="1595212" y="809997"/>
                  </a:cubicBezTo>
                  <a:cubicBezTo>
                    <a:pt x="1592949" y="817790"/>
                    <a:pt x="1584823" y="822292"/>
                    <a:pt x="1577006" y="820077"/>
                  </a:cubicBezTo>
                  <a:close/>
                  <a:moveTo>
                    <a:pt x="1543714" y="927011"/>
                  </a:moveTo>
                  <a:cubicBezTo>
                    <a:pt x="1551429" y="929452"/>
                    <a:pt x="1555680" y="937684"/>
                    <a:pt x="1553246" y="945391"/>
                  </a:cubicBezTo>
                  <a:cubicBezTo>
                    <a:pt x="1550812" y="953102"/>
                    <a:pt x="1542583" y="957371"/>
                    <a:pt x="1534869" y="954930"/>
                  </a:cubicBezTo>
                  <a:cubicBezTo>
                    <a:pt x="1527154" y="952488"/>
                    <a:pt x="1522903" y="944256"/>
                    <a:pt x="1525337" y="936549"/>
                  </a:cubicBezTo>
                  <a:cubicBezTo>
                    <a:pt x="1525337" y="936542"/>
                    <a:pt x="1525337" y="936539"/>
                    <a:pt x="1525337" y="936532"/>
                  </a:cubicBezTo>
                  <a:cubicBezTo>
                    <a:pt x="1527669" y="928900"/>
                    <a:pt x="1535726" y="924590"/>
                    <a:pt x="1543372" y="926908"/>
                  </a:cubicBezTo>
                  <a:cubicBezTo>
                    <a:pt x="1543475" y="926942"/>
                    <a:pt x="1543611" y="926980"/>
                    <a:pt x="1543714" y="927021"/>
                  </a:cubicBezTo>
                  <a:close/>
                  <a:moveTo>
                    <a:pt x="1501440" y="1061880"/>
                  </a:moveTo>
                  <a:cubicBezTo>
                    <a:pt x="1509257" y="1064143"/>
                    <a:pt x="1513783" y="1072324"/>
                    <a:pt x="1511520" y="1080155"/>
                  </a:cubicBezTo>
                  <a:cubicBezTo>
                    <a:pt x="1509257" y="1087985"/>
                    <a:pt x="1501063" y="1092497"/>
                    <a:pt x="1493246" y="1090235"/>
                  </a:cubicBezTo>
                  <a:cubicBezTo>
                    <a:pt x="1485429" y="1087972"/>
                    <a:pt x="1480903" y="1079791"/>
                    <a:pt x="1483166" y="1071960"/>
                  </a:cubicBezTo>
                  <a:cubicBezTo>
                    <a:pt x="1485429" y="1064129"/>
                    <a:pt x="1493623" y="1059618"/>
                    <a:pt x="1501440" y="1061880"/>
                  </a:cubicBezTo>
                  <a:close/>
                  <a:moveTo>
                    <a:pt x="1449326" y="1231468"/>
                  </a:moveTo>
                  <a:cubicBezTo>
                    <a:pt x="1457109" y="1233895"/>
                    <a:pt x="1461463" y="1242179"/>
                    <a:pt x="1459029" y="1249968"/>
                  </a:cubicBezTo>
                  <a:cubicBezTo>
                    <a:pt x="1456594" y="1257758"/>
                    <a:pt x="1448332" y="1262105"/>
                    <a:pt x="1440549" y="1259678"/>
                  </a:cubicBezTo>
                  <a:cubicBezTo>
                    <a:pt x="1432732" y="1257251"/>
                    <a:pt x="1428411" y="1248967"/>
                    <a:pt x="1430812" y="1241177"/>
                  </a:cubicBezTo>
                  <a:cubicBezTo>
                    <a:pt x="1430846" y="1241119"/>
                    <a:pt x="1430846" y="1241064"/>
                    <a:pt x="1430880" y="1241006"/>
                  </a:cubicBezTo>
                  <a:cubicBezTo>
                    <a:pt x="1433315" y="1233288"/>
                    <a:pt x="1441577" y="1229016"/>
                    <a:pt x="1449291" y="1231464"/>
                  </a:cubicBezTo>
                  <a:cubicBezTo>
                    <a:pt x="1449291" y="1231471"/>
                    <a:pt x="1449326" y="1231475"/>
                    <a:pt x="1449326" y="1231478"/>
                  </a:cubicBezTo>
                  <a:close/>
                  <a:moveTo>
                    <a:pt x="1312320" y="1673068"/>
                  </a:moveTo>
                  <a:cubicBezTo>
                    <a:pt x="1304434" y="1670836"/>
                    <a:pt x="1299874" y="1662645"/>
                    <a:pt x="1302103" y="1654773"/>
                  </a:cubicBezTo>
                  <a:cubicBezTo>
                    <a:pt x="1304332" y="1646897"/>
                    <a:pt x="1312526" y="1642324"/>
                    <a:pt x="1320411" y="1644552"/>
                  </a:cubicBezTo>
                  <a:cubicBezTo>
                    <a:pt x="1328263" y="1646784"/>
                    <a:pt x="1332857" y="1654975"/>
                    <a:pt x="1330629" y="1662851"/>
                  </a:cubicBezTo>
                  <a:cubicBezTo>
                    <a:pt x="1330594" y="1662912"/>
                    <a:pt x="1330594" y="1662977"/>
                    <a:pt x="1330560" y="1663043"/>
                  </a:cubicBezTo>
                  <a:cubicBezTo>
                    <a:pt x="1328263" y="1670832"/>
                    <a:pt x="1320137" y="1675314"/>
                    <a:pt x="1312320" y="1673078"/>
                  </a:cubicBezTo>
                  <a:close/>
                  <a:moveTo>
                    <a:pt x="1366046" y="1501855"/>
                  </a:moveTo>
                  <a:cubicBezTo>
                    <a:pt x="1373726" y="1504598"/>
                    <a:pt x="1377703" y="1513036"/>
                    <a:pt x="1374960" y="1520702"/>
                  </a:cubicBezTo>
                  <a:cubicBezTo>
                    <a:pt x="1372217" y="1528368"/>
                    <a:pt x="1363783" y="1532359"/>
                    <a:pt x="1356103" y="1529616"/>
                  </a:cubicBezTo>
                  <a:cubicBezTo>
                    <a:pt x="1348457" y="1526873"/>
                    <a:pt x="1344446" y="1518436"/>
                    <a:pt x="1347189" y="1510770"/>
                  </a:cubicBezTo>
                  <a:cubicBezTo>
                    <a:pt x="1347223" y="1510745"/>
                    <a:pt x="1347223" y="1510725"/>
                    <a:pt x="1347223" y="1510701"/>
                  </a:cubicBezTo>
                  <a:cubicBezTo>
                    <a:pt x="1349931" y="1503086"/>
                    <a:pt x="1358297" y="1499105"/>
                    <a:pt x="1365909" y="1501811"/>
                  </a:cubicBezTo>
                  <a:cubicBezTo>
                    <a:pt x="1365943" y="1501824"/>
                    <a:pt x="1366012" y="1501842"/>
                    <a:pt x="1366046" y="1501859"/>
                  </a:cubicBezTo>
                  <a:close/>
                  <a:moveTo>
                    <a:pt x="1407737" y="1366807"/>
                  </a:moveTo>
                  <a:cubicBezTo>
                    <a:pt x="1415417" y="1369458"/>
                    <a:pt x="1419497" y="1377827"/>
                    <a:pt x="1416823" y="1385500"/>
                  </a:cubicBezTo>
                  <a:cubicBezTo>
                    <a:pt x="1414183" y="1393173"/>
                    <a:pt x="1405817" y="1397243"/>
                    <a:pt x="1398137" y="1394592"/>
                  </a:cubicBezTo>
                  <a:cubicBezTo>
                    <a:pt x="1390457" y="1391942"/>
                    <a:pt x="1386377" y="1383573"/>
                    <a:pt x="1389052" y="1375900"/>
                  </a:cubicBezTo>
                  <a:cubicBezTo>
                    <a:pt x="1389052" y="1375862"/>
                    <a:pt x="1389086" y="1375821"/>
                    <a:pt x="1389086" y="1375783"/>
                  </a:cubicBezTo>
                  <a:cubicBezTo>
                    <a:pt x="1391657" y="1368203"/>
                    <a:pt x="1399886" y="1364143"/>
                    <a:pt x="1407463" y="1366718"/>
                  </a:cubicBezTo>
                  <a:cubicBezTo>
                    <a:pt x="1407566" y="1366749"/>
                    <a:pt x="1407635" y="1366780"/>
                    <a:pt x="1407737" y="1366811"/>
                  </a:cubicBezTo>
                  <a:close/>
                  <a:moveTo>
                    <a:pt x="1278652" y="1779950"/>
                  </a:moveTo>
                  <a:cubicBezTo>
                    <a:pt x="1286400" y="1782189"/>
                    <a:pt x="1290857" y="1790273"/>
                    <a:pt x="1288594" y="1798008"/>
                  </a:cubicBezTo>
                  <a:cubicBezTo>
                    <a:pt x="1286366" y="1805747"/>
                    <a:pt x="1278275" y="1810204"/>
                    <a:pt x="1270560" y="1807965"/>
                  </a:cubicBezTo>
                  <a:cubicBezTo>
                    <a:pt x="1262812" y="1805733"/>
                    <a:pt x="1258354" y="1797669"/>
                    <a:pt x="1260583" y="1789941"/>
                  </a:cubicBezTo>
                  <a:cubicBezTo>
                    <a:pt x="1262606" y="1782302"/>
                    <a:pt x="1270423" y="1777749"/>
                    <a:pt x="1278069" y="1779768"/>
                  </a:cubicBezTo>
                  <a:cubicBezTo>
                    <a:pt x="1278275" y="1779820"/>
                    <a:pt x="1278446" y="1779878"/>
                    <a:pt x="1278652" y="1779936"/>
                  </a:cubicBezTo>
                  <a:close/>
                  <a:moveTo>
                    <a:pt x="1236823" y="1914871"/>
                  </a:moveTo>
                  <a:cubicBezTo>
                    <a:pt x="1244606" y="1917172"/>
                    <a:pt x="1249063" y="1925356"/>
                    <a:pt x="1246766" y="1933149"/>
                  </a:cubicBezTo>
                  <a:cubicBezTo>
                    <a:pt x="1246766" y="1933156"/>
                    <a:pt x="1246766" y="1933163"/>
                    <a:pt x="1246766" y="1933169"/>
                  </a:cubicBezTo>
                  <a:cubicBezTo>
                    <a:pt x="1244709" y="1940980"/>
                    <a:pt x="1236720" y="1945660"/>
                    <a:pt x="1228937" y="1943616"/>
                  </a:cubicBezTo>
                  <a:cubicBezTo>
                    <a:pt x="1221120" y="1941576"/>
                    <a:pt x="1216423" y="1933588"/>
                    <a:pt x="1218480" y="1925774"/>
                  </a:cubicBezTo>
                  <a:cubicBezTo>
                    <a:pt x="1218549" y="1925534"/>
                    <a:pt x="1218617" y="1925294"/>
                    <a:pt x="1218686" y="1925054"/>
                  </a:cubicBezTo>
                  <a:cubicBezTo>
                    <a:pt x="1220880" y="1917237"/>
                    <a:pt x="1228972" y="1912667"/>
                    <a:pt x="1236789" y="1914851"/>
                  </a:cubicBezTo>
                  <a:cubicBezTo>
                    <a:pt x="1236789" y="1914851"/>
                    <a:pt x="1236823" y="1914854"/>
                    <a:pt x="1236823" y="1914857"/>
                  </a:cubicBezTo>
                  <a:close/>
                  <a:moveTo>
                    <a:pt x="1414389" y="1822056"/>
                  </a:moveTo>
                  <a:cubicBezTo>
                    <a:pt x="1422000" y="1824672"/>
                    <a:pt x="1426046" y="1832969"/>
                    <a:pt x="1423440" y="1840584"/>
                  </a:cubicBezTo>
                  <a:cubicBezTo>
                    <a:pt x="1420834" y="1848203"/>
                    <a:pt x="1412537" y="1852255"/>
                    <a:pt x="1404926" y="1849636"/>
                  </a:cubicBezTo>
                  <a:cubicBezTo>
                    <a:pt x="1397349" y="1847040"/>
                    <a:pt x="1393303" y="1838853"/>
                    <a:pt x="1395806" y="1831269"/>
                  </a:cubicBezTo>
                  <a:cubicBezTo>
                    <a:pt x="1398377" y="1823592"/>
                    <a:pt x="1406709" y="1819461"/>
                    <a:pt x="1414389" y="1822039"/>
                  </a:cubicBezTo>
                  <a:cubicBezTo>
                    <a:pt x="1414389" y="1822043"/>
                    <a:pt x="1414389" y="1822043"/>
                    <a:pt x="1414389" y="1822043"/>
                  </a:cubicBezTo>
                  <a:close/>
                  <a:moveTo>
                    <a:pt x="1372320" y="1956909"/>
                  </a:moveTo>
                  <a:cubicBezTo>
                    <a:pt x="1380000" y="1959518"/>
                    <a:pt x="1384251" y="1967709"/>
                    <a:pt x="1381989" y="1975495"/>
                  </a:cubicBezTo>
                  <a:cubicBezTo>
                    <a:pt x="1379280" y="1983117"/>
                    <a:pt x="1371189" y="1987392"/>
                    <a:pt x="1363372" y="1985332"/>
                  </a:cubicBezTo>
                  <a:cubicBezTo>
                    <a:pt x="1355726" y="1982610"/>
                    <a:pt x="1351543" y="1974395"/>
                    <a:pt x="1353840" y="1966615"/>
                  </a:cubicBezTo>
                  <a:cubicBezTo>
                    <a:pt x="1356309" y="1958877"/>
                    <a:pt x="1364537" y="1954550"/>
                    <a:pt x="1372320" y="1956895"/>
                  </a:cubicBezTo>
                  <a:close/>
                  <a:moveTo>
                    <a:pt x="1456115" y="1686669"/>
                  </a:moveTo>
                  <a:cubicBezTo>
                    <a:pt x="1463931" y="1689103"/>
                    <a:pt x="1468286" y="1697407"/>
                    <a:pt x="1465852" y="1705214"/>
                  </a:cubicBezTo>
                  <a:cubicBezTo>
                    <a:pt x="1463417" y="1713024"/>
                    <a:pt x="1455120" y="1717386"/>
                    <a:pt x="1447303" y="1714951"/>
                  </a:cubicBezTo>
                  <a:cubicBezTo>
                    <a:pt x="1439486" y="1712517"/>
                    <a:pt x="1435132" y="1704209"/>
                    <a:pt x="1437566" y="1696396"/>
                  </a:cubicBezTo>
                  <a:cubicBezTo>
                    <a:pt x="1440000" y="1688582"/>
                    <a:pt x="1448297" y="1684221"/>
                    <a:pt x="1456115" y="1686655"/>
                  </a:cubicBezTo>
                  <a:close/>
                  <a:moveTo>
                    <a:pt x="1500480" y="1543560"/>
                  </a:moveTo>
                  <a:cubicBezTo>
                    <a:pt x="1508194" y="1546101"/>
                    <a:pt x="1512514" y="1554278"/>
                    <a:pt x="1510251" y="1562075"/>
                  </a:cubicBezTo>
                  <a:cubicBezTo>
                    <a:pt x="1507817" y="1569861"/>
                    <a:pt x="1499520" y="1574201"/>
                    <a:pt x="1491737" y="1571767"/>
                  </a:cubicBezTo>
                  <a:cubicBezTo>
                    <a:pt x="1483955" y="1569333"/>
                    <a:pt x="1479635" y="1561049"/>
                    <a:pt x="1482069" y="1553263"/>
                  </a:cubicBezTo>
                  <a:cubicBezTo>
                    <a:pt x="1484469" y="1545508"/>
                    <a:pt x="1492697" y="1541167"/>
                    <a:pt x="1500480" y="1543547"/>
                  </a:cubicBezTo>
                  <a:close/>
                  <a:moveTo>
                    <a:pt x="1575806" y="1301640"/>
                  </a:moveTo>
                  <a:cubicBezTo>
                    <a:pt x="1567989" y="1299302"/>
                    <a:pt x="1563566" y="1291070"/>
                    <a:pt x="1565897" y="1283256"/>
                  </a:cubicBezTo>
                  <a:cubicBezTo>
                    <a:pt x="1568194" y="1275508"/>
                    <a:pt x="1576320" y="1271064"/>
                    <a:pt x="1584103" y="1273289"/>
                  </a:cubicBezTo>
                  <a:cubicBezTo>
                    <a:pt x="1591989" y="1275343"/>
                    <a:pt x="1596720" y="1283407"/>
                    <a:pt x="1594697" y="1291300"/>
                  </a:cubicBezTo>
                  <a:cubicBezTo>
                    <a:pt x="1592640" y="1299196"/>
                    <a:pt x="1584549" y="1303931"/>
                    <a:pt x="1576663" y="1301880"/>
                  </a:cubicBezTo>
                  <a:cubicBezTo>
                    <a:pt x="1576389" y="1301805"/>
                    <a:pt x="1576080" y="1301719"/>
                    <a:pt x="1575806" y="1301627"/>
                  </a:cubicBezTo>
                  <a:close/>
                  <a:moveTo>
                    <a:pt x="1628229" y="1132135"/>
                  </a:moveTo>
                  <a:cubicBezTo>
                    <a:pt x="1620446" y="1129725"/>
                    <a:pt x="1616091" y="1121455"/>
                    <a:pt x="1618492" y="1113665"/>
                  </a:cubicBezTo>
                  <a:cubicBezTo>
                    <a:pt x="1620892" y="1105941"/>
                    <a:pt x="1629052" y="1101576"/>
                    <a:pt x="1636800" y="1103880"/>
                  </a:cubicBezTo>
                  <a:cubicBezTo>
                    <a:pt x="1644514" y="1106376"/>
                    <a:pt x="1648869" y="1114523"/>
                    <a:pt x="1646674" y="1122326"/>
                  </a:cubicBezTo>
                  <a:cubicBezTo>
                    <a:pt x="1644206" y="1130057"/>
                    <a:pt x="1636012" y="1134408"/>
                    <a:pt x="1628229" y="1132121"/>
                  </a:cubicBezTo>
                  <a:close/>
                  <a:moveTo>
                    <a:pt x="1507475" y="1998854"/>
                  </a:moveTo>
                  <a:cubicBezTo>
                    <a:pt x="1514914" y="2001024"/>
                    <a:pt x="1519166" y="2008804"/>
                    <a:pt x="1517006" y="2016230"/>
                  </a:cubicBezTo>
                  <a:cubicBezTo>
                    <a:pt x="1516869" y="2016593"/>
                    <a:pt x="1516766" y="2016950"/>
                    <a:pt x="1516629" y="2017303"/>
                  </a:cubicBezTo>
                  <a:cubicBezTo>
                    <a:pt x="1514537" y="2024942"/>
                    <a:pt x="1506617" y="2029433"/>
                    <a:pt x="1499006" y="2027332"/>
                  </a:cubicBezTo>
                  <a:cubicBezTo>
                    <a:pt x="1498800" y="2027284"/>
                    <a:pt x="1498629" y="2027229"/>
                    <a:pt x="1498457" y="2027174"/>
                  </a:cubicBezTo>
                  <a:cubicBezTo>
                    <a:pt x="1490777" y="2024513"/>
                    <a:pt x="1486594" y="2016257"/>
                    <a:pt x="1488994" y="2008499"/>
                  </a:cubicBezTo>
                  <a:cubicBezTo>
                    <a:pt x="1491463" y="2000743"/>
                    <a:pt x="1499692" y="1996430"/>
                    <a:pt x="1507475" y="1998840"/>
                  </a:cubicBezTo>
                  <a:close/>
                  <a:moveTo>
                    <a:pt x="1626994" y="1613682"/>
                  </a:moveTo>
                  <a:cubicBezTo>
                    <a:pt x="1619246" y="1611162"/>
                    <a:pt x="1615029" y="1602844"/>
                    <a:pt x="1617532" y="1595102"/>
                  </a:cubicBezTo>
                  <a:cubicBezTo>
                    <a:pt x="1619966" y="1587624"/>
                    <a:pt x="1627852" y="1583370"/>
                    <a:pt x="1635429" y="1585437"/>
                  </a:cubicBezTo>
                  <a:cubicBezTo>
                    <a:pt x="1643143" y="1588067"/>
                    <a:pt x="1647257" y="1596446"/>
                    <a:pt x="1644617" y="1604150"/>
                  </a:cubicBezTo>
                  <a:cubicBezTo>
                    <a:pt x="1642149" y="1611439"/>
                    <a:pt x="1634469" y="1615588"/>
                    <a:pt x="1626994" y="1613668"/>
                  </a:cubicBezTo>
                  <a:close/>
                  <a:moveTo>
                    <a:pt x="1814023" y="1010887"/>
                  </a:moveTo>
                  <a:cubicBezTo>
                    <a:pt x="1821635" y="1013572"/>
                    <a:pt x="1825646" y="1021931"/>
                    <a:pt x="1822972" y="1029559"/>
                  </a:cubicBezTo>
                  <a:cubicBezTo>
                    <a:pt x="1820400" y="1036900"/>
                    <a:pt x="1812514" y="1040935"/>
                    <a:pt x="1805040" y="1038744"/>
                  </a:cubicBezTo>
                  <a:cubicBezTo>
                    <a:pt x="1797360" y="1036265"/>
                    <a:pt x="1793109" y="1028013"/>
                    <a:pt x="1795611" y="1020316"/>
                  </a:cubicBezTo>
                  <a:cubicBezTo>
                    <a:pt x="1798080" y="1012622"/>
                    <a:pt x="1806343" y="1008395"/>
                    <a:pt x="1814023" y="1010873"/>
                  </a:cubicBezTo>
                  <a:close/>
                  <a:moveTo>
                    <a:pt x="1855749" y="875599"/>
                  </a:moveTo>
                  <a:cubicBezTo>
                    <a:pt x="1863463" y="878232"/>
                    <a:pt x="1867611" y="886629"/>
                    <a:pt x="1864972" y="894357"/>
                  </a:cubicBezTo>
                  <a:cubicBezTo>
                    <a:pt x="1862469" y="901742"/>
                    <a:pt x="1854652" y="905897"/>
                    <a:pt x="1847109" y="903854"/>
                  </a:cubicBezTo>
                  <a:cubicBezTo>
                    <a:pt x="1839291" y="901468"/>
                    <a:pt x="1834903" y="893208"/>
                    <a:pt x="1837303" y="885405"/>
                  </a:cubicBezTo>
                  <a:cubicBezTo>
                    <a:pt x="1839669" y="877598"/>
                    <a:pt x="1847931" y="873206"/>
                    <a:pt x="1855749" y="875592"/>
                  </a:cubicBezTo>
                  <a:close/>
                  <a:moveTo>
                    <a:pt x="1686789" y="1468807"/>
                  </a:moveTo>
                  <a:cubicBezTo>
                    <a:pt x="1684869" y="1476285"/>
                    <a:pt x="1677257" y="1480787"/>
                    <a:pt x="1669783" y="1478863"/>
                  </a:cubicBezTo>
                  <a:cubicBezTo>
                    <a:pt x="1669406" y="1478771"/>
                    <a:pt x="1669029" y="1478661"/>
                    <a:pt x="1668686" y="1478538"/>
                  </a:cubicBezTo>
                  <a:cubicBezTo>
                    <a:pt x="1660972" y="1476011"/>
                    <a:pt x="1656754" y="1467710"/>
                    <a:pt x="1659291" y="1459999"/>
                  </a:cubicBezTo>
                  <a:cubicBezTo>
                    <a:pt x="1661795" y="1452401"/>
                    <a:pt x="1669886" y="1448188"/>
                    <a:pt x="1677532" y="1450512"/>
                  </a:cubicBezTo>
                  <a:cubicBezTo>
                    <a:pt x="1684937" y="1452580"/>
                    <a:pt x="1689223" y="1460243"/>
                    <a:pt x="1687166" y="1467635"/>
                  </a:cubicBezTo>
                  <a:cubicBezTo>
                    <a:pt x="1687063" y="1468025"/>
                    <a:pt x="1686926" y="1468413"/>
                    <a:pt x="1686789" y="1468793"/>
                  </a:cubicBezTo>
                  <a:close/>
                  <a:moveTo>
                    <a:pt x="1719223" y="1315207"/>
                  </a:moveTo>
                  <a:cubicBezTo>
                    <a:pt x="1726972" y="1317731"/>
                    <a:pt x="1731223" y="1326069"/>
                    <a:pt x="1728686" y="1333828"/>
                  </a:cubicBezTo>
                  <a:cubicBezTo>
                    <a:pt x="1726286" y="1341288"/>
                    <a:pt x="1718434" y="1345550"/>
                    <a:pt x="1710857" y="1343534"/>
                  </a:cubicBezTo>
                  <a:cubicBezTo>
                    <a:pt x="1703040" y="1341223"/>
                    <a:pt x="1698549" y="1333008"/>
                    <a:pt x="1700880" y="1325181"/>
                  </a:cubicBezTo>
                  <a:cubicBezTo>
                    <a:pt x="1703177" y="1317353"/>
                    <a:pt x="1711406" y="1312883"/>
                    <a:pt x="1719223" y="1315193"/>
                  </a:cubicBezTo>
                  <a:close/>
                  <a:moveTo>
                    <a:pt x="1549543" y="1863988"/>
                  </a:moveTo>
                  <a:cubicBezTo>
                    <a:pt x="1557154" y="1866659"/>
                    <a:pt x="1561132" y="1874987"/>
                    <a:pt x="1558457" y="1882584"/>
                  </a:cubicBezTo>
                  <a:cubicBezTo>
                    <a:pt x="1555852" y="1890035"/>
                    <a:pt x="1547760" y="1894049"/>
                    <a:pt x="1540251" y="1891636"/>
                  </a:cubicBezTo>
                  <a:cubicBezTo>
                    <a:pt x="1532606" y="1889071"/>
                    <a:pt x="1528492" y="1880798"/>
                    <a:pt x="1531063" y="1873159"/>
                  </a:cubicBezTo>
                  <a:cubicBezTo>
                    <a:pt x="1533635" y="1865520"/>
                    <a:pt x="1541897" y="1861409"/>
                    <a:pt x="1549543" y="1863974"/>
                  </a:cubicBezTo>
                  <a:close/>
                  <a:moveTo>
                    <a:pt x="1591372" y="1728635"/>
                  </a:moveTo>
                  <a:cubicBezTo>
                    <a:pt x="1598846" y="1730963"/>
                    <a:pt x="1603029" y="1738910"/>
                    <a:pt x="1600697" y="1746384"/>
                  </a:cubicBezTo>
                  <a:cubicBezTo>
                    <a:pt x="1600594" y="1746641"/>
                    <a:pt x="1600526" y="1746895"/>
                    <a:pt x="1600423" y="1747149"/>
                  </a:cubicBezTo>
                  <a:cubicBezTo>
                    <a:pt x="1598469" y="1754613"/>
                    <a:pt x="1590823" y="1759077"/>
                    <a:pt x="1583383" y="1757119"/>
                  </a:cubicBezTo>
                  <a:cubicBezTo>
                    <a:pt x="1583006" y="1757023"/>
                    <a:pt x="1582629" y="1756907"/>
                    <a:pt x="1582251" y="1756776"/>
                  </a:cubicBezTo>
                  <a:cubicBezTo>
                    <a:pt x="1574469" y="1754256"/>
                    <a:pt x="1570217" y="1745915"/>
                    <a:pt x="1572720" y="1738139"/>
                  </a:cubicBezTo>
                  <a:cubicBezTo>
                    <a:pt x="1575257" y="1730363"/>
                    <a:pt x="1583589" y="1726104"/>
                    <a:pt x="1591372" y="1728621"/>
                  </a:cubicBezTo>
                  <a:close/>
                  <a:moveTo>
                    <a:pt x="1933132" y="625320"/>
                  </a:moveTo>
                  <a:cubicBezTo>
                    <a:pt x="1925486" y="622773"/>
                    <a:pt x="1921337" y="614503"/>
                    <a:pt x="1923874" y="606844"/>
                  </a:cubicBezTo>
                  <a:cubicBezTo>
                    <a:pt x="1926411" y="599188"/>
                    <a:pt x="1934709" y="595046"/>
                    <a:pt x="1942354" y="597593"/>
                  </a:cubicBezTo>
                  <a:cubicBezTo>
                    <a:pt x="1949692" y="599726"/>
                    <a:pt x="1953909" y="607396"/>
                    <a:pt x="1951783" y="614729"/>
                  </a:cubicBezTo>
                  <a:cubicBezTo>
                    <a:pt x="1951646" y="615158"/>
                    <a:pt x="1951509" y="615583"/>
                    <a:pt x="1951337" y="615998"/>
                  </a:cubicBezTo>
                  <a:cubicBezTo>
                    <a:pt x="1949451" y="623311"/>
                    <a:pt x="1941977" y="627700"/>
                    <a:pt x="1934674" y="625800"/>
                  </a:cubicBezTo>
                  <a:cubicBezTo>
                    <a:pt x="1934126" y="625667"/>
                    <a:pt x="1933646" y="625502"/>
                    <a:pt x="1933132" y="625307"/>
                  </a:cubicBezTo>
                  <a:close/>
                  <a:moveTo>
                    <a:pt x="1909577" y="750669"/>
                  </a:moveTo>
                  <a:cubicBezTo>
                    <a:pt x="1907760" y="758195"/>
                    <a:pt x="1900183" y="762820"/>
                    <a:pt x="1892640" y="760999"/>
                  </a:cubicBezTo>
                  <a:cubicBezTo>
                    <a:pt x="1892297" y="760913"/>
                    <a:pt x="1891955" y="760817"/>
                    <a:pt x="1891611" y="760704"/>
                  </a:cubicBezTo>
                  <a:cubicBezTo>
                    <a:pt x="1883795" y="758376"/>
                    <a:pt x="1879372" y="750158"/>
                    <a:pt x="1881703" y="742348"/>
                  </a:cubicBezTo>
                  <a:cubicBezTo>
                    <a:pt x="1884034" y="734541"/>
                    <a:pt x="1892229" y="730101"/>
                    <a:pt x="1900046" y="732429"/>
                  </a:cubicBezTo>
                  <a:cubicBezTo>
                    <a:pt x="1907486" y="734387"/>
                    <a:pt x="1911909" y="742005"/>
                    <a:pt x="1909955" y="749441"/>
                  </a:cubicBezTo>
                  <a:cubicBezTo>
                    <a:pt x="1909852" y="749856"/>
                    <a:pt x="1909714" y="750264"/>
                    <a:pt x="1909577" y="750669"/>
                  </a:cubicBezTo>
                  <a:close/>
                  <a:moveTo>
                    <a:pt x="1763006" y="1173947"/>
                  </a:moveTo>
                  <a:cubicBezTo>
                    <a:pt x="1755257" y="1171409"/>
                    <a:pt x="1751040" y="1163068"/>
                    <a:pt x="1753577" y="1155316"/>
                  </a:cubicBezTo>
                  <a:cubicBezTo>
                    <a:pt x="1756115" y="1147567"/>
                    <a:pt x="1764446" y="1143340"/>
                    <a:pt x="1772194" y="1145877"/>
                  </a:cubicBezTo>
                  <a:cubicBezTo>
                    <a:pt x="1779874" y="1148637"/>
                    <a:pt x="1783852" y="1157099"/>
                    <a:pt x="1781109" y="1164775"/>
                  </a:cubicBezTo>
                  <a:cubicBezTo>
                    <a:pt x="1778469" y="1172147"/>
                    <a:pt x="1770514" y="1176168"/>
                    <a:pt x="1763006" y="1173947"/>
                  </a:cubicBezTo>
                  <a:close/>
                </a:path>
              </a:pathLst>
            </a:custGeom>
            <a:solidFill>
              <a:schemeClr val="accent1"/>
            </a:solidFill>
            <a:ln w="3429" cap="flat">
              <a:noFill/>
              <a:prstDash val="solid"/>
              <a:miter/>
            </a:ln>
          </p:spPr>
          <p:txBody>
            <a:bodyPr rtlCol="0" anchor="ctr"/>
            <a:lstStyle/>
            <a:p>
              <a:endParaRPr lang="zh-CN" altLang="en-US">
                <a:cs typeface="思源黑体 Regular" panose="020B0500000000000000" charset="-122"/>
              </a:endParaRPr>
            </a:p>
          </p:txBody>
        </p:sp>
        <p:pic>
          <p:nvPicPr>
            <p:cNvPr id="228" name="图片 227" descr="C:/Users/WPS/Desktop/AI图片边框/图片素材/1e632f4e-ee98-4059-9e90-49fd02da27b5.jpg1e632f4e-ee98-4059-9e90-49fd02da27b5"/>
            <p:cNvPicPr>
              <a:picLocks noChangeAspect="1"/>
            </p:cNvPicPr>
            <p:nvPr>
              <p:custDataLst>
                <p:tags r:id="rId21"/>
              </p:custDataLst>
            </p:nvPr>
          </p:nvPicPr>
          <p:blipFill>
            <a:blip r:embed="rId22"/>
            <a:srcRect l="22148" t="-4" r="22148" b="-4"/>
            <a:stretch>
              <a:fillRect/>
            </a:stretch>
          </p:blipFill>
          <p:spPr>
            <a:xfrm>
              <a:off x="2475" y="3258"/>
              <a:ext cx="12571" cy="12573"/>
            </a:xfrm>
            <a:custGeom>
              <a:avLst/>
              <a:gdLst/>
              <a:ahLst/>
              <a:cxnLst>
                <a:cxn ang="3">
                  <a:pos x="hc" y="t"/>
                </a:cxn>
                <a:cxn ang="cd2">
                  <a:pos x="l" y="vc"/>
                </a:cxn>
                <a:cxn ang="cd4">
                  <a:pos x="hc" y="b"/>
                </a:cxn>
                <a:cxn ang="0">
                  <a:pos x="r" y="vc"/>
                </a:cxn>
              </a:cxnLst>
              <a:rect l="l" t="t" r="r" b="b"/>
              <a:pathLst>
                <a:path w="6302" h="6302">
                  <a:moveTo>
                    <a:pt x="3151" y="0"/>
                  </a:moveTo>
                  <a:cubicBezTo>
                    <a:pt x="4891" y="0"/>
                    <a:pt x="6302" y="1411"/>
                    <a:pt x="6302" y="3151"/>
                  </a:cubicBezTo>
                  <a:cubicBezTo>
                    <a:pt x="6302" y="4891"/>
                    <a:pt x="4891" y="6302"/>
                    <a:pt x="3151" y="6302"/>
                  </a:cubicBezTo>
                  <a:cubicBezTo>
                    <a:pt x="1411" y="6302"/>
                    <a:pt x="0" y="4891"/>
                    <a:pt x="0" y="3151"/>
                  </a:cubicBezTo>
                  <a:cubicBezTo>
                    <a:pt x="0" y="1411"/>
                    <a:pt x="1411" y="0"/>
                    <a:pt x="3151" y="0"/>
                  </a:cubicBezTo>
                  <a:close/>
                </a:path>
              </a:pathLst>
            </a:custGeom>
            <a:ln w="215900">
              <a:solidFill>
                <a:srgbClr val="FFFFFF"/>
              </a:solidFill>
            </a:ln>
            <a:effectLst>
              <a:outerShdw blurRad="228600" dist="152400" algn="l" rotWithShape="0">
                <a:prstClr val="black">
                  <a:alpha val="20000"/>
                </a:prstClr>
              </a:outerShdw>
            </a:effectLst>
          </p:spPr>
        </p:pic>
        <p:sp>
          <p:nvSpPr>
            <p:cNvPr id="229" name="任意多边形: 形状 17"/>
            <p:cNvSpPr/>
            <p:nvPr>
              <p:custDataLst>
                <p:tags r:id="rId23"/>
              </p:custDataLst>
            </p:nvPr>
          </p:nvSpPr>
          <p:spPr>
            <a:xfrm>
              <a:off x="2464" y="12733"/>
              <a:ext cx="2469" cy="2464"/>
            </a:xfrm>
            <a:custGeom>
              <a:avLst/>
              <a:gdLst>
                <a:gd name="connsiteX0" fmla="*/ 1017007 w 1018242"/>
                <a:gd name="connsiteY0" fmla="*/ 541608 h 1014892"/>
                <a:gd name="connsiteX1" fmla="*/ 1014758 w 1018242"/>
                <a:gd name="connsiteY1" fmla="*/ 545723 h 1014892"/>
                <a:gd name="connsiteX2" fmla="*/ 946379 w 1018242"/>
                <a:gd name="connsiteY2" fmla="*/ 613883 h 1014892"/>
                <a:gd name="connsiteX3" fmla="*/ 548075 w 1018242"/>
                <a:gd name="connsiteY3" fmla="*/ 1010431 h 1014892"/>
                <a:gd name="connsiteX4" fmla="*/ 540189 w 1018242"/>
                <a:gd name="connsiteY4" fmla="*/ 1013997 h 1014892"/>
                <a:gd name="connsiteX5" fmla="*/ 474213 w 1018242"/>
                <a:gd name="connsiteY5" fmla="*/ 1013723 h 1014892"/>
                <a:gd name="connsiteX6" fmla="*/ 1016884 w 1018242"/>
                <a:gd name="connsiteY6" fmla="*/ 471563 h 1014892"/>
                <a:gd name="connsiteX7" fmla="*/ 1017539 w 1018242"/>
                <a:gd name="connsiteY7" fmla="*/ 480614 h 1014892"/>
                <a:gd name="connsiteX8" fmla="*/ 1017007 w 1018242"/>
                <a:gd name="connsiteY8" fmla="*/ 541608 h 1014892"/>
                <a:gd name="connsiteX9" fmla="*/ 770058 w 1018242"/>
                <a:gd name="connsiteY9" fmla="*/ 644877 h 1014892"/>
                <a:gd name="connsiteX10" fmla="*/ 767116 w 1018242"/>
                <a:gd name="connsiteY10" fmla="*/ 648374 h 1014892"/>
                <a:gd name="connsiteX11" fmla="*/ 766451 w 1018242"/>
                <a:gd name="connsiteY11" fmla="*/ 647791 h 1014892"/>
                <a:gd name="connsiteX12" fmla="*/ 774426 w 1018242"/>
                <a:gd name="connsiteY12" fmla="*/ 631745 h 1014892"/>
                <a:gd name="connsiteX13" fmla="*/ 799701 w 1018242"/>
                <a:gd name="connsiteY13" fmla="*/ 546785 h 1014892"/>
                <a:gd name="connsiteX14" fmla="*/ 802903 w 1018242"/>
                <a:gd name="connsiteY14" fmla="*/ 540203 h 1014892"/>
                <a:gd name="connsiteX15" fmla="*/ 990594 w 1018242"/>
                <a:gd name="connsiteY15" fmla="*/ 353414 h 1014892"/>
                <a:gd name="connsiteX16" fmla="*/ 992791 w 1018242"/>
                <a:gd name="connsiteY16" fmla="*/ 350740 h 1014892"/>
                <a:gd name="connsiteX17" fmla="*/ 994279 w 1018242"/>
                <a:gd name="connsiteY17" fmla="*/ 350980 h 1014892"/>
                <a:gd name="connsiteX18" fmla="*/ 1007243 w 1018242"/>
                <a:gd name="connsiteY18" fmla="*/ 401825 h 1014892"/>
                <a:gd name="connsiteX19" fmla="*/ 1004239 w 1018242"/>
                <a:gd name="connsiteY19" fmla="*/ 411905 h 1014892"/>
                <a:gd name="connsiteX20" fmla="*/ 770058 w 1018242"/>
                <a:gd name="connsiteY20" fmla="*/ 644877 h 1014892"/>
                <a:gd name="connsiteX21" fmla="*/ 801967 w 1018242"/>
                <a:gd name="connsiteY21" fmla="*/ 468545 h 1014892"/>
                <a:gd name="connsiteX22" fmla="*/ 800418 w 1018242"/>
                <a:gd name="connsiteY22" fmla="*/ 469917 h 1014892"/>
                <a:gd name="connsiteX23" fmla="*/ 796139 w 1018242"/>
                <a:gd name="connsiteY23" fmla="*/ 446603 h 1014892"/>
                <a:gd name="connsiteX24" fmla="*/ 787403 w 1018242"/>
                <a:gd name="connsiteY24" fmla="*/ 414237 h 1014892"/>
                <a:gd name="connsiteX25" fmla="*/ 788308 w 1018242"/>
                <a:gd name="connsiteY25" fmla="*/ 410157 h 1014892"/>
                <a:gd name="connsiteX26" fmla="*/ 946948 w 1018242"/>
                <a:gd name="connsiteY26" fmla="*/ 252305 h 1014892"/>
                <a:gd name="connsiteX27" fmla="*/ 948549 w 1018242"/>
                <a:gd name="connsiteY27" fmla="*/ 250900 h 1014892"/>
                <a:gd name="connsiteX28" fmla="*/ 954487 w 1018242"/>
                <a:gd name="connsiteY28" fmla="*/ 261322 h 1014892"/>
                <a:gd name="connsiteX29" fmla="*/ 972124 w 1018242"/>
                <a:gd name="connsiteY29" fmla="*/ 295917 h 1014892"/>
                <a:gd name="connsiteX30" fmla="*/ 971380 w 1018242"/>
                <a:gd name="connsiteY30" fmla="*/ 299928 h 1014892"/>
                <a:gd name="connsiteX31" fmla="*/ 801943 w 1018242"/>
                <a:gd name="connsiteY31" fmla="*/ 468545 h 1014892"/>
                <a:gd name="connsiteX32" fmla="*/ 735419 w 1018242"/>
                <a:gd name="connsiteY32" fmla="*/ 319539 h 1014892"/>
                <a:gd name="connsiteX33" fmla="*/ 887606 w 1018242"/>
                <a:gd name="connsiteY33" fmla="*/ 167380 h 1014892"/>
                <a:gd name="connsiteX34" fmla="*/ 919293 w 1018242"/>
                <a:gd name="connsiteY34" fmla="*/ 206020 h 1014892"/>
                <a:gd name="connsiteX35" fmla="*/ 764339 w 1018242"/>
                <a:gd name="connsiteY35" fmla="*/ 360923 h 1014892"/>
                <a:gd name="connsiteX36" fmla="*/ 735405 w 1018242"/>
                <a:gd name="connsiteY36" fmla="*/ 319539 h 1014892"/>
                <a:gd name="connsiteX37" fmla="*/ 677476 w 1018242"/>
                <a:gd name="connsiteY37" fmla="*/ 267186 h 1014892"/>
                <a:gd name="connsiteX38" fmla="*/ 656397 w 1018242"/>
                <a:gd name="connsiteY38" fmla="*/ 253437 h 1014892"/>
                <a:gd name="connsiteX39" fmla="*/ 811506 w 1018242"/>
                <a:gd name="connsiteY39" fmla="*/ 98568 h 1014892"/>
                <a:gd name="connsiteX40" fmla="*/ 850125 w 1018242"/>
                <a:gd name="connsiteY40" fmla="*/ 130077 h 1014892"/>
                <a:gd name="connsiteX41" fmla="*/ 697670 w 1018242"/>
                <a:gd name="connsiteY41" fmla="*/ 282340 h 1014892"/>
                <a:gd name="connsiteX42" fmla="*/ 677445 w 1018242"/>
                <a:gd name="connsiteY42" fmla="*/ 267186 h 1014892"/>
                <a:gd name="connsiteX43" fmla="*/ 607506 w 1018242"/>
                <a:gd name="connsiteY43" fmla="*/ 228511 h 1014892"/>
                <a:gd name="connsiteX44" fmla="*/ 603175 w 1018242"/>
                <a:gd name="connsiteY44" fmla="*/ 229711 h 1014892"/>
                <a:gd name="connsiteX45" fmla="*/ 548880 w 1018242"/>
                <a:gd name="connsiteY45" fmla="*/ 216923 h 1014892"/>
                <a:gd name="connsiteX46" fmla="*/ 547814 w 1018242"/>
                <a:gd name="connsiteY46" fmla="*/ 216751 h 1014892"/>
                <a:gd name="connsiteX47" fmla="*/ 547221 w 1018242"/>
                <a:gd name="connsiteY47" fmla="*/ 215791 h 1014892"/>
                <a:gd name="connsiteX48" fmla="*/ 549847 w 1018242"/>
                <a:gd name="connsiteY48" fmla="*/ 213905 h 1014892"/>
                <a:gd name="connsiteX49" fmla="*/ 716733 w 1018242"/>
                <a:gd name="connsiteY49" fmla="*/ 47757 h 1014892"/>
                <a:gd name="connsiteX50" fmla="*/ 722887 w 1018242"/>
                <a:gd name="connsiteY50" fmla="*/ 46694 h 1014892"/>
                <a:gd name="connsiteX51" fmla="*/ 722932 w 1018242"/>
                <a:gd name="connsiteY51" fmla="*/ 46728 h 1014892"/>
                <a:gd name="connsiteX52" fmla="*/ 767226 w 1018242"/>
                <a:gd name="connsiteY52" fmla="*/ 69151 h 1014892"/>
                <a:gd name="connsiteX53" fmla="*/ 764843 w 1018242"/>
                <a:gd name="connsiteY53" fmla="*/ 71825 h 1014892"/>
                <a:gd name="connsiteX54" fmla="*/ 607475 w 1018242"/>
                <a:gd name="connsiteY54" fmla="*/ 228511 h 1014892"/>
                <a:gd name="connsiteX55" fmla="*/ 476682 w 1018242"/>
                <a:gd name="connsiteY55" fmla="*/ 214043 h 1014892"/>
                <a:gd name="connsiteX56" fmla="*/ 472224 w 1018242"/>
                <a:gd name="connsiteY56" fmla="*/ 216408 h 1014892"/>
                <a:gd name="connsiteX57" fmla="*/ 372885 w 1018242"/>
                <a:gd name="connsiteY57" fmla="*/ 247471 h 1014892"/>
                <a:gd name="connsiteX58" fmla="*/ 371784 w 1018242"/>
                <a:gd name="connsiteY58" fmla="*/ 247848 h 1014892"/>
                <a:gd name="connsiteX59" fmla="*/ 370879 w 1018242"/>
                <a:gd name="connsiteY59" fmla="*/ 247711 h 1014892"/>
                <a:gd name="connsiteX60" fmla="*/ 373135 w 1018242"/>
                <a:gd name="connsiteY60" fmla="*/ 245346 h 1014892"/>
                <a:gd name="connsiteX61" fmla="*/ 607396 w 1018242"/>
                <a:gd name="connsiteY61" fmla="*/ 12065 h 1014892"/>
                <a:gd name="connsiteX62" fmla="*/ 612230 w 1018242"/>
                <a:gd name="connsiteY62" fmla="*/ 10420 h 1014892"/>
                <a:gd name="connsiteX63" fmla="*/ 665431 w 1018242"/>
                <a:gd name="connsiteY63" fmla="*/ 24374 h 1014892"/>
                <a:gd name="connsiteX64" fmla="*/ 666484 w 1018242"/>
                <a:gd name="connsiteY64" fmla="*/ 25026 h 1014892"/>
                <a:gd name="connsiteX65" fmla="*/ 664355 w 1018242"/>
                <a:gd name="connsiteY65" fmla="*/ 27322 h 1014892"/>
                <a:gd name="connsiteX66" fmla="*/ 476651 w 1018242"/>
                <a:gd name="connsiteY66" fmla="*/ 214043 h 1014892"/>
                <a:gd name="connsiteX67" fmla="*/ 0 w 1018242"/>
                <a:gd name="connsiteY67" fmla="*/ 532111 h 1014892"/>
                <a:gd name="connsiteX68" fmla="*/ 642 w 1018242"/>
                <a:gd name="connsiteY68" fmla="*/ 473757 h 1014892"/>
                <a:gd name="connsiteX69" fmla="*/ 3134 w 1018242"/>
                <a:gd name="connsiteY69" fmla="*/ 469162 h 1014892"/>
                <a:gd name="connsiteX70" fmla="*/ 120669 w 1018242"/>
                <a:gd name="connsiteY70" fmla="*/ 352077 h 1014892"/>
                <a:gd name="connsiteX71" fmla="*/ 469372 w 1018242"/>
                <a:gd name="connsiteY71" fmla="*/ 4831 h 1014892"/>
                <a:gd name="connsiteX72" fmla="*/ 478255 w 1018242"/>
                <a:gd name="connsiteY72" fmla="*/ 820 h 1014892"/>
                <a:gd name="connsiteX73" fmla="*/ 541458 w 1018242"/>
                <a:gd name="connsiteY73" fmla="*/ 957 h 1014892"/>
                <a:gd name="connsiteX74" fmla="*/ 543679 w 1018242"/>
                <a:gd name="connsiteY74" fmla="*/ 1197 h 1014892"/>
                <a:gd name="connsiteX75" fmla="*/ 755 w 1018242"/>
                <a:gd name="connsiteY75" fmla="*/ 543631 h 1014892"/>
                <a:gd name="connsiteX76" fmla="*/ 0 w 1018242"/>
                <a:gd name="connsiteY76" fmla="*/ 532111 h 1014892"/>
                <a:gd name="connsiteX77" fmla="*/ 14020 w 1018242"/>
                <a:gd name="connsiteY77" fmla="*/ 383791 h 1014892"/>
                <a:gd name="connsiteX78" fmla="*/ 30367 w 1018242"/>
                <a:gd name="connsiteY78" fmla="*/ 333322 h 1014892"/>
                <a:gd name="connsiteX79" fmla="*/ 57912 w 1018242"/>
                <a:gd name="connsiteY79" fmla="*/ 271197 h 1014892"/>
                <a:gd name="connsiteX80" fmla="*/ 61386 w 1018242"/>
                <a:gd name="connsiteY80" fmla="*/ 266534 h 1014892"/>
                <a:gd name="connsiteX81" fmla="*/ 267189 w 1018242"/>
                <a:gd name="connsiteY81" fmla="*/ 61917 h 1014892"/>
                <a:gd name="connsiteX82" fmla="*/ 283135 w 1018242"/>
                <a:gd name="connsiteY82" fmla="*/ 52420 h 1014892"/>
                <a:gd name="connsiteX83" fmla="*/ 382584 w 1018242"/>
                <a:gd name="connsiteY83" fmla="*/ 15768 h 1014892"/>
                <a:gd name="connsiteX84" fmla="*/ 384470 w 1018242"/>
                <a:gd name="connsiteY84" fmla="*/ 15391 h 1014892"/>
                <a:gd name="connsiteX85" fmla="*/ 15138 w 1018242"/>
                <a:gd name="connsiteY85" fmla="*/ 384340 h 1014892"/>
                <a:gd name="connsiteX86" fmla="*/ 14020 w 1018242"/>
                <a:gd name="connsiteY86" fmla="*/ 383791 h 1014892"/>
                <a:gd name="connsiteX87" fmla="*/ 246319 w 1018242"/>
                <a:gd name="connsiteY87" fmla="*/ 371482 h 1014892"/>
                <a:gd name="connsiteX88" fmla="*/ 249162 w 1018242"/>
                <a:gd name="connsiteY88" fmla="*/ 368157 h 1014892"/>
                <a:gd name="connsiteX89" fmla="*/ 249847 w 1018242"/>
                <a:gd name="connsiteY89" fmla="*/ 368671 h 1014892"/>
                <a:gd name="connsiteX90" fmla="*/ 244704 w 1018242"/>
                <a:gd name="connsiteY90" fmla="*/ 378923 h 1014892"/>
                <a:gd name="connsiteX91" fmla="*/ 217434 w 1018242"/>
                <a:gd name="connsiteY91" fmla="*/ 469951 h 1014892"/>
                <a:gd name="connsiteX92" fmla="*/ 214735 w 1018242"/>
                <a:gd name="connsiteY92" fmla="*/ 474785 h 1014892"/>
                <a:gd name="connsiteX93" fmla="*/ 42686 w 1018242"/>
                <a:gd name="connsiteY93" fmla="*/ 646180 h 1014892"/>
                <a:gd name="connsiteX94" fmla="*/ 26712 w 1018242"/>
                <a:gd name="connsiteY94" fmla="*/ 662054 h 1014892"/>
                <a:gd name="connsiteX95" fmla="*/ 24628 w 1018242"/>
                <a:gd name="connsiteY95" fmla="*/ 663974 h 1014892"/>
                <a:gd name="connsiteX96" fmla="*/ 23435 w 1018242"/>
                <a:gd name="connsiteY96" fmla="*/ 663905 h 1014892"/>
                <a:gd name="connsiteX97" fmla="*/ 10406 w 1018242"/>
                <a:gd name="connsiteY97" fmla="*/ 612751 h 1014892"/>
                <a:gd name="connsiteX98" fmla="*/ 13211 w 1018242"/>
                <a:gd name="connsiteY98" fmla="*/ 603460 h 1014892"/>
                <a:gd name="connsiteX99" fmla="*/ 246319 w 1018242"/>
                <a:gd name="connsiteY99" fmla="*/ 371482 h 1014892"/>
                <a:gd name="connsiteX100" fmla="*/ 216343 w 1018242"/>
                <a:gd name="connsiteY100" fmla="*/ 545962 h 1014892"/>
                <a:gd name="connsiteX101" fmla="*/ 217581 w 1018242"/>
                <a:gd name="connsiteY101" fmla="*/ 544934 h 1014892"/>
                <a:gd name="connsiteX102" fmla="*/ 218994 w 1018242"/>
                <a:gd name="connsiteY102" fmla="*/ 553642 h 1014892"/>
                <a:gd name="connsiteX103" fmla="*/ 230380 w 1018242"/>
                <a:gd name="connsiteY103" fmla="*/ 599757 h 1014892"/>
                <a:gd name="connsiteX104" fmla="*/ 229008 w 1018242"/>
                <a:gd name="connsiteY104" fmla="*/ 605346 h 1014892"/>
                <a:gd name="connsiteX105" fmla="*/ 72000 w 1018242"/>
                <a:gd name="connsiteY105" fmla="*/ 761551 h 1014892"/>
                <a:gd name="connsiteX106" fmla="*/ 70050 w 1018242"/>
                <a:gd name="connsiteY106" fmla="*/ 764465 h 1014892"/>
                <a:gd name="connsiteX107" fmla="*/ 69021 w 1018242"/>
                <a:gd name="connsiteY107" fmla="*/ 763951 h 1014892"/>
                <a:gd name="connsiteX108" fmla="*/ 59325 w 1018242"/>
                <a:gd name="connsiteY108" fmla="*/ 746363 h 1014892"/>
                <a:gd name="connsiteX109" fmla="*/ 45710 w 1018242"/>
                <a:gd name="connsiteY109" fmla="*/ 719243 h 1014892"/>
                <a:gd name="connsiteX110" fmla="*/ 46276 w 1018242"/>
                <a:gd name="connsiteY110" fmla="*/ 715162 h 1014892"/>
                <a:gd name="connsiteX111" fmla="*/ 216343 w 1018242"/>
                <a:gd name="connsiteY111" fmla="*/ 545962 h 1014892"/>
                <a:gd name="connsiteX112" fmla="*/ 282947 w 1018242"/>
                <a:gd name="connsiteY112" fmla="*/ 695071 h 1014892"/>
                <a:gd name="connsiteX113" fmla="*/ 130211 w 1018242"/>
                <a:gd name="connsiteY113" fmla="*/ 847574 h 1014892"/>
                <a:gd name="connsiteX114" fmla="*/ 98301 w 1018242"/>
                <a:gd name="connsiteY114" fmla="*/ 808763 h 1014892"/>
                <a:gd name="connsiteX115" fmla="*/ 253715 w 1018242"/>
                <a:gd name="connsiteY115" fmla="*/ 653517 h 1014892"/>
                <a:gd name="connsiteX116" fmla="*/ 282930 w 1018242"/>
                <a:gd name="connsiteY116" fmla="*/ 695071 h 1014892"/>
                <a:gd name="connsiteX117" fmla="*/ 361848 w 1018242"/>
                <a:gd name="connsiteY117" fmla="*/ 761174 h 1014892"/>
                <a:gd name="connsiteX118" fmla="*/ 206442 w 1018242"/>
                <a:gd name="connsiteY118" fmla="*/ 916454 h 1014892"/>
                <a:gd name="connsiteX119" fmla="*/ 167397 w 1018242"/>
                <a:gd name="connsiteY119" fmla="*/ 884637 h 1014892"/>
                <a:gd name="connsiteX120" fmla="*/ 320064 w 1018242"/>
                <a:gd name="connsiteY120" fmla="*/ 732100 h 1014892"/>
                <a:gd name="connsiteX121" fmla="*/ 361848 w 1018242"/>
                <a:gd name="connsiteY121" fmla="*/ 761174 h 1014892"/>
                <a:gd name="connsiteX122" fmla="*/ 410946 w 1018242"/>
                <a:gd name="connsiteY122" fmla="*/ 785791 h 1014892"/>
                <a:gd name="connsiteX123" fmla="*/ 415986 w 1018242"/>
                <a:gd name="connsiteY123" fmla="*/ 784557 h 1014892"/>
                <a:gd name="connsiteX124" fmla="*/ 465727 w 1018242"/>
                <a:gd name="connsiteY124" fmla="*/ 796385 h 1014892"/>
                <a:gd name="connsiteX125" fmla="*/ 471463 w 1018242"/>
                <a:gd name="connsiteY125" fmla="*/ 797243 h 1014892"/>
                <a:gd name="connsiteX126" fmla="*/ 469434 w 1018242"/>
                <a:gd name="connsiteY126" fmla="*/ 799506 h 1014892"/>
                <a:gd name="connsiteX127" fmla="*/ 300477 w 1018242"/>
                <a:gd name="connsiteY127" fmla="*/ 967780 h 1014892"/>
                <a:gd name="connsiteX128" fmla="*/ 295965 w 1018242"/>
                <a:gd name="connsiteY128" fmla="*/ 968706 h 1014892"/>
                <a:gd name="connsiteX129" fmla="*/ 252655 w 1018242"/>
                <a:gd name="connsiteY129" fmla="*/ 946214 h 1014892"/>
                <a:gd name="connsiteX130" fmla="*/ 251082 w 1018242"/>
                <a:gd name="connsiteY130" fmla="*/ 945117 h 1014892"/>
                <a:gd name="connsiteX131" fmla="*/ 253386 w 1018242"/>
                <a:gd name="connsiteY131" fmla="*/ 942682 h 1014892"/>
                <a:gd name="connsiteX132" fmla="*/ 410946 w 1018242"/>
                <a:gd name="connsiteY132" fmla="*/ 785791 h 1014892"/>
                <a:gd name="connsiteX133" fmla="*/ 542483 w 1018242"/>
                <a:gd name="connsiteY133" fmla="*/ 799608 h 1014892"/>
                <a:gd name="connsiteX134" fmla="*/ 548044 w 1018242"/>
                <a:gd name="connsiteY134" fmla="*/ 797037 h 1014892"/>
                <a:gd name="connsiteX135" fmla="*/ 647099 w 1018242"/>
                <a:gd name="connsiteY135" fmla="*/ 765048 h 1014892"/>
                <a:gd name="connsiteX136" fmla="*/ 649687 w 1018242"/>
                <a:gd name="connsiteY136" fmla="*/ 763883 h 1014892"/>
                <a:gd name="connsiteX137" fmla="*/ 650435 w 1018242"/>
                <a:gd name="connsiteY137" fmla="*/ 764706 h 1014892"/>
                <a:gd name="connsiteX138" fmla="*/ 647795 w 1018242"/>
                <a:gd name="connsiteY138" fmla="*/ 766591 h 1014892"/>
                <a:gd name="connsiteX139" fmla="*/ 410507 w 1018242"/>
                <a:gd name="connsiteY139" fmla="*/ 1002682 h 1014892"/>
                <a:gd name="connsiteX140" fmla="*/ 406663 w 1018242"/>
                <a:gd name="connsiteY140" fmla="*/ 1004500 h 1014892"/>
                <a:gd name="connsiteX141" fmla="*/ 351264 w 1018242"/>
                <a:gd name="connsiteY141" fmla="*/ 990134 h 1014892"/>
                <a:gd name="connsiteX142" fmla="*/ 353520 w 1018242"/>
                <a:gd name="connsiteY142" fmla="*/ 987631 h 1014892"/>
                <a:gd name="connsiteX143" fmla="*/ 542483 w 1018242"/>
                <a:gd name="connsiteY143" fmla="*/ 799608 h 1014892"/>
                <a:gd name="connsiteX144" fmla="*/ 1002381 w 1018242"/>
                <a:gd name="connsiteY144" fmla="*/ 630751 h 1014892"/>
                <a:gd name="connsiteX145" fmla="*/ 1003005 w 1018242"/>
                <a:gd name="connsiteY145" fmla="*/ 631060 h 1014892"/>
                <a:gd name="connsiteX146" fmla="*/ 996967 w 1018242"/>
                <a:gd name="connsiteY146" fmla="*/ 652763 h 1014892"/>
                <a:gd name="connsiteX147" fmla="*/ 960360 w 1018242"/>
                <a:gd name="connsiteY147" fmla="*/ 742385 h 1014892"/>
                <a:gd name="connsiteX148" fmla="*/ 954899 w 1018242"/>
                <a:gd name="connsiteY148" fmla="*/ 749860 h 1014892"/>
                <a:gd name="connsiteX149" fmla="*/ 752812 w 1018242"/>
                <a:gd name="connsiteY149" fmla="*/ 951220 h 1014892"/>
                <a:gd name="connsiteX150" fmla="*/ 734747 w 1018242"/>
                <a:gd name="connsiteY150" fmla="*/ 962294 h 1014892"/>
                <a:gd name="connsiteX151" fmla="*/ 633882 w 1018242"/>
                <a:gd name="connsiteY151" fmla="*/ 999391 h 1014892"/>
                <a:gd name="connsiteX152" fmla="*/ 633460 w 1018242"/>
                <a:gd name="connsiteY152" fmla="*/ 999460 h 1014892"/>
                <a:gd name="connsiteX153" fmla="*/ 1002381 w 1018242"/>
                <a:gd name="connsiteY153" fmla="*/ 630751 h 1014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018242" h="1014892">
                  <a:moveTo>
                    <a:pt x="1017007" y="541608"/>
                  </a:moveTo>
                  <a:cubicBezTo>
                    <a:pt x="1016716" y="543186"/>
                    <a:pt x="1015927" y="544625"/>
                    <a:pt x="1014758" y="545723"/>
                  </a:cubicBezTo>
                  <a:cubicBezTo>
                    <a:pt x="992006" y="568488"/>
                    <a:pt x="969213" y="591220"/>
                    <a:pt x="946379" y="613883"/>
                  </a:cubicBezTo>
                  <a:cubicBezTo>
                    <a:pt x="813597" y="746054"/>
                    <a:pt x="680829" y="878225"/>
                    <a:pt x="548075" y="1010431"/>
                  </a:cubicBezTo>
                  <a:cubicBezTo>
                    <a:pt x="546038" y="1012625"/>
                    <a:pt x="543192" y="1013928"/>
                    <a:pt x="540189" y="1013997"/>
                  </a:cubicBezTo>
                  <a:cubicBezTo>
                    <a:pt x="518212" y="1015265"/>
                    <a:pt x="496176" y="1015197"/>
                    <a:pt x="474213" y="1013723"/>
                  </a:cubicBezTo>
                  <a:cubicBezTo>
                    <a:pt x="654786" y="833346"/>
                    <a:pt x="835674" y="652625"/>
                    <a:pt x="1016884" y="471563"/>
                  </a:cubicBezTo>
                  <a:cubicBezTo>
                    <a:pt x="1017144" y="475094"/>
                    <a:pt x="1017395" y="477871"/>
                    <a:pt x="1017539" y="480614"/>
                  </a:cubicBezTo>
                  <a:cubicBezTo>
                    <a:pt x="1018629" y="500945"/>
                    <a:pt x="1018454" y="521311"/>
                    <a:pt x="1017007" y="541608"/>
                  </a:cubicBezTo>
                  <a:close/>
                  <a:moveTo>
                    <a:pt x="770058" y="644877"/>
                  </a:moveTo>
                  <a:cubicBezTo>
                    <a:pt x="768978" y="645940"/>
                    <a:pt x="768090" y="647208"/>
                    <a:pt x="767116" y="648374"/>
                  </a:cubicBezTo>
                  <a:cubicBezTo>
                    <a:pt x="766893" y="648203"/>
                    <a:pt x="766674" y="647997"/>
                    <a:pt x="766451" y="647791"/>
                  </a:cubicBezTo>
                  <a:cubicBezTo>
                    <a:pt x="769115" y="642443"/>
                    <a:pt x="771854" y="637128"/>
                    <a:pt x="774426" y="631745"/>
                  </a:cubicBezTo>
                  <a:cubicBezTo>
                    <a:pt x="787207" y="604900"/>
                    <a:pt x="795734" y="576237"/>
                    <a:pt x="799701" y="546785"/>
                  </a:cubicBezTo>
                  <a:cubicBezTo>
                    <a:pt x="799955" y="544283"/>
                    <a:pt x="801090" y="541951"/>
                    <a:pt x="802903" y="540203"/>
                  </a:cubicBezTo>
                  <a:cubicBezTo>
                    <a:pt x="865502" y="477974"/>
                    <a:pt x="928067" y="415711"/>
                    <a:pt x="990594" y="353414"/>
                  </a:cubicBezTo>
                  <a:cubicBezTo>
                    <a:pt x="991379" y="352557"/>
                    <a:pt x="992112" y="351666"/>
                    <a:pt x="992791" y="350740"/>
                  </a:cubicBezTo>
                  <a:cubicBezTo>
                    <a:pt x="993285" y="350808"/>
                    <a:pt x="993782" y="350877"/>
                    <a:pt x="994279" y="350980"/>
                  </a:cubicBezTo>
                  <a:cubicBezTo>
                    <a:pt x="998572" y="367951"/>
                    <a:pt x="1002758" y="384923"/>
                    <a:pt x="1007243" y="401825"/>
                  </a:cubicBezTo>
                  <a:cubicBezTo>
                    <a:pt x="1008460" y="405494"/>
                    <a:pt x="1007260" y="409506"/>
                    <a:pt x="1004239" y="411905"/>
                  </a:cubicBezTo>
                  <a:cubicBezTo>
                    <a:pt x="926085" y="489494"/>
                    <a:pt x="848027" y="567151"/>
                    <a:pt x="770058" y="644877"/>
                  </a:cubicBezTo>
                  <a:close/>
                  <a:moveTo>
                    <a:pt x="801967" y="468545"/>
                  </a:moveTo>
                  <a:cubicBezTo>
                    <a:pt x="801563" y="468957"/>
                    <a:pt x="801114" y="469300"/>
                    <a:pt x="800418" y="469917"/>
                  </a:cubicBezTo>
                  <a:cubicBezTo>
                    <a:pt x="798974" y="461894"/>
                    <a:pt x="797946" y="454145"/>
                    <a:pt x="796139" y="446603"/>
                  </a:cubicBezTo>
                  <a:cubicBezTo>
                    <a:pt x="793540" y="435734"/>
                    <a:pt x="790416" y="425002"/>
                    <a:pt x="787403" y="414237"/>
                  </a:cubicBezTo>
                  <a:cubicBezTo>
                    <a:pt x="786779" y="412831"/>
                    <a:pt x="787146" y="411186"/>
                    <a:pt x="788308" y="410157"/>
                  </a:cubicBezTo>
                  <a:cubicBezTo>
                    <a:pt x="841214" y="357563"/>
                    <a:pt x="894093" y="304934"/>
                    <a:pt x="946948" y="252305"/>
                  </a:cubicBezTo>
                  <a:cubicBezTo>
                    <a:pt x="947356" y="251894"/>
                    <a:pt x="947812" y="251551"/>
                    <a:pt x="948549" y="250900"/>
                  </a:cubicBezTo>
                  <a:cubicBezTo>
                    <a:pt x="950586" y="254465"/>
                    <a:pt x="952663" y="257825"/>
                    <a:pt x="954487" y="261322"/>
                  </a:cubicBezTo>
                  <a:cubicBezTo>
                    <a:pt x="960412" y="272842"/>
                    <a:pt x="966199" y="284431"/>
                    <a:pt x="972124" y="295917"/>
                  </a:cubicBezTo>
                  <a:cubicBezTo>
                    <a:pt x="973009" y="297220"/>
                    <a:pt x="972679" y="299002"/>
                    <a:pt x="971380" y="299928"/>
                  </a:cubicBezTo>
                  <a:cubicBezTo>
                    <a:pt x="914880" y="356122"/>
                    <a:pt x="858402" y="412317"/>
                    <a:pt x="801943" y="468545"/>
                  </a:cubicBezTo>
                  <a:close/>
                  <a:moveTo>
                    <a:pt x="735419" y="319539"/>
                  </a:moveTo>
                  <a:cubicBezTo>
                    <a:pt x="785808" y="269140"/>
                    <a:pt x="836538" y="218431"/>
                    <a:pt x="887606" y="167380"/>
                  </a:cubicBezTo>
                  <a:cubicBezTo>
                    <a:pt x="898269" y="180408"/>
                    <a:pt x="908932" y="193403"/>
                    <a:pt x="919293" y="206020"/>
                  </a:cubicBezTo>
                  <a:cubicBezTo>
                    <a:pt x="867247" y="258065"/>
                    <a:pt x="815596" y="309700"/>
                    <a:pt x="764339" y="360923"/>
                  </a:cubicBezTo>
                  <a:cubicBezTo>
                    <a:pt x="754598" y="347002"/>
                    <a:pt x="744882" y="333083"/>
                    <a:pt x="735405" y="319539"/>
                  </a:cubicBezTo>
                  <a:close/>
                  <a:moveTo>
                    <a:pt x="677476" y="267186"/>
                  </a:moveTo>
                  <a:cubicBezTo>
                    <a:pt x="670506" y="262283"/>
                    <a:pt x="663217" y="257860"/>
                    <a:pt x="656397" y="253437"/>
                  </a:cubicBezTo>
                  <a:cubicBezTo>
                    <a:pt x="707976" y="201940"/>
                    <a:pt x="759494" y="150511"/>
                    <a:pt x="811506" y="98568"/>
                  </a:cubicBezTo>
                  <a:cubicBezTo>
                    <a:pt x="824534" y="109197"/>
                    <a:pt x="837498" y="119757"/>
                    <a:pt x="850125" y="130077"/>
                  </a:cubicBezTo>
                  <a:cubicBezTo>
                    <a:pt x="799084" y="181060"/>
                    <a:pt x="748266" y="231802"/>
                    <a:pt x="697670" y="282340"/>
                  </a:cubicBezTo>
                  <a:cubicBezTo>
                    <a:pt x="691118" y="277403"/>
                    <a:pt x="684439" y="272054"/>
                    <a:pt x="677445" y="267186"/>
                  </a:cubicBezTo>
                  <a:close/>
                  <a:moveTo>
                    <a:pt x="607506" y="228511"/>
                  </a:moveTo>
                  <a:cubicBezTo>
                    <a:pt x="606515" y="229883"/>
                    <a:pt x="604722" y="230363"/>
                    <a:pt x="603175" y="229711"/>
                  </a:cubicBezTo>
                  <a:cubicBezTo>
                    <a:pt x="585535" y="223677"/>
                    <a:pt x="567350" y="219391"/>
                    <a:pt x="548880" y="216923"/>
                  </a:cubicBezTo>
                  <a:cubicBezTo>
                    <a:pt x="548538" y="216854"/>
                    <a:pt x="548167" y="216820"/>
                    <a:pt x="547814" y="216751"/>
                  </a:cubicBezTo>
                  <a:cubicBezTo>
                    <a:pt x="547615" y="216443"/>
                    <a:pt x="547416" y="216100"/>
                    <a:pt x="547221" y="215791"/>
                  </a:cubicBezTo>
                  <a:cubicBezTo>
                    <a:pt x="548150" y="215243"/>
                    <a:pt x="549028" y="214625"/>
                    <a:pt x="549847" y="213905"/>
                  </a:cubicBezTo>
                  <a:cubicBezTo>
                    <a:pt x="605507" y="158568"/>
                    <a:pt x="661135" y="103197"/>
                    <a:pt x="716733" y="47757"/>
                  </a:cubicBezTo>
                  <a:cubicBezTo>
                    <a:pt x="718139" y="45768"/>
                    <a:pt x="720895" y="45288"/>
                    <a:pt x="722887" y="46694"/>
                  </a:cubicBezTo>
                  <a:cubicBezTo>
                    <a:pt x="722901" y="46694"/>
                    <a:pt x="722918" y="46728"/>
                    <a:pt x="722932" y="46728"/>
                  </a:cubicBezTo>
                  <a:cubicBezTo>
                    <a:pt x="737462" y="54203"/>
                    <a:pt x="752075" y="61506"/>
                    <a:pt x="767226" y="69151"/>
                  </a:cubicBezTo>
                  <a:cubicBezTo>
                    <a:pt x="766053" y="70454"/>
                    <a:pt x="765487" y="71174"/>
                    <a:pt x="764843" y="71825"/>
                  </a:cubicBezTo>
                  <a:cubicBezTo>
                    <a:pt x="712372" y="124043"/>
                    <a:pt x="659915" y="176260"/>
                    <a:pt x="607475" y="228511"/>
                  </a:cubicBezTo>
                  <a:close/>
                  <a:moveTo>
                    <a:pt x="476682" y="214043"/>
                  </a:moveTo>
                  <a:cubicBezTo>
                    <a:pt x="475478" y="215277"/>
                    <a:pt x="473922" y="216100"/>
                    <a:pt x="472224" y="216408"/>
                  </a:cubicBezTo>
                  <a:cubicBezTo>
                    <a:pt x="437533" y="220797"/>
                    <a:pt x="403897" y="231322"/>
                    <a:pt x="372885" y="247471"/>
                  </a:cubicBezTo>
                  <a:cubicBezTo>
                    <a:pt x="372532" y="247642"/>
                    <a:pt x="372163" y="247745"/>
                    <a:pt x="371784" y="247848"/>
                  </a:cubicBezTo>
                  <a:cubicBezTo>
                    <a:pt x="371479" y="247814"/>
                    <a:pt x="371177" y="247780"/>
                    <a:pt x="370879" y="247711"/>
                  </a:cubicBezTo>
                  <a:cubicBezTo>
                    <a:pt x="371726" y="246820"/>
                    <a:pt x="372412" y="246065"/>
                    <a:pt x="373135" y="245346"/>
                  </a:cubicBezTo>
                  <a:cubicBezTo>
                    <a:pt x="451229" y="167585"/>
                    <a:pt x="529317" y="89825"/>
                    <a:pt x="607396" y="12065"/>
                  </a:cubicBezTo>
                  <a:cubicBezTo>
                    <a:pt x="608524" y="10591"/>
                    <a:pt x="610434" y="9940"/>
                    <a:pt x="612230" y="10420"/>
                  </a:cubicBezTo>
                  <a:cubicBezTo>
                    <a:pt x="629952" y="15117"/>
                    <a:pt x="647685" y="19780"/>
                    <a:pt x="665431" y="24374"/>
                  </a:cubicBezTo>
                  <a:cubicBezTo>
                    <a:pt x="665802" y="24545"/>
                    <a:pt x="666155" y="24785"/>
                    <a:pt x="666484" y="25026"/>
                  </a:cubicBezTo>
                  <a:cubicBezTo>
                    <a:pt x="665723" y="25848"/>
                    <a:pt x="665071" y="26603"/>
                    <a:pt x="664355" y="27322"/>
                  </a:cubicBezTo>
                  <a:cubicBezTo>
                    <a:pt x="601794" y="89585"/>
                    <a:pt x="539226" y="151814"/>
                    <a:pt x="476651" y="214043"/>
                  </a:cubicBezTo>
                  <a:close/>
                  <a:moveTo>
                    <a:pt x="0" y="532111"/>
                  </a:moveTo>
                  <a:cubicBezTo>
                    <a:pt x="114" y="512671"/>
                    <a:pt x="288" y="493231"/>
                    <a:pt x="642" y="473757"/>
                  </a:cubicBezTo>
                  <a:cubicBezTo>
                    <a:pt x="921" y="471974"/>
                    <a:pt x="1801" y="470363"/>
                    <a:pt x="3134" y="469162"/>
                  </a:cubicBezTo>
                  <a:cubicBezTo>
                    <a:pt x="42272" y="430077"/>
                    <a:pt x="81451" y="391060"/>
                    <a:pt x="120669" y="352077"/>
                  </a:cubicBezTo>
                  <a:cubicBezTo>
                    <a:pt x="236921" y="236363"/>
                    <a:pt x="353155" y="120614"/>
                    <a:pt x="469372" y="4831"/>
                  </a:cubicBezTo>
                  <a:cubicBezTo>
                    <a:pt x="471666" y="2328"/>
                    <a:pt x="474871" y="888"/>
                    <a:pt x="478255" y="820"/>
                  </a:cubicBezTo>
                  <a:cubicBezTo>
                    <a:pt x="499310" y="-312"/>
                    <a:pt x="520410" y="-277"/>
                    <a:pt x="541458" y="957"/>
                  </a:cubicBezTo>
                  <a:cubicBezTo>
                    <a:pt x="542411" y="1026"/>
                    <a:pt x="543361" y="1162"/>
                    <a:pt x="543679" y="1197"/>
                  </a:cubicBezTo>
                  <a:cubicBezTo>
                    <a:pt x="363017" y="181711"/>
                    <a:pt x="182041" y="362534"/>
                    <a:pt x="755" y="543631"/>
                  </a:cubicBezTo>
                  <a:cubicBezTo>
                    <a:pt x="450" y="539174"/>
                    <a:pt x="-17" y="535642"/>
                    <a:pt x="0" y="532111"/>
                  </a:cubicBezTo>
                  <a:close/>
                  <a:moveTo>
                    <a:pt x="14020" y="383791"/>
                  </a:moveTo>
                  <a:cubicBezTo>
                    <a:pt x="19447" y="366957"/>
                    <a:pt x="24597" y="350054"/>
                    <a:pt x="30367" y="333322"/>
                  </a:cubicBezTo>
                  <a:cubicBezTo>
                    <a:pt x="37962" y="311962"/>
                    <a:pt x="47170" y="291186"/>
                    <a:pt x="57912" y="271197"/>
                  </a:cubicBezTo>
                  <a:cubicBezTo>
                    <a:pt x="58839" y="269482"/>
                    <a:pt x="60009" y="267905"/>
                    <a:pt x="61386" y="266534"/>
                  </a:cubicBezTo>
                  <a:cubicBezTo>
                    <a:pt x="129920" y="198271"/>
                    <a:pt x="198522" y="130077"/>
                    <a:pt x="267189" y="61917"/>
                  </a:cubicBezTo>
                  <a:cubicBezTo>
                    <a:pt x="271989" y="57974"/>
                    <a:pt x="277367" y="54751"/>
                    <a:pt x="283135" y="52420"/>
                  </a:cubicBezTo>
                  <a:cubicBezTo>
                    <a:pt x="314894" y="36717"/>
                    <a:pt x="348231" y="24443"/>
                    <a:pt x="382584" y="15768"/>
                  </a:cubicBezTo>
                  <a:cubicBezTo>
                    <a:pt x="383483" y="15563"/>
                    <a:pt x="384398" y="15391"/>
                    <a:pt x="384470" y="15391"/>
                  </a:cubicBezTo>
                  <a:cubicBezTo>
                    <a:pt x="261629" y="138100"/>
                    <a:pt x="138518" y="261083"/>
                    <a:pt x="15138" y="384340"/>
                  </a:cubicBezTo>
                  <a:cubicBezTo>
                    <a:pt x="14767" y="384168"/>
                    <a:pt x="14400" y="383997"/>
                    <a:pt x="14020" y="383791"/>
                  </a:cubicBezTo>
                  <a:close/>
                  <a:moveTo>
                    <a:pt x="246319" y="371482"/>
                  </a:moveTo>
                  <a:cubicBezTo>
                    <a:pt x="247348" y="370454"/>
                    <a:pt x="248219" y="369288"/>
                    <a:pt x="249162" y="368157"/>
                  </a:cubicBezTo>
                  <a:lnTo>
                    <a:pt x="249847" y="368671"/>
                  </a:lnTo>
                  <a:cubicBezTo>
                    <a:pt x="248133" y="372100"/>
                    <a:pt x="246367" y="375494"/>
                    <a:pt x="244704" y="378923"/>
                  </a:cubicBezTo>
                  <a:cubicBezTo>
                    <a:pt x="230787" y="407620"/>
                    <a:pt x="221578" y="438340"/>
                    <a:pt x="217434" y="469951"/>
                  </a:cubicBezTo>
                  <a:cubicBezTo>
                    <a:pt x="217047" y="471802"/>
                    <a:pt x="216106" y="473482"/>
                    <a:pt x="214735" y="474785"/>
                  </a:cubicBezTo>
                  <a:cubicBezTo>
                    <a:pt x="157423" y="531974"/>
                    <a:pt x="100074" y="589094"/>
                    <a:pt x="42686" y="646180"/>
                  </a:cubicBezTo>
                  <a:cubicBezTo>
                    <a:pt x="37365" y="651460"/>
                    <a:pt x="32058" y="656774"/>
                    <a:pt x="26712" y="662054"/>
                  </a:cubicBezTo>
                  <a:cubicBezTo>
                    <a:pt x="26044" y="662740"/>
                    <a:pt x="25341" y="663322"/>
                    <a:pt x="24628" y="663974"/>
                  </a:cubicBezTo>
                  <a:cubicBezTo>
                    <a:pt x="24230" y="663940"/>
                    <a:pt x="23832" y="663940"/>
                    <a:pt x="23435" y="663905"/>
                  </a:cubicBezTo>
                  <a:cubicBezTo>
                    <a:pt x="19122" y="646866"/>
                    <a:pt x="14904" y="629757"/>
                    <a:pt x="10406" y="612751"/>
                  </a:cubicBezTo>
                  <a:cubicBezTo>
                    <a:pt x="9290" y="609357"/>
                    <a:pt x="10412" y="605654"/>
                    <a:pt x="13211" y="603460"/>
                  </a:cubicBezTo>
                  <a:cubicBezTo>
                    <a:pt x="90978" y="526214"/>
                    <a:pt x="168680" y="448900"/>
                    <a:pt x="246319" y="371482"/>
                  </a:cubicBezTo>
                  <a:close/>
                  <a:moveTo>
                    <a:pt x="216343" y="545962"/>
                  </a:moveTo>
                  <a:cubicBezTo>
                    <a:pt x="216611" y="545688"/>
                    <a:pt x="216926" y="545482"/>
                    <a:pt x="217581" y="544934"/>
                  </a:cubicBezTo>
                  <a:cubicBezTo>
                    <a:pt x="218085" y="548054"/>
                    <a:pt x="218558" y="550866"/>
                    <a:pt x="218994" y="553642"/>
                  </a:cubicBezTo>
                  <a:cubicBezTo>
                    <a:pt x="221419" y="569311"/>
                    <a:pt x="225230" y="584740"/>
                    <a:pt x="230380" y="599757"/>
                  </a:cubicBezTo>
                  <a:cubicBezTo>
                    <a:pt x="231264" y="601711"/>
                    <a:pt x="230698" y="604008"/>
                    <a:pt x="229008" y="605346"/>
                  </a:cubicBezTo>
                  <a:cubicBezTo>
                    <a:pt x="176617" y="657357"/>
                    <a:pt x="124282" y="709437"/>
                    <a:pt x="72000" y="761551"/>
                  </a:cubicBezTo>
                  <a:cubicBezTo>
                    <a:pt x="71252" y="762443"/>
                    <a:pt x="70598" y="763437"/>
                    <a:pt x="70050" y="764465"/>
                  </a:cubicBezTo>
                  <a:lnTo>
                    <a:pt x="69021" y="763951"/>
                  </a:lnTo>
                  <a:cubicBezTo>
                    <a:pt x="65778" y="758088"/>
                    <a:pt x="62397" y="752294"/>
                    <a:pt x="59325" y="746363"/>
                  </a:cubicBezTo>
                  <a:cubicBezTo>
                    <a:pt x="54679" y="737380"/>
                    <a:pt x="50263" y="728260"/>
                    <a:pt x="45710" y="719243"/>
                  </a:cubicBezTo>
                  <a:cubicBezTo>
                    <a:pt x="44788" y="717940"/>
                    <a:pt x="45036" y="716157"/>
                    <a:pt x="46276" y="715162"/>
                  </a:cubicBezTo>
                  <a:cubicBezTo>
                    <a:pt x="102984" y="658797"/>
                    <a:pt x="159673" y="602397"/>
                    <a:pt x="216343" y="545962"/>
                  </a:cubicBezTo>
                  <a:close/>
                  <a:moveTo>
                    <a:pt x="282947" y="695071"/>
                  </a:moveTo>
                  <a:lnTo>
                    <a:pt x="130211" y="847574"/>
                  </a:lnTo>
                  <a:cubicBezTo>
                    <a:pt x="119603" y="834682"/>
                    <a:pt x="108885" y="821654"/>
                    <a:pt x="98301" y="808763"/>
                  </a:cubicBezTo>
                  <a:cubicBezTo>
                    <a:pt x="150559" y="756580"/>
                    <a:pt x="202364" y="704842"/>
                    <a:pt x="253715" y="653517"/>
                  </a:cubicBezTo>
                  <a:cubicBezTo>
                    <a:pt x="263490" y="667403"/>
                    <a:pt x="273288" y="681357"/>
                    <a:pt x="282930" y="695071"/>
                  </a:cubicBezTo>
                  <a:close/>
                  <a:moveTo>
                    <a:pt x="361848" y="761174"/>
                  </a:moveTo>
                  <a:cubicBezTo>
                    <a:pt x="310475" y="812500"/>
                    <a:pt x="258672" y="864271"/>
                    <a:pt x="206442" y="916454"/>
                  </a:cubicBezTo>
                  <a:cubicBezTo>
                    <a:pt x="193413" y="905825"/>
                    <a:pt x="180306" y="895162"/>
                    <a:pt x="167397" y="884637"/>
                  </a:cubicBezTo>
                  <a:cubicBezTo>
                    <a:pt x="218679" y="833414"/>
                    <a:pt x="269568" y="782568"/>
                    <a:pt x="320064" y="732100"/>
                  </a:cubicBezTo>
                  <a:cubicBezTo>
                    <a:pt x="334132" y="741905"/>
                    <a:pt x="348189" y="751677"/>
                    <a:pt x="361848" y="761174"/>
                  </a:cubicBezTo>
                  <a:close/>
                  <a:moveTo>
                    <a:pt x="410946" y="785791"/>
                  </a:moveTo>
                  <a:cubicBezTo>
                    <a:pt x="412134" y="784248"/>
                    <a:pt x="414223" y="783734"/>
                    <a:pt x="415986" y="784557"/>
                  </a:cubicBezTo>
                  <a:cubicBezTo>
                    <a:pt x="432173" y="790008"/>
                    <a:pt x="448822" y="793951"/>
                    <a:pt x="465727" y="796385"/>
                  </a:cubicBezTo>
                  <a:cubicBezTo>
                    <a:pt x="467462" y="796625"/>
                    <a:pt x="469197" y="796900"/>
                    <a:pt x="471463" y="797243"/>
                  </a:cubicBezTo>
                  <a:cubicBezTo>
                    <a:pt x="470630" y="798168"/>
                    <a:pt x="470068" y="798888"/>
                    <a:pt x="469434" y="799506"/>
                  </a:cubicBezTo>
                  <a:cubicBezTo>
                    <a:pt x="413107" y="855597"/>
                    <a:pt x="356788" y="911688"/>
                    <a:pt x="300477" y="967780"/>
                  </a:cubicBezTo>
                  <a:cubicBezTo>
                    <a:pt x="299471" y="969254"/>
                    <a:pt x="297472" y="969666"/>
                    <a:pt x="295965" y="968706"/>
                  </a:cubicBezTo>
                  <a:cubicBezTo>
                    <a:pt x="281565" y="961162"/>
                    <a:pt x="267093" y="953723"/>
                    <a:pt x="252655" y="946214"/>
                  </a:cubicBezTo>
                  <a:cubicBezTo>
                    <a:pt x="252102" y="945905"/>
                    <a:pt x="251576" y="945528"/>
                    <a:pt x="251082" y="945117"/>
                  </a:cubicBezTo>
                  <a:cubicBezTo>
                    <a:pt x="251928" y="944225"/>
                    <a:pt x="252638" y="943437"/>
                    <a:pt x="253386" y="942682"/>
                  </a:cubicBezTo>
                  <a:cubicBezTo>
                    <a:pt x="305916" y="890397"/>
                    <a:pt x="358436" y="838111"/>
                    <a:pt x="410946" y="785791"/>
                  </a:cubicBezTo>
                  <a:close/>
                  <a:moveTo>
                    <a:pt x="542483" y="799608"/>
                  </a:moveTo>
                  <a:cubicBezTo>
                    <a:pt x="544032" y="798203"/>
                    <a:pt x="545973" y="797311"/>
                    <a:pt x="548044" y="797037"/>
                  </a:cubicBezTo>
                  <a:cubicBezTo>
                    <a:pt x="582700" y="792340"/>
                    <a:pt x="616242" y="781506"/>
                    <a:pt x="647099" y="765048"/>
                  </a:cubicBezTo>
                  <a:cubicBezTo>
                    <a:pt x="647929" y="764603"/>
                    <a:pt x="648813" y="764260"/>
                    <a:pt x="649687" y="763883"/>
                  </a:cubicBezTo>
                  <a:lnTo>
                    <a:pt x="650435" y="764706"/>
                  </a:lnTo>
                  <a:cubicBezTo>
                    <a:pt x="649502" y="765254"/>
                    <a:pt x="648618" y="765871"/>
                    <a:pt x="647795" y="766591"/>
                  </a:cubicBezTo>
                  <a:cubicBezTo>
                    <a:pt x="568708" y="845277"/>
                    <a:pt x="489614" y="923963"/>
                    <a:pt x="410507" y="1002682"/>
                  </a:cubicBezTo>
                  <a:cubicBezTo>
                    <a:pt x="409520" y="1003780"/>
                    <a:pt x="408136" y="1004431"/>
                    <a:pt x="406663" y="1004500"/>
                  </a:cubicBezTo>
                  <a:cubicBezTo>
                    <a:pt x="387912" y="1000900"/>
                    <a:pt x="369409" y="996100"/>
                    <a:pt x="351264" y="990134"/>
                  </a:cubicBezTo>
                  <a:cubicBezTo>
                    <a:pt x="352166" y="989105"/>
                    <a:pt x="352807" y="988317"/>
                    <a:pt x="353520" y="987631"/>
                  </a:cubicBezTo>
                  <a:cubicBezTo>
                    <a:pt x="416483" y="924923"/>
                    <a:pt x="479469" y="862248"/>
                    <a:pt x="542483" y="799608"/>
                  </a:cubicBezTo>
                  <a:close/>
                  <a:moveTo>
                    <a:pt x="1002381" y="630751"/>
                  </a:moveTo>
                  <a:lnTo>
                    <a:pt x="1003005" y="631060"/>
                  </a:lnTo>
                  <a:cubicBezTo>
                    <a:pt x="1000999" y="638294"/>
                    <a:pt x="999124" y="645563"/>
                    <a:pt x="996967" y="652763"/>
                  </a:cubicBezTo>
                  <a:cubicBezTo>
                    <a:pt x="987731" y="683757"/>
                    <a:pt x="975470" y="713791"/>
                    <a:pt x="960360" y="742385"/>
                  </a:cubicBezTo>
                  <a:cubicBezTo>
                    <a:pt x="958920" y="745128"/>
                    <a:pt x="957079" y="747666"/>
                    <a:pt x="954899" y="749860"/>
                  </a:cubicBezTo>
                  <a:cubicBezTo>
                    <a:pt x="887555" y="816991"/>
                    <a:pt x="820194" y="884123"/>
                    <a:pt x="752812" y="951220"/>
                  </a:cubicBezTo>
                  <a:cubicBezTo>
                    <a:pt x="747453" y="955883"/>
                    <a:pt x="741347" y="959654"/>
                    <a:pt x="734747" y="962294"/>
                  </a:cubicBezTo>
                  <a:cubicBezTo>
                    <a:pt x="702563" y="978271"/>
                    <a:pt x="668743" y="990717"/>
                    <a:pt x="633882" y="999391"/>
                  </a:cubicBezTo>
                  <a:cubicBezTo>
                    <a:pt x="633511" y="999494"/>
                    <a:pt x="633138" y="999528"/>
                    <a:pt x="633460" y="999460"/>
                  </a:cubicBezTo>
                  <a:cubicBezTo>
                    <a:pt x="756165" y="876820"/>
                    <a:pt x="879141" y="753905"/>
                    <a:pt x="1002381" y="630751"/>
                  </a:cubicBezTo>
                  <a:close/>
                </a:path>
              </a:pathLst>
            </a:custGeom>
            <a:solidFill>
              <a:schemeClr val="accent1"/>
            </a:solidFill>
            <a:ln w="3429" cap="flat">
              <a:noFill/>
              <a:prstDash val="solid"/>
              <a:miter/>
            </a:ln>
          </p:spPr>
          <p:txBody>
            <a:bodyPr rtlCol="0" anchor="ctr"/>
            <a:lstStyle/>
            <a:p>
              <a:endParaRPr lang="zh-CN" altLang="en-US">
                <a:cs typeface="思源黑体 Regular" panose="020B0500000000000000" charset="-122"/>
              </a:endParaRPr>
            </a:p>
          </p:txBody>
        </p:sp>
      </p:grpSp>
      <p:pic>
        <p:nvPicPr>
          <p:cNvPr id="246" name="图片 245"/>
          <p:cNvPicPr>
            <a:picLocks noChangeAspect="1"/>
          </p:cNvPicPr>
          <p:nvPr/>
        </p:nvPicPr>
        <p:blipFill>
          <a:blip r:embed="rId24"/>
          <a:stretch>
            <a:fillRect/>
          </a:stretch>
        </p:blipFill>
        <p:spPr>
          <a:xfrm>
            <a:off x="10179050" y="143510"/>
            <a:ext cx="1800225" cy="6038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0052CC">
              <a:alpha val="4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1905000" cy="1905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实习概览：我的4周节奏与成长曲线</a:t>
            </a:r>
            <a:endParaRPr lang="en-US" sz="1100"/>
          </a:p>
        </p:txBody>
      </p:sp>
      <p:sp>
        <p:nvSpPr>
          <p:cNvPr id="5" name="AutoShape 5"/>
          <p:cNvSpPr/>
          <p:nvPr>
            <p:custDataLst>
              <p:tags r:id="rId1"/>
            </p:custDataLst>
          </p:nvPr>
        </p:nvSpPr>
        <p:spPr>
          <a:xfrm>
            <a:off x="762000" y="1524000"/>
            <a:ext cx="5270500" cy="2159000"/>
          </a:xfrm>
          <a:prstGeom prst="roundRect">
            <a:avLst>
              <a:gd name="adj" fmla="val 0"/>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714500"/>
            <a:ext cx="304800" cy="304800"/>
          </a:xfrm>
          <a:prstGeom prst="rect">
            <a:avLst/>
          </a:prstGeom>
        </p:spPr>
      </p:pic>
      <p:sp>
        <p:nvSpPr>
          <p:cNvPr id="7" name="AutoShape 7"/>
          <p:cNvSpPr/>
          <p:nvPr>
            <p:custDataLst>
              <p:tags r:id="rId5"/>
            </p:custDataLst>
          </p:nvPr>
        </p:nvSpPr>
        <p:spPr>
          <a:xfrm>
            <a:off x="1397000" y="16764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01 / 第一周：入场与适应</a:t>
            </a:r>
            <a:endParaRPr lang="en-US" sz="1100"/>
          </a:p>
        </p:txBody>
      </p:sp>
      <p:sp>
        <p:nvSpPr>
          <p:cNvPr id="8" name="AutoShape 8"/>
          <p:cNvSpPr/>
          <p:nvPr>
            <p:custDataLst>
              <p:tags r:id="rId6"/>
            </p:custDataLst>
          </p:nvPr>
        </p:nvSpPr>
        <p:spPr>
          <a:xfrm>
            <a:off x="952500" y="21844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a:solidFill>
                  <a:srgbClr val="4B5563"/>
                </a:solidFill>
                <a:latin typeface="Noto Sans SC" panose="020B0200000000000000" charset="-122"/>
                <a:ea typeface="Noto Sans SC" panose="020B0200000000000000" charset="-122"/>
                <a:cs typeface="Noto Sans SC" panose="020B0200000000000000" charset="-122"/>
              </a:rPr>
              <a:t>按部门要求完成 Teamgo 系统</a:t>
            </a:r>
            <a:r>
              <a:rPr lang="en-US" sz="1600">
                <a:solidFill>
                  <a:srgbClr val="4B5563"/>
                </a:solidFill>
                <a:highlight>
                  <a:srgbClr val="00FFFF"/>
                </a:highlight>
                <a:latin typeface="Noto Sans SC" panose="020B0200000000000000" charset="-122"/>
                <a:ea typeface="Noto Sans SC" panose="020B0200000000000000" charset="-122"/>
                <a:cs typeface="Noto Sans SC" panose="020B0200000000000000" charset="-122"/>
              </a:rPr>
              <a:t>本地环境的基础搭建</a:t>
            </a:r>
            <a:r>
              <a:rPr lang="en-US" sz="1600">
                <a:solidFill>
                  <a:srgbClr val="4B5563"/>
                </a:solidFill>
                <a:latin typeface="Noto Sans SC" panose="020B0200000000000000" charset="-122"/>
                <a:ea typeface="Noto Sans SC" panose="020B0200000000000000" charset="-122"/>
                <a:cs typeface="Noto Sans SC" panose="020B0200000000000000" charset="-122"/>
              </a:rPr>
              <a:t>（MySQL、Redis、Nacos、JDK），熟悉团队成员、所在项目和近期待办。</a:t>
            </a:r>
            <a:r>
              <a:rPr lang="en-US" sz="1600">
                <a:solidFill>
                  <a:srgbClr val="4B5563"/>
                </a:solidFill>
                <a:highlight>
                  <a:srgbClr val="00FFFF"/>
                </a:highlight>
                <a:latin typeface="Noto Sans SC" panose="020B0200000000000000" charset="-122"/>
                <a:ea typeface="Noto Sans SC" panose="020B0200000000000000" charset="-122"/>
                <a:cs typeface="Noto Sans SC" panose="020B0200000000000000" charset="-122"/>
              </a:rPr>
              <a:t>旁听 V6 项目启动会、周例会</a:t>
            </a:r>
            <a:r>
              <a:rPr lang="en-US" sz="1600">
                <a:solidFill>
                  <a:srgbClr val="4B5563"/>
                </a:solidFill>
                <a:latin typeface="Noto Sans SC" panose="020B0200000000000000" charset="-122"/>
                <a:ea typeface="Noto Sans SC" panose="020B0200000000000000" charset="-122"/>
                <a:cs typeface="Noto Sans SC" panose="020B0200000000000000" charset="-122"/>
              </a:rPr>
              <a:t>，并承担集团工程师V6客户端安装的企业微信对接任务。</a:t>
            </a:r>
            <a:endParaRPr lang="en-US" sz="16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 name="AutoShape 9"/>
          <p:cNvSpPr/>
          <p:nvPr>
            <p:custDataLst>
              <p:tags r:id="rId7"/>
            </p:custDataLst>
          </p:nvPr>
        </p:nvSpPr>
        <p:spPr>
          <a:xfrm>
            <a:off x="6223000" y="1524000"/>
            <a:ext cx="5270500" cy="2159000"/>
          </a:xfrm>
          <a:prstGeom prst="roundRect">
            <a:avLst>
              <a:gd name="adj" fmla="val 0"/>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13500" y="1714500"/>
            <a:ext cx="304800" cy="304800"/>
          </a:xfrm>
          <a:prstGeom prst="rect">
            <a:avLst/>
          </a:prstGeom>
        </p:spPr>
      </p:pic>
      <p:sp>
        <p:nvSpPr>
          <p:cNvPr id="11" name="AutoShape 11"/>
          <p:cNvSpPr/>
          <p:nvPr>
            <p:custDataLst>
              <p:tags r:id="rId11"/>
            </p:custDataLst>
          </p:nvPr>
        </p:nvSpPr>
        <p:spPr>
          <a:xfrm>
            <a:off x="6858000" y="16764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02 / 第二周：深入V6项目现场</a:t>
            </a:r>
            <a:endParaRPr lang="en-US" sz="1100"/>
          </a:p>
        </p:txBody>
      </p:sp>
      <p:sp>
        <p:nvSpPr>
          <p:cNvPr id="12" name="AutoShape 12"/>
          <p:cNvSpPr/>
          <p:nvPr>
            <p:custDataLst>
              <p:tags r:id="rId12"/>
            </p:custDataLst>
          </p:nvPr>
        </p:nvSpPr>
        <p:spPr>
          <a:xfrm>
            <a:off x="6413500" y="21844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a:solidFill>
                  <a:srgbClr val="4B5563"/>
                </a:solidFill>
                <a:latin typeface="Noto Sans SC" panose="020B0200000000000000" charset="-122"/>
                <a:ea typeface="Noto Sans SC" panose="020B0200000000000000" charset="-122"/>
                <a:cs typeface="Noto Sans SC" panose="020B0200000000000000" charset="-122"/>
              </a:rPr>
              <a:t>深入 V6项目（CATIA V6 试点硬件采购）现场。旁听参加</a:t>
            </a:r>
            <a:r>
              <a:rPr lang="en-US" sz="1600">
                <a:solidFill>
                  <a:srgbClr val="4B5563"/>
                </a:solidFill>
                <a:highlight>
                  <a:srgbClr val="00FFFF"/>
                </a:highlight>
                <a:latin typeface="Noto Sans SC" panose="020B0200000000000000" charset="-122"/>
                <a:ea typeface="Noto Sans SC" panose="020B0200000000000000" charset="-122"/>
                <a:cs typeface="Noto Sans SC" panose="020B0200000000000000" charset="-122"/>
              </a:rPr>
              <a:t>采购会议</a:t>
            </a:r>
            <a:r>
              <a:rPr lang="zh-CN" altLang="en-US" sz="1600">
                <a:solidFill>
                  <a:srgbClr val="4B5563"/>
                </a:solidFill>
                <a:latin typeface="Noto Sans SC" panose="020B0200000000000000" charset="-122"/>
                <a:ea typeface="Noto Sans SC" panose="020B0200000000000000" charset="-122"/>
                <a:cs typeface="Noto Sans SC" panose="020B0200000000000000" charset="-122"/>
              </a:rPr>
              <a:t>；</a:t>
            </a:r>
            <a:r>
              <a:rPr lang="en-US" sz="1600">
                <a:solidFill>
                  <a:srgbClr val="4B5563"/>
                </a:solidFill>
                <a:latin typeface="Noto Sans SC" panose="020B0200000000000000" charset="-122"/>
                <a:ea typeface="Noto Sans SC" panose="020B0200000000000000" charset="-122"/>
                <a:cs typeface="Noto Sans SC" panose="020B0200000000000000" charset="-122"/>
              </a:rPr>
              <a:t>旁看学习带教老师编写招标文件、技术规格书与采购方案</a:t>
            </a:r>
            <a:r>
              <a:rPr lang="zh-CN" altLang="en-US" sz="1600">
                <a:solidFill>
                  <a:srgbClr val="4B5563"/>
                </a:solidFill>
                <a:latin typeface="Noto Sans SC" panose="020B0200000000000000" charset="-122"/>
                <a:ea typeface="Noto Sans SC" panose="020B0200000000000000" charset="-122"/>
                <a:cs typeface="Noto Sans SC" panose="020B0200000000000000" charset="-122"/>
              </a:rPr>
              <a:t>；剪辑成果汇报视频。</a:t>
            </a:r>
            <a:endParaRPr lang="zh-CN" altLang="en-US" sz="16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3" name="AutoShape 13"/>
          <p:cNvSpPr/>
          <p:nvPr>
            <p:custDataLst>
              <p:tags r:id="rId13"/>
            </p:custDataLst>
          </p:nvPr>
        </p:nvSpPr>
        <p:spPr>
          <a:xfrm>
            <a:off x="762000" y="3937000"/>
            <a:ext cx="5270500" cy="2159000"/>
          </a:xfrm>
          <a:prstGeom prst="roundRect">
            <a:avLst>
              <a:gd name="adj" fmla="val 0"/>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52500" y="4127500"/>
            <a:ext cx="304800" cy="304800"/>
          </a:xfrm>
          <a:prstGeom prst="rect">
            <a:avLst/>
          </a:prstGeom>
        </p:spPr>
      </p:pic>
      <p:sp>
        <p:nvSpPr>
          <p:cNvPr id="15" name="AutoShape 15"/>
          <p:cNvSpPr/>
          <p:nvPr>
            <p:custDataLst>
              <p:tags r:id="rId17"/>
            </p:custDataLst>
          </p:nvPr>
        </p:nvSpPr>
        <p:spPr>
          <a:xfrm>
            <a:off x="1397000" y="40894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03 / 第三周：多线任务并行推进</a:t>
            </a:r>
            <a:endParaRPr lang="en-US" sz="1100"/>
          </a:p>
        </p:txBody>
      </p:sp>
      <p:sp>
        <p:nvSpPr>
          <p:cNvPr id="16" name="AutoShape 16"/>
          <p:cNvSpPr/>
          <p:nvPr>
            <p:custDataLst>
              <p:tags r:id="rId18"/>
            </p:custDataLst>
          </p:nvPr>
        </p:nvSpPr>
        <p:spPr>
          <a:xfrm>
            <a:off x="952500" y="45974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a:solidFill>
                  <a:srgbClr val="4B5563"/>
                </a:solidFill>
                <a:latin typeface="Noto Sans SC" panose="020B0200000000000000" charset="-122"/>
                <a:ea typeface="Noto Sans SC" panose="020B0200000000000000" charset="-122"/>
                <a:cs typeface="Noto Sans SC" panose="020B0200000000000000" charset="-122"/>
              </a:rPr>
              <a:t>旁听 V6 项目蓝图会，进一步理解学习项目具体实施流程；承担移动工作站 5 家供应商的会议组织、纪要与签章推进</a:t>
            </a:r>
            <a:r>
              <a:rPr lang="zh-CN" altLang="en-US" sz="1600">
                <a:solidFill>
                  <a:srgbClr val="4B5563"/>
                </a:solidFill>
                <a:latin typeface="Noto Sans SC" panose="020B0200000000000000" charset="-122"/>
                <a:ea typeface="Noto Sans SC" panose="020B0200000000000000" charset="-122"/>
                <a:cs typeface="Noto Sans SC" panose="020B0200000000000000" charset="-122"/>
              </a:rPr>
              <a:t>；</a:t>
            </a:r>
            <a:r>
              <a:rPr lang="en-US" sz="1600">
                <a:solidFill>
                  <a:srgbClr val="4B5563"/>
                </a:solidFill>
                <a:latin typeface="Noto Sans SC" panose="020B0200000000000000" charset="-122"/>
                <a:ea typeface="Noto Sans SC" panose="020B0200000000000000" charset="-122"/>
                <a:cs typeface="Noto Sans SC" panose="020B0200000000000000" charset="-122"/>
                <a:sym typeface="+mn-ea"/>
              </a:rPr>
              <a:t>继续推进 Teamgo 系统的项目逻辑梳理与前端架构理解</a:t>
            </a:r>
            <a:endParaRPr lang="zh-CN" altLang="en-US" sz="16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7" name="AutoShape 17"/>
          <p:cNvSpPr/>
          <p:nvPr>
            <p:custDataLst>
              <p:tags r:id="rId19"/>
            </p:custDataLst>
          </p:nvPr>
        </p:nvSpPr>
        <p:spPr>
          <a:xfrm>
            <a:off x="6223000" y="3937000"/>
            <a:ext cx="5270500" cy="2159000"/>
          </a:xfrm>
          <a:prstGeom prst="roundRect">
            <a:avLst>
              <a:gd name="adj" fmla="val 0"/>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413500" y="4127500"/>
            <a:ext cx="304800" cy="304800"/>
          </a:xfrm>
          <a:prstGeom prst="rect">
            <a:avLst/>
          </a:prstGeom>
        </p:spPr>
      </p:pic>
      <p:sp>
        <p:nvSpPr>
          <p:cNvPr id="19" name="AutoShape 19"/>
          <p:cNvSpPr/>
          <p:nvPr>
            <p:custDataLst>
              <p:tags r:id="rId23"/>
            </p:custDataLst>
          </p:nvPr>
        </p:nvSpPr>
        <p:spPr>
          <a:xfrm>
            <a:off x="6858000" y="40894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04 / 第四周：复盘沉淀与成果交付</a:t>
            </a:r>
            <a:endParaRPr lang="en-US" sz="1100"/>
          </a:p>
        </p:txBody>
      </p:sp>
      <p:sp>
        <p:nvSpPr>
          <p:cNvPr id="20" name="AutoShape 20"/>
          <p:cNvSpPr/>
          <p:nvPr>
            <p:custDataLst>
              <p:tags r:id="rId24"/>
            </p:custDataLst>
          </p:nvPr>
        </p:nvSpPr>
        <p:spPr>
          <a:xfrm>
            <a:off x="6413500" y="45974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a:solidFill>
                  <a:srgbClr val="4B5563"/>
                </a:solidFill>
                <a:latin typeface="Noto Sans SC" panose="020B0200000000000000" charset="-122"/>
                <a:ea typeface="Noto Sans SC" panose="020B0200000000000000" charset="-122"/>
                <a:cs typeface="Noto Sans SC" panose="020B0200000000000000" charset="-122"/>
              </a:rPr>
              <a:t>进入收束期。进行企业级 BOM 调研，基于 WorkBuddy 工作流整理对标资料；完成实习总结沉淀。</a:t>
            </a:r>
            <a:endParaRPr lang="en-US" sz="1600">
              <a:solidFill>
                <a:srgbClr val="4B5563"/>
              </a:solidFill>
              <a:latin typeface="Noto Sans SC" panose="020B0200000000000000" charset="-122"/>
              <a:ea typeface="Noto Sans SC" panose="020B0200000000000000" charset="-122"/>
              <a:cs typeface="Noto Sans SC" panose="020B0200000000000000" charset="-122"/>
            </a:endParaRPr>
          </a:p>
        </p:txBody>
      </p:sp>
      <p:pic>
        <p:nvPicPr>
          <p:cNvPr id="21" name="图片 20"/>
          <p:cNvPicPr>
            <a:picLocks noChangeAspect="1"/>
          </p:cNvPicPr>
          <p:nvPr/>
        </p:nvPicPr>
        <p:blipFill>
          <a:blip r:embed="rId25"/>
          <a:stretch>
            <a:fillRect/>
          </a:stretch>
        </p:blipFill>
        <p:spPr>
          <a:xfrm>
            <a:off x="10179050" y="143510"/>
            <a:ext cx="1800225" cy="6038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0052CC">
              <a:alpha val="4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1905000" cy="1905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实习概览：我的4周节奏与成长曲线</a:t>
            </a:r>
            <a:endParaRPr lang="en-US" sz="1100"/>
          </a:p>
        </p:txBody>
      </p:sp>
      <p:graphicFrame>
        <p:nvGraphicFramePr>
          <p:cNvPr id="29" name="图表 28"/>
          <p:cNvGraphicFramePr/>
          <p:nvPr/>
        </p:nvGraphicFramePr>
        <p:xfrm>
          <a:off x="861060" y="1371600"/>
          <a:ext cx="6109335" cy="3937000"/>
        </p:xfrm>
        <a:graphic>
          <a:graphicData uri="http://schemas.openxmlformats.org/drawingml/2006/chart">
            <c:chart xmlns:c="http://schemas.openxmlformats.org/drawingml/2006/chart" xmlns:r="http://schemas.openxmlformats.org/officeDocument/2006/relationships" r:id="rId1"/>
          </a:graphicData>
        </a:graphic>
      </p:graphicFrame>
      <p:grpSp>
        <p:nvGrpSpPr>
          <p:cNvPr id="31" name="组合 30"/>
          <p:cNvGrpSpPr/>
          <p:nvPr/>
        </p:nvGrpSpPr>
        <p:grpSpPr>
          <a:xfrm>
            <a:off x="7689850" y="1021715"/>
            <a:ext cx="4727575" cy="4695190"/>
            <a:chOff x="11945" y="2386"/>
            <a:chExt cx="7445" cy="7394"/>
          </a:xfrm>
        </p:grpSpPr>
        <p:sp>
          <p:nvSpPr>
            <p:cNvPr id="21" name="AutoShape 5"/>
            <p:cNvSpPr/>
            <p:nvPr>
              <p:custDataLst>
                <p:tags r:id="rId2"/>
              </p:custDataLst>
            </p:nvPr>
          </p:nvSpPr>
          <p:spPr>
            <a:xfrm>
              <a:off x="11945" y="2386"/>
              <a:ext cx="6713" cy="7394"/>
            </a:xfrm>
            <a:prstGeom prst="roundRect">
              <a:avLst>
                <a:gd name="adj" fmla="val 0"/>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8"/>
            <p:cNvSpPr/>
            <p:nvPr>
              <p:custDataLst>
                <p:tags r:id="rId3"/>
              </p:custDataLst>
            </p:nvPr>
          </p:nvSpPr>
          <p:spPr>
            <a:xfrm>
              <a:off x="12390" y="3743"/>
              <a:ext cx="5823" cy="5482"/>
            </a:xfrm>
            <a:prstGeom prst="rect">
              <a:avLst/>
            </a:prstGeom>
            <a:noFill/>
            <a:ln w="12700" cap="flat" cmpd="sng">
              <a:noFill/>
              <a:prstDash val="solid"/>
              <a:round/>
            </a:ln>
          </p:spPr>
          <p:txBody>
            <a:bodyPr vert="horz" wrap="square" lIns="0" tIns="0" rIns="0" bIns="0" rtlCol="0" anchor="ctr" anchorCtr="0"/>
            <a:lstStyle/>
            <a:p>
              <a:pPr marL="0" indent="0" algn="l">
                <a:lnSpc>
                  <a:spcPct val="118000"/>
                </a:lnSpc>
                <a:defRPr/>
              </a:pPr>
              <a:r>
                <a:rPr lang="zh-CN" altLang="en-US" sz="2000">
                  <a:solidFill>
                    <a:srgbClr val="4B5563"/>
                  </a:solidFill>
                  <a:latin typeface="Noto Sans SC" panose="020B0200000000000000" charset="-122"/>
                  <a:ea typeface="Noto Sans SC" panose="020B0200000000000000" charset="-122"/>
                  <a:cs typeface="Noto Sans SC" panose="020B0200000000000000" charset="-122"/>
                </a:rPr>
                <a:t>本次实习过程中，我的适应上手程度随项目推进</a:t>
              </a:r>
              <a:r>
                <a:rPr lang="zh-CN" altLang="en-US" sz="2000">
                  <a:solidFill>
                    <a:srgbClr val="4B5563"/>
                  </a:solidFill>
                  <a:highlight>
                    <a:srgbClr val="00FFFF"/>
                  </a:highlight>
                  <a:latin typeface="Noto Sans SC" panose="020B0200000000000000" charset="-122"/>
                  <a:ea typeface="Noto Sans SC" panose="020B0200000000000000" charset="-122"/>
                  <a:cs typeface="Noto Sans SC" panose="020B0200000000000000" charset="-122"/>
                </a:rPr>
                <a:t>逐步提升</a:t>
              </a:r>
              <a:r>
                <a:rPr lang="zh-CN" altLang="en-US" sz="2000">
                  <a:solidFill>
                    <a:srgbClr val="4B5563"/>
                  </a:solidFill>
                  <a:latin typeface="Noto Sans SC" panose="020B0200000000000000" charset="-122"/>
                  <a:ea typeface="Noto Sans SC" panose="020B0200000000000000" charset="-122"/>
                  <a:cs typeface="Noto Sans SC" panose="020B0200000000000000" charset="-122"/>
                </a:rPr>
                <a:t>。从 </a:t>
              </a:r>
              <a:r>
                <a:rPr lang="en-US" altLang="zh-CN" sz="2000">
                  <a:solidFill>
                    <a:srgbClr val="4B5563"/>
                  </a:solidFill>
                  <a:latin typeface="Noto Sans SC" panose="020B0200000000000000" charset="-122"/>
                  <a:ea typeface="Noto Sans SC" panose="020B0200000000000000" charset="-122"/>
                  <a:cs typeface="Noto Sans SC" panose="020B0200000000000000" charset="-122"/>
                </a:rPr>
                <a:t>W1 </a:t>
              </a:r>
              <a:r>
                <a:rPr lang="zh-CN" altLang="en-US" sz="2000">
                  <a:solidFill>
                    <a:srgbClr val="4B5563"/>
                  </a:solidFill>
                  <a:latin typeface="Noto Sans SC" panose="020B0200000000000000" charset="-122"/>
                  <a:ea typeface="Noto Sans SC" panose="020B0200000000000000" charset="-122"/>
                  <a:cs typeface="Noto Sans SC" panose="020B0200000000000000" charset="-122"/>
                </a:rPr>
                <a:t>刚入场的初步熟悉阶段，历经 </a:t>
              </a:r>
              <a:r>
                <a:rPr lang="en-US" altLang="zh-CN" sz="2000">
                  <a:solidFill>
                    <a:srgbClr val="4B5563"/>
                  </a:solidFill>
                  <a:latin typeface="Noto Sans SC" panose="020B0200000000000000" charset="-122"/>
                  <a:ea typeface="Noto Sans SC" panose="020B0200000000000000" charset="-122"/>
                  <a:cs typeface="Noto Sans SC" panose="020B0200000000000000" charset="-122"/>
                </a:rPr>
                <a:t>Teamgo </a:t>
              </a:r>
              <a:r>
                <a:rPr lang="zh-CN" altLang="en-US" sz="2000">
                  <a:solidFill>
                    <a:srgbClr val="4B5563"/>
                  </a:solidFill>
                  <a:latin typeface="Noto Sans SC" panose="020B0200000000000000" charset="-122"/>
                  <a:ea typeface="Noto Sans SC" panose="020B0200000000000000" charset="-122"/>
                  <a:cs typeface="Noto Sans SC" panose="020B0200000000000000" charset="-122"/>
                </a:rPr>
                <a:t>环境搭建、视频制作、</a:t>
              </a:r>
              <a:r>
                <a:rPr lang="en-US" altLang="zh-CN" sz="2000">
                  <a:solidFill>
                    <a:srgbClr val="4B5563"/>
                  </a:solidFill>
                  <a:latin typeface="Noto Sans SC" panose="020B0200000000000000" charset="-122"/>
                  <a:ea typeface="Noto Sans SC" panose="020B0200000000000000" charset="-122"/>
                  <a:cs typeface="Noto Sans SC" panose="020B0200000000000000" charset="-122"/>
                </a:rPr>
                <a:t>BOM </a:t>
              </a:r>
              <a:r>
                <a:rPr lang="zh-CN" altLang="en-US" sz="2000">
                  <a:solidFill>
                    <a:srgbClr val="4B5563"/>
                  </a:solidFill>
                  <a:latin typeface="Noto Sans SC" panose="020B0200000000000000" charset="-122"/>
                  <a:ea typeface="Noto Sans SC" panose="020B0200000000000000" charset="-122"/>
                  <a:cs typeface="Noto Sans SC" panose="020B0200000000000000" charset="-122"/>
                </a:rPr>
                <a:t>调研、项目复盘等多项任务历练，在项目实操、跨方沟通、业务理解上持续积累，能力实现阶梯式成长。随着接触的业务复杂度不断提高，个人对岗位工作的认知与实操熟练度稳步向上。</a:t>
              </a:r>
              <a:endParaRPr lang="zh-CN" altLang="en-US" sz="20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4" name="AutoShape 7"/>
            <p:cNvSpPr/>
            <p:nvPr>
              <p:custDataLst>
                <p:tags r:id="rId4"/>
              </p:custDataLst>
            </p:nvPr>
          </p:nvSpPr>
          <p:spPr>
            <a:xfrm>
              <a:off x="12390" y="2640"/>
              <a:ext cx="7000" cy="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阶段性适应</a:t>
              </a:r>
              <a:endParaRPr lang="zh-CN" alt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sp>
        <p:nvSpPr>
          <p:cNvPr id="25" name="AutoShape 24"/>
          <p:cNvSpPr/>
          <p:nvPr/>
        </p:nvSpPr>
        <p:spPr>
          <a:xfrm>
            <a:off x="438150" y="5857875"/>
            <a:ext cx="8432800" cy="838835"/>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26" name="AutoShape 25"/>
          <p:cNvSpPr/>
          <p:nvPr/>
        </p:nvSpPr>
        <p:spPr>
          <a:xfrm>
            <a:off x="438150" y="5857875"/>
            <a:ext cx="76200" cy="838835"/>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27"/>
          <p:cNvSpPr/>
          <p:nvPr/>
        </p:nvSpPr>
        <p:spPr>
          <a:xfrm>
            <a:off x="568325" y="5977890"/>
            <a:ext cx="7981315" cy="692785"/>
          </a:xfrm>
          <a:prstGeom prst="rect">
            <a:avLst/>
          </a:prstGeom>
          <a:noFill/>
          <a:ln w="12700" cap="flat" cmpd="sng">
            <a:noFill/>
            <a:prstDash val="solid"/>
            <a:round/>
          </a:ln>
        </p:spPr>
        <p:txBody>
          <a:bodyPr vert="horz" wrap="square" lIns="0" tIns="0" rIns="0" bIns="0" rtlCol="0" anchor="ctr" anchorCtr="0"/>
          <a:lstStyle/>
          <a:p>
            <a:pPr marL="0" indent="0" algn="just">
              <a:lnSpc>
                <a:spcPct val="125000"/>
              </a:lnSpc>
              <a:defRPr/>
            </a:pPr>
            <a:r>
              <a:rPr lang="zh-CN" altLang="en-US" sz="1600">
                <a:solidFill>
                  <a:srgbClr val="4B5563"/>
                </a:solidFill>
                <a:latin typeface="Noto Sans SC" panose="020B0200000000000000" charset="-122"/>
                <a:ea typeface="Noto Sans SC" panose="020B0200000000000000" charset="-122"/>
                <a:cs typeface="Noto Sans SC" panose="020B0200000000000000" charset="-122"/>
              </a:rPr>
              <a:t>每一周都有周一上午的实习</a:t>
            </a:r>
            <a:r>
              <a:rPr lang="zh-CN" altLang="en-US" sz="1600">
                <a:solidFill>
                  <a:srgbClr val="4B5563"/>
                </a:solidFill>
                <a:latin typeface="Noto Sans SC" panose="020B0200000000000000" charset="-122"/>
                <a:ea typeface="Noto Sans SC" panose="020B0200000000000000" charset="-122"/>
                <a:cs typeface="Noto Sans SC" panose="020B0200000000000000" charset="-122"/>
              </a:rPr>
              <a:t>报告例会——汇报上周收获，由部门领导直接点评和纠偏。会议节奏稳定、要点明确，让我能在每一次例会后以更高的方向感回到岗位。</a:t>
            </a:r>
            <a:endParaRPr lang="zh-CN" altLang="en-US" sz="1600">
              <a:solidFill>
                <a:srgbClr val="4B5563"/>
              </a:solidFill>
              <a:latin typeface="Noto Sans SC" panose="020B0200000000000000" charset="-122"/>
              <a:ea typeface="Noto Sans SC" panose="020B0200000000000000" charset="-122"/>
              <a:cs typeface="Noto Sans SC" panose="020B0200000000000000" charset="-122"/>
            </a:endParaRPr>
          </a:p>
        </p:txBody>
      </p:sp>
      <p:pic>
        <p:nvPicPr>
          <p:cNvPr id="32" name="图片 31"/>
          <p:cNvPicPr>
            <a:picLocks noChangeAspect="1"/>
          </p:cNvPicPr>
          <p:nvPr/>
        </p:nvPicPr>
        <p:blipFill>
          <a:blip r:embed="rId5"/>
          <a:stretch>
            <a:fillRect/>
          </a:stretch>
        </p:blipFill>
        <p:spPr>
          <a:xfrm>
            <a:off x="10179050" y="143510"/>
            <a:ext cx="1800225" cy="603885"/>
          </a:xfrm>
          <a:prstGeom prst="rect">
            <a:avLst/>
          </a:prstGeom>
        </p:spPr>
      </p:pic>
      <p:sp>
        <p:nvSpPr>
          <p:cNvPr id="5" name="AutoShape 2"/>
          <p:cNvSpPr/>
          <p:nvPr/>
        </p:nvSpPr>
        <p:spPr>
          <a:xfrm>
            <a:off x="-1587500" y="-1308100"/>
            <a:ext cx="3810000" cy="3810000"/>
          </a:xfrm>
          <a:prstGeom prst="ellipse">
            <a:avLst/>
          </a:prstGeom>
          <a:solidFill>
            <a:srgbClr val="0052CC">
              <a:alpha val="4000"/>
            </a:srgbClr>
          </a:solidFill>
          <a:ln w="25400" cap="flat" cmpd="sng">
            <a:noFill/>
            <a:prstDash val="solid"/>
            <a:round/>
          </a:ln>
        </p:spPr>
        <p:txBody>
          <a:bodyPr vert="horz" wrap="square" lIns="63500" tIns="63500" rIns="63500" bIns="63500" rtlCol="0" anchor="ctr"/>
          <a:p>
            <a:pPr algn="ctr">
              <a:defRPr/>
            </a:p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实习概览：关键数字定调</a:t>
            </a:r>
            <a:endParaRPr lang="en-US" sz="1100"/>
          </a:p>
        </p:txBody>
      </p:sp>
      <p:sp>
        <p:nvSpPr>
          <p:cNvPr id="3" name="AutoShape 3"/>
          <p:cNvSpPr/>
          <p:nvPr>
            <p:custDataLst>
              <p:tags r:id="rId1"/>
            </p:custDataLst>
          </p:nvPr>
        </p:nvSpPr>
        <p:spPr>
          <a:xfrm>
            <a:off x="762000" y="1651000"/>
            <a:ext cx="2032000" cy="2032000"/>
          </a:xfrm>
          <a:prstGeom prst="roundRect">
            <a:avLst>
              <a:gd name="adj" fmla="val 0"/>
            </a:avLst>
          </a:prstGeom>
          <a:solidFill>
            <a:srgbClr val="0052CC">
              <a:alpha val="5000"/>
            </a:srgbClr>
          </a:solidFill>
          <a:ln cap="flat" cmpd="sng">
            <a:solidFill>
              <a:srgbClr val="0048B3">
                <a:alpha val="5000"/>
              </a:srgbClr>
            </a:solidFill>
            <a:prstDash val="solid"/>
            <a:round/>
          </a:ln>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762000" y="1841500"/>
            <a:ext cx="203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4 </a:t>
            </a:r>
            <a:r>
              <a:rPr lang="en-US" sz="1800" b="0"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周</a:t>
            </a:r>
            <a:endParaRPr lang="en-US" sz="1100"/>
          </a:p>
        </p:txBody>
      </p:sp>
      <p:sp>
        <p:nvSpPr>
          <p:cNvPr id="5" name="AutoShape 5"/>
          <p:cNvSpPr/>
          <p:nvPr>
            <p:custDataLst>
              <p:tags r:id="rId3"/>
            </p:custDataLst>
          </p:nvPr>
        </p:nvSpPr>
        <p:spPr>
          <a:xfrm>
            <a:off x="762000" y="2603500"/>
            <a:ext cx="203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实习总周期</a:t>
            </a:r>
            <a:endParaRPr lang="en-US" sz="1100"/>
          </a:p>
        </p:txBody>
      </p:sp>
      <p:sp>
        <p:nvSpPr>
          <p:cNvPr id="6" name="AutoShape 6"/>
          <p:cNvSpPr/>
          <p:nvPr>
            <p:custDataLst>
              <p:tags r:id="rId4"/>
            </p:custDataLst>
          </p:nvPr>
        </p:nvSpPr>
        <p:spPr>
          <a:xfrm>
            <a:off x="762000" y="3048000"/>
            <a:ext cx="203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紧凑时间内完成</a:t>
            </a:r>
            <a:b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高密度业务实践</a:t>
            </a:r>
            <a:endParaRPr lang="en-US" sz="1100"/>
          </a:p>
        </p:txBody>
      </p:sp>
      <p:sp>
        <p:nvSpPr>
          <p:cNvPr id="7" name="AutoShape 7"/>
          <p:cNvSpPr/>
          <p:nvPr>
            <p:custDataLst>
              <p:tags r:id="rId5"/>
            </p:custDataLst>
          </p:nvPr>
        </p:nvSpPr>
        <p:spPr>
          <a:xfrm>
            <a:off x="2984500" y="1651000"/>
            <a:ext cx="2032000" cy="2552065"/>
          </a:xfrm>
          <a:prstGeom prst="roundRect">
            <a:avLst>
              <a:gd name="adj" fmla="val 0"/>
            </a:avLst>
          </a:prstGeom>
          <a:solidFill>
            <a:srgbClr val="0052CC">
              <a:alpha val="5000"/>
            </a:srgbClr>
          </a:solidFill>
          <a:ln cap="flat" cmpd="sng">
            <a:solidFill>
              <a:srgbClr val="0048B3">
                <a:alpha val="5000"/>
              </a:srgbClr>
            </a:solidFill>
            <a:prstDash val="solid"/>
            <a:round/>
          </a:ln>
        </p:spPr>
        <p:txBody>
          <a:bodyPr vert="horz" wrap="square" lIns="63500" tIns="63500" rIns="63500" bIns="63500" rtlCol="0" anchor="ctr"/>
          <a:lstStyle/>
          <a:p>
            <a:pPr algn="ctr">
              <a:defRPr/>
            </a:pPr>
          </a:p>
        </p:txBody>
      </p:sp>
      <p:sp>
        <p:nvSpPr>
          <p:cNvPr id="8" name="AutoShape 8"/>
          <p:cNvSpPr/>
          <p:nvPr>
            <p:custDataLst>
              <p:tags r:id="rId6"/>
            </p:custDataLst>
          </p:nvPr>
        </p:nvSpPr>
        <p:spPr>
          <a:xfrm>
            <a:off x="2984500" y="1841500"/>
            <a:ext cx="203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5 </a:t>
            </a:r>
            <a:r>
              <a:rPr lang="en-US" sz="1800" b="0"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场</a:t>
            </a:r>
            <a:endParaRPr lang="en-US" sz="1100"/>
          </a:p>
        </p:txBody>
      </p:sp>
      <p:sp>
        <p:nvSpPr>
          <p:cNvPr id="9" name="AutoShape 9"/>
          <p:cNvSpPr/>
          <p:nvPr>
            <p:custDataLst>
              <p:tags r:id="rId7"/>
            </p:custDataLst>
          </p:nvPr>
        </p:nvSpPr>
        <p:spPr>
          <a:xfrm>
            <a:off x="2984500" y="2603500"/>
            <a:ext cx="203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核心项目会议</a:t>
            </a:r>
            <a:endParaRPr lang="en-US" sz="1100"/>
          </a:p>
        </p:txBody>
      </p:sp>
      <p:sp>
        <p:nvSpPr>
          <p:cNvPr id="10" name="AutoShape 10"/>
          <p:cNvSpPr/>
          <p:nvPr>
            <p:custDataLst>
              <p:tags r:id="rId8"/>
            </p:custDataLst>
          </p:nvPr>
        </p:nvSpPr>
        <p:spPr>
          <a:xfrm>
            <a:off x="3250565" y="2963545"/>
            <a:ext cx="1499235" cy="1120775"/>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a:solidFill>
                  <a:srgbClr val="6B7280"/>
                </a:solidFill>
                <a:latin typeface="Noto Sans SC" panose="020B0200000000000000" charset="-122"/>
                <a:ea typeface="Noto Sans SC" panose="020B0200000000000000" charset="-122"/>
                <a:cs typeface="Noto Sans SC" panose="020B0200000000000000" charset="-122"/>
              </a:rPr>
              <a:t>包括 1 场采购会议、3 场 V6 项目会议（启动会、蓝图会、周例会）以及1次部门例会。</a:t>
            </a:r>
            <a:endParaRPr lang="en-US" sz="130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11" name="AutoShape 11"/>
          <p:cNvSpPr/>
          <p:nvPr>
            <p:custDataLst>
              <p:tags r:id="rId9"/>
            </p:custDataLst>
          </p:nvPr>
        </p:nvSpPr>
        <p:spPr>
          <a:xfrm>
            <a:off x="5207000" y="1651000"/>
            <a:ext cx="2032000" cy="2263775"/>
          </a:xfrm>
          <a:prstGeom prst="roundRect">
            <a:avLst>
              <a:gd name="adj" fmla="val 0"/>
            </a:avLst>
          </a:prstGeom>
          <a:solidFill>
            <a:srgbClr val="0052CC">
              <a:alpha val="5000"/>
            </a:srgbClr>
          </a:solidFill>
          <a:ln cap="flat" cmpd="sng">
            <a:solidFill>
              <a:srgbClr val="0048B3">
                <a:alpha val="5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10"/>
            </p:custDataLst>
          </p:nvPr>
        </p:nvSpPr>
        <p:spPr>
          <a:xfrm>
            <a:off x="5207000" y="1841500"/>
            <a:ext cx="203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56 </a:t>
            </a:r>
            <a:r>
              <a:rPr lang="en-US" sz="1800" b="0"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人</a:t>
            </a:r>
            <a:endParaRPr lang="en-US" sz="1100"/>
          </a:p>
        </p:txBody>
      </p:sp>
      <p:sp>
        <p:nvSpPr>
          <p:cNvPr id="13" name="AutoShape 13"/>
          <p:cNvSpPr/>
          <p:nvPr>
            <p:custDataLst>
              <p:tags r:id="rId11"/>
            </p:custDataLst>
          </p:nvPr>
        </p:nvSpPr>
        <p:spPr>
          <a:xfrm>
            <a:off x="5207000" y="2603500"/>
            <a:ext cx="203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工程师协调</a:t>
            </a:r>
            <a:endParaRPr lang="en-US" sz="1100"/>
          </a:p>
        </p:txBody>
      </p:sp>
      <p:sp>
        <p:nvSpPr>
          <p:cNvPr id="14" name="AutoShape 14"/>
          <p:cNvSpPr/>
          <p:nvPr>
            <p:custDataLst>
              <p:tags r:id="rId12"/>
            </p:custDataLst>
          </p:nvPr>
        </p:nvSpPr>
        <p:spPr>
          <a:xfrm>
            <a:off x="5472430" y="3048000"/>
            <a:ext cx="1518285" cy="739775"/>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a:solidFill>
                  <a:srgbClr val="6B7280"/>
                </a:solidFill>
                <a:latin typeface="Noto Sans SC" panose="020B0200000000000000" charset="-122"/>
                <a:ea typeface="Noto Sans SC" panose="020B0200000000000000" charset="-122"/>
                <a:cs typeface="Noto Sans SC" panose="020B0200000000000000" charset="-122"/>
              </a:rPr>
              <a:t>通过企业微信逐一联系、协调客户端安装的工程师人数</a:t>
            </a:r>
            <a:endParaRPr lang="en-US" sz="130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15" name="AutoShape 15"/>
          <p:cNvSpPr/>
          <p:nvPr>
            <p:custDataLst>
              <p:tags r:id="rId13"/>
            </p:custDataLst>
          </p:nvPr>
        </p:nvSpPr>
        <p:spPr>
          <a:xfrm>
            <a:off x="7429500" y="1651000"/>
            <a:ext cx="2032000" cy="2032000"/>
          </a:xfrm>
          <a:prstGeom prst="roundRect">
            <a:avLst>
              <a:gd name="adj" fmla="val 0"/>
            </a:avLst>
          </a:prstGeom>
          <a:solidFill>
            <a:srgbClr val="0052CC">
              <a:alpha val="5000"/>
            </a:srgbClr>
          </a:solidFill>
          <a:ln cap="flat" cmpd="sng">
            <a:solidFill>
              <a:srgbClr val="0048B3">
                <a:alpha val="5000"/>
              </a:srgbClr>
            </a:solidFill>
            <a:prstDash val="solid"/>
            <a:round/>
          </a:ln>
        </p:spPr>
        <p:txBody>
          <a:bodyPr vert="horz" wrap="square" lIns="63500" tIns="63500" rIns="63500" bIns="63500" rtlCol="0" anchor="ctr"/>
          <a:lstStyle/>
          <a:p>
            <a:pPr algn="ctr">
              <a:defRPr/>
            </a:pPr>
          </a:p>
        </p:txBody>
      </p:sp>
      <p:sp>
        <p:nvSpPr>
          <p:cNvPr id="16" name="AutoShape 16"/>
          <p:cNvSpPr/>
          <p:nvPr>
            <p:custDataLst>
              <p:tags r:id="rId14"/>
            </p:custDataLst>
          </p:nvPr>
        </p:nvSpPr>
        <p:spPr>
          <a:xfrm>
            <a:off x="7429500" y="1841500"/>
            <a:ext cx="203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5 </a:t>
            </a:r>
            <a:r>
              <a:rPr lang="en-US" sz="1800" b="0"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家</a:t>
            </a:r>
            <a:endParaRPr lang="en-US" sz="1100"/>
          </a:p>
        </p:txBody>
      </p:sp>
      <p:sp>
        <p:nvSpPr>
          <p:cNvPr id="17" name="AutoShape 17"/>
          <p:cNvSpPr/>
          <p:nvPr>
            <p:custDataLst>
              <p:tags r:id="rId15"/>
            </p:custDataLst>
          </p:nvPr>
        </p:nvSpPr>
        <p:spPr>
          <a:xfrm>
            <a:off x="7429500" y="2603500"/>
            <a:ext cx="203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供应商对接</a:t>
            </a:r>
            <a:endParaRPr lang="en-US" sz="1100"/>
          </a:p>
        </p:txBody>
      </p:sp>
      <p:sp>
        <p:nvSpPr>
          <p:cNvPr id="18" name="AutoShape 18"/>
          <p:cNvSpPr/>
          <p:nvPr>
            <p:custDataLst>
              <p:tags r:id="rId16"/>
            </p:custDataLst>
          </p:nvPr>
        </p:nvSpPr>
        <p:spPr>
          <a:xfrm>
            <a:off x="7429500" y="3048000"/>
            <a:ext cx="203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a:solidFill>
                  <a:srgbClr val="6B7280"/>
                </a:solidFill>
                <a:latin typeface="Noto Sans SC" panose="020B0200000000000000" charset="-122"/>
                <a:ea typeface="Noto Sans SC" panose="020B0200000000000000" charset="-122"/>
                <a:cs typeface="Noto Sans SC" panose="020B0200000000000000" charset="-122"/>
              </a:rPr>
              <a:t>移动工作站线上交流</a:t>
            </a:r>
            <a:endParaRPr lang="zh-CN" altLang="en-US" sz="1100"/>
          </a:p>
        </p:txBody>
      </p:sp>
      <p:sp>
        <p:nvSpPr>
          <p:cNvPr id="19" name="AutoShape 19"/>
          <p:cNvSpPr/>
          <p:nvPr>
            <p:custDataLst>
              <p:tags r:id="rId17"/>
            </p:custDataLst>
          </p:nvPr>
        </p:nvSpPr>
        <p:spPr>
          <a:xfrm>
            <a:off x="9652000" y="1651000"/>
            <a:ext cx="2032000" cy="2433320"/>
          </a:xfrm>
          <a:prstGeom prst="roundRect">
            <a:avLst>
              <a:gd name="adj" fmla="val 0"/>
            </a:avLst>
          </a:prstGeom>
          <a:solidFill>
            <a:srgbClr val="0052CC">
              <a:alpha val="5000"/>
            </a:srgbClr>
          </a:solidFill>
          <a:ln cap="flat" cmpd="sng">
            <a:solidFill>
              <a:srgbClr val="0048B3">
                <a:alpha val="5000"/>
              </a:srgbClr>
            </a:solidFill>
            <a:prstDash val="solid"/>
            <a:round/>
          </a:ln>
        </p:spPr>
        <p:txBody>
          <a:bodyPr vert="horz" wrap="square" lIns="63500" tIns="63500" rIns="63500" bIns="63500" rtlCol="0" anchor="ctr"/>
          <a:lstStyle/>
          <a:p>
            <a:pPr algn="ctr">
              <a:defRPr/>
            </a:pPr>
          </a:p>
        </p:txBody>
      </p:sp>
      <p:sp>
        <p:nvSpPr>
          <p:cNvPr id="20" name="AutoShape 20"/>
          <p:cNvSpPr/>
          <p:nvPr>
            <p:custDataLst>
              <p:tags r:id="rId18"/>
            </p:custDataLst>
          </p:nvPr>
        </p:nvSpPr>
        <p:spPr>
          <a:xfrm>
            <a:off x="9652000" y="1841500"/>
            <a:ext cx="203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1 </a:t>
            </a:r>
            <a:r>
              <a:rPr lang="en-US" sz="1800" b="0"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次</a:t>
            </a:r>
            <a:endParaRPr lang="en-US" sz="1100"/>
          </a:p>
        </p:txBody>
      </p:sp>
      <p:sp>
        <p:nvSpPr>
          <p:cNvPr id="21" name="AutoShape 21"/>
          <p:cNvSpPr/>
          <p:nvPr>
            <p:custDataLst>
              <p:tags r:id="rId19"/>
            </p:custDataLst>
          </p:nvPr>
        </p:nvSpPr>
        <p:spPr>
          <a:xfrm>
            <a:off x="9652000" y="2603500"/>
            <a:ext cx="203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视频</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a:t>
            </a:r>
            <a:endParaRPr lang="en-US" sz="1100"/>
          </a:p>
        </p:txBody>
      </p:sp>
      <p:sp>
        <p:nvSpPr>
          <p:cNvPr id="22" name="AutoShape 22"/>
          <p:cNvSpPr/>
          <p:nvPr>
            <p:custDataLst>
              <p:tags r:id="rId20"/>
            </p:custDataLst>
          </p:nvPr>
        </p:nvSpPr>
        <p:spPr>
          <a:xfrm>
            <a:off x="9952990" y="3048000"/>
            <a:ext cx="1499870" cy="739775"/>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a:solidFill>
                  <a:srgbClr val="6B7280"/>
                </a:solidFill>
                <a:latin typeface="Noto Sans SC" panose="020B0200000000000000" charset="-122"/>
                <a:ea typeface="Noto Sans SC" panose="020B0200000000000000" charset="-122"/>
                <a:cs typeface="Noto Sans SC" panose="020B0200000000000000" charset="-122"/>
              </a:rPr>
              <a:t>剪辑《生销运营系统经营层中间确认会-0724》汇报视频</a:t>
            </a:r>
            <a:endParaRPr lang="en-US" sz="130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23" name="AutoShape 23"/>
          <p:cNvSpPr/>
          <p:nvPr/>
        </p:nvSpPr>
        <p:spPr>
          <a:xfrm>
            <a:off x="762000" y="4359275"/>
            <a:ext cx="10668000" cy="254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762000" y="4572000"/>
            <a:ext cx="10668000" cy="1651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762000" y="4572000"/>
            <a:ext cx="76200" cy="1651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079500" y="4762500"/>
            <a:ext cx="1009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以实干推动成长，于细节中见真章</a:t>
            </a:r>
            <a:endPar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1079500" y="5270500"/>
            <a:ext cx="10096500" cy="889000"/>
          </a:xfrm>
          <a:prstGeom prst="rect">
            <a:avLst/>
          </a:prstGeom>
          <a:noFill/>
          <a:ln w="12700" cap="flat" cmpd="sng">
            <a:noFill/>
            <a:prstDash val="solid"/>
            <a:round/>
          </a:ln>
        </p:spPr>
        <p:txBody>
          <a:bodyPr vert="horz" wrap="square" lIns="0" tIns="0" rIns="0" bIns="0" rtlCol="0" anchor="ctr" anchorCtr="0"/>
          <a:lstStyle/>
          <a:p>
            <a:pPr marL="0" indent="0" algn="just">
              <a:lnSpc>
                <a:spcPct val="125000"/>
              </a:lnSpc>
              <a:defRPr/>
            </a:pPr>
            <a:r>
              <a:rPr lang="en-US" sz="1800">
                <a:solidFill>
                  <a:srgbClr val="6B7280"/>
                </a:solidFill>
                <a:latin typeface="Noto Sans SC" panose="020B0200000000000000" charset="-122"/>
                <a:ea typeface="Noto Sans SC" panose="020B0200000000000000" charset="-122"/>
                <a:cs typeface="Noto Sans SC" panose="020B0200000000000000" charset="-122"/>
              </a:rPr>
              <a:t>我对自己的定位是：一段实习，密度有限，但每一项工作都是真实的；我以旁观、学习、协调、复盘为主线，把每一处可以推进的地方尽量向前推一格。</a:t>
            </a:r>
            <a:endParaRPr lang="en-US" sz="1800">
              <a:solidFill>
                <a:srgbClr val="6B7280"/>
              </a:solidFill>
              <a:latin typeface="Noto Sans SC" panose="020B0200000000000000" charset="-122"/>
              <a:ea typeface="Noto Sans SC" panose="020B0200000000000000" charset="-122"/>
              <a:cs typeface="Noto Sans SC" panose="020B0200000000000000" charset="-122"/>
            </a:endParaRPr>
          </a:p>
        </p:txBody>
      </p:sp>
      <p:pic>
        <p:nvPicPr>
          <p:cNvPr id="29" name="图片 28"/>
          <p:cNvPicPr>
            <a:picLocks noChangeAspect="1"/>
          </p:cNvPicPr>
          <p:nvPr/>
        </p:nvPicPr>
        <p:blipFill>
          <a:blip r:embed="rId21"/>
          <a:stretch>
            <a:fillRect/>
          </a:stretch>
        </p:blipFill>
        <p:spPr>
          <a:xfrm>
            <a:off x="10179050" y="143510"/>
            <a:ext cx="1800225" cy="6038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250371"/>
            <a:ext cx="12199621" cy="2357257"/>
          </a:xfrm>
          <a:prstGeom prst="rect">
            <a:avLst/>
          </a:prstGeom>
          <a:gradFill flip="none" rotWithShape="1">
            <a:gsLst>
              <a:gs pos="86000">
                <a:srgbClr val="80A9E6">
                  <a:alpha val="100000"/>
                </a:srgbClr>
              </a:gs>
              <a:gs pos="0">
                <a:srgbClr val="0052CC">
                  <a:alpha val="100000"/>
                </a:srgbClr>
              </a:gs>
              <a:gs pos="78000">
                <a:srgbClr val="00B0F0"/>
              </a:gs>
              <a:gs pos="100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sym typeface="Noto Sans SC" panose="020B0200000000000000" charset="-122"/>
              </a:rPr>
              <a:t>项目参与【核心】</a:t>
            </a:r>
            <a:endPar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7" name="Picture 7"/>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25700" y="2987675"/>
            <a:ext cx="659130" cy="7181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328295"/>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项目参与【核心】</a:t>
            </a:r>
            <a:endPar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2.1 CATIA V6项目</a:t>
            </a:r>
            <a:endParaRPr lang="en-US" sz="1100"/>
          </a:p>
        </p:txBody>
      </p:sp>
      <p:sp>
        <p:nvSpPr>
          <p:cNvPr id="5" name="AutoShape 5"/>
          <p:cNvSpPr/>
          <p:nvPr/>
        </p:nvSpPr>
        <p:spPr>
          <a:xfrm>
            <a:off x="762000" y="2207895"/>
            <a:ext cx="5207000" cy="4445000"/>
          </a:xfrm>
          <a:prstGeom prst="roundRect">
            <a:avLst>
              <a:gd name="adj" fmla="val 0"/>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207895"/>
            <a:ext cx="5207000" cy="508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525395"/>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 观察学采购：</a:t>
            </a:r>
            <a:r>
              <a:rPr lang="zh-CN" altLang="en-US"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我以列席方式参加了 1 场 </a:t>
            </a:r>
            <a:r>
              <a:rPr lang="en-US" altLang="zh-CN"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V6 </a:t>
            </a:r>
            <a:r>
              <a:rPr lang="zh-CN" altLang="en-US"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采购会议（带教老师主持，另有项目组与采购本部同事参加），核心任务是：</a:t>
            </a:r>
            <a:endParaRPr lang="zh-CN" altLang="en-US"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25" name="组合 24"/>
          <p:cNvGrpSpPr/>
          <p:nvPr/>
        </p:nvGrpSpPr>
        <p:grpSpPr>
          <a:xfrm>
            <a:off x="946150" y="3307715"/>
            <a:ext cx="4826000" cy="3109595"/>
            <a:chOff x="1600" y="4886"/>
            <a:chExt cx="7600" cy="4897"/>
          </a:xfrm>
        </p:grpSpPr>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00" y="5117"/>
              <a:ext cx="480" cy="480"/>
            </a:xfrm>
            <a:prstGeom prst="rect">
              <a:avLst/>
            </a:prstGeom>
          </p:spPr>
        </p:pic>
        <p:sp>
          <p:nvSpPr>
            <p:cNvPr id="9" name="AutoShape 9"/>
            <p:cNvSpPr/>
            <p:nvPr/>
          </p:nvSpPr>
          <p:spPr>
            <a:xfrm>
              <a:off x="2300" y="4886"/>
              <a:ext cx="6900" cy="136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看完整流程</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en-US" sz="13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观察老师如何从需求对话出发写《技术规格书（外采）》与《招标文件》</a:t>
              </a:r>
              <a:endParaRPr lang="en-US" sz="13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0" y="6514"/>
              <a:ext cx="480" cy="480"/>
            </a:xfrm>
            <a:prstGeom prst="rect">
              <a:avLst/>
            </a:prstGeom>
          </p:spPr>
        </p:pic>
        <p:sp>
          <p:nvSpPr>
            <p:cNvPr id="11" name="AutoShape 11"/>
            <p:cNvSpPr/>
            <p:nvPr/>
          </p:nvSpPr>
          <p:spPr>
            <a:xfrm>
              <a:off x="2300" y="6677"/>
              <a:ext cx="6900" cy="136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带问题请教</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a:p>
              <a:pPr marL="0" indent="0" algn="l">
                <a:lnSpc>
                  <a:spcPct val="108000"/>
                </a:lnSpc>
              </a:pPr>
              <a:r>
                <a:rPr lang="en-US" sz="1300">
                  <a:solidFill>
                    <a:srgbClr val="4B5563"/>
                  </a:solidFill>
                  <a:latin typeface="Noto Sans SC" panose="020B0200000000000000" charset="-122"/>
                  <a:ea typeface="Noto Sans SC" panose="020B0200000000000000" charset="-122"/>
                  <a:cs typeface="Noto Sans SC" panose="020B0200000000000000" charset="-122"/>
                </a:rPr>
                <a:t>会后我把不懂的问题集中归类——例如"为什么采购方不署'广汽集团'""为什么技术规格书有些参数已对齐某家供应商""为什么甲方已经实质性投入工作却仍需要正式招标"，逐条向带教老师求证，把答案沉淀到学习笔记里</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00" y="8474"/>
              <a:ext cx="480" cy="480"/>
            </a:xfrm>
            <a:prstGeom prst="rect">
              <a:avLst/>
            </a:prstGeom>
          </p:spPr>
        </p:pic>
        <p:sp>
          <p:nvSpPr>
            <p:cNvPr id="13" name="AutoShape 13"/>
            <p:cNvSpPr/>
            <p:nvPr/>
          </p:nvSpPr>
          <p:spPr>
            <a:xfrm>
              <a:off x="2300" y="8423"/>
              <a:ext cx="6900" cy="136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沉淀认知</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en-US" sz="13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零散观察抽象为一个"三步法"——会议观察 → 自学材料 → 带着问题请教，再回到方法论层面理解合规、采购节奏、成本逻辑。</a:t>
              </a:r>
              <a:endParaRPr lang="en-US" sz="13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sp>
        <p:nvSpPr>
          <p:cNvPr id="14" name="AutoShape 14"/>
          <p:cNvSpPr/>
          <p:nvPr/>
        </p:nvSpPr>
        <p:spPr>
          <a:xfrm>
            <a:off x="6223000" y="2207895"/>
            <a:ext cx="5207000" cy="4445000"/>
          </a:xfrm>
          <a:prstGeom prst="roundRect">
            <a:avLst>
              <a:gd name="adj" fmla="val 0"/>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223000" y="2207895"/>
            <a:ext cx="5207000" cy="508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77000" y="2525395"/>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B 56人客户端安装全协调</a:t>
            </a:r>
            <a:endParaRPr lang="en-US" sz="1100"/>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249295"/>
            <a:ext cx="304800" cy="304800"/>
          </a:xfrm>
          <a:prstGeom prst="rect">
            <a:avLst/>
          </a:prstGeom>
        </p:spPr>
      </p:pic>
      <p:sp>
        <p:nvSpPr>
          <p:cNvPr id="18" name="AutoShape 18"/>
          <p:cNvSpPr/>
          <p:nvPr/>
        </p:nvSpPr>
        <p:spPr>
          <a:xfrm>
            <a:off x="6921500" y="3223895"/>
            <a:ext cx="4381500" cy="863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a:solidFill>
                  <a:srgbClr val="1F2937"/>
                </a:solidFill>
                <a:latin typeface="Noto Sans SC" panose="020B0200000000000000" charset="-122"/>
                <a:ea typeface="Noto Sans SC" panose="020B0200000000000000" charset="-122"/>
                <a:cs typeface="Noto Sans SC" panose="020B0200000000000000" charset="-122"/>
              </a:rPr>
              <a:t>收集</a:t>
            </a:r>
            <a:endParaRPr lang="en-US" sz="1500" b="1">
              <a:solidFill>
                <a:srgbClr val="1F2937"/>
              </a:solidFill>
              <a:latin typeface="Noto Sans SC" panose="020B0200000000000000" charset="-122"/>
              <a:ea typeface="Noto Sans SC" panose="020B0200000000000000" charset="-122"/>
              <a:cs typeface="Noto Sans SC" panose="020B0200000000000000" charset="-122"/>
            </a:endParaRPr>
          </a:p>
          <a:p>
            <a:pPr marL="0" indent="0" algn="l">
              <a:lnSpc>
                <a:spcPct val="108000"/>
              </a:lnSpc>
            </a:pPr>
            <a:r>
              <a:rPr lang="en-US" sz="1300">
                <a:solidFill>
                  <a:srgbClr val="4B5563"/>
                </a:solidFill>
                <a:latin typeface="Noto Sans SC" panose="020B0200000000000000" charset="-122"/>
                <a:ea typeface="Noto Sans SC" panose="020B0200000000000000" charset="-122"/>
                <a:cs typeface="Noto Sans SC" panose="020B0200000000000000" charset="-122"/>
              </a:rPr>
              <a:t>在企业微信上逐一联系名单中的工程师，确认其工位位置、操作系统、可安装时间。考虑到工作时段大家不一定看大群消息，我只能逐一私聊提醒，有时还需要到他们工位上去做当面提醒。</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4265295"/>
            <a:ext cx="304800" cy="304800"/>
          </a:xfrm>
          <a:prstGeom prst="rect">
            <a:avLst/>
          </a:prstGeom>
        </p:spPr>
      </p:pic>
      <p:sp>
        <p:nvSpPr>
          <p:cNvPr id="20" name="AutoShape 20"/>
          <p:cNvSpPr/>
          <p:nvPr/>
        </p:nvSpPr>
        <p:spPr>
          <a:xfrm>
            <a:off x="6921500" y="4239895"/>
            <a:ext cx="4381500" cy="863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通知</a:t>
            </a:r>
            <a:endParaRPr lang="en-US" sz="1100"/>
          </a:p>
          <a:p>
            <a:pPr marL="0" indent="0" algn="l">
              <a:lnSpc>
                <a:spcPct val="108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排定好上门安装的时间后，逐人再发一遍提示，并提示为提升效率可提前下载安装包到指定路径</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77000" y="5281295"/>
            <a:ext cx="304800" cy="304800"/>
          </a:xfrm>
          <a:prstGeom prst="rect">
            <a:avLst/>
          </a:prstGeom>
        </p:spPr>
      </p:pic>
      <p:sp>
        <p:nvSpPr>
          <p:cNvPr id="22" name="AutoShape 22"/>
          <p:cNvSpPr/>
          <p:nvPr/>
        </p:nvSpPr>
        <p:spPr>
          <a:xfrm>
            <a:off x="6921500" y="5103495"/>
            <a:ext cx="4381500" cy="863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推进</a:t>
            </a:r>
            <a:endParaRPr lang="en-US" sz="1100"/>
          </a:p>
          <a:p>
            <a:pPr marL="0" indent="0" algn="l">
              <a:lnSpc>
                <a:spcPct val="108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配合安装小组到工位现场，保障客户端顺利部署。</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4"/>
          <p:cNvSpPr/>
          <p:nvPr/>
        </p:nvSpPr>
        <p:spPr>
          <a:xfrm>
            <a:off x="762000" y="1395730"/>
            <a:ext cx="10668000" cy="52959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2.2.1 我的双重参与</a:t>
            </a:r>
            <a:endParaRPr 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6" name="图片 25"/>
          <p:cNvPicPr>
            <a:picLocks noChangeAspect="1"/>
          </p:cNvPicPr>
          <p:nvPr/>
        </p:nvPicPr>
        <p:blipFill>
          <a:blip r:embed="rId13"/>
          <a:stretch>
            <a:fillRect/>
          </a:stretch>
        </p:blipFill>
        <p:spPr>
          <a:xfrm>
            <a:off x="10179050" y="143510"/>
            <a:ext cx="1800225" cy="603885"/>
          </a:xfrm>
          <a:prstGeom prst="rect">
            <a:avLst/>
          </a:prstGeom>
        </p:spPr>
      </p:pic>
      <p:sp>
        <p:nvSpPr>
          <p:cNvPr id="3" name="AutoShape 2"/>
          <p:cNvSpPr/>
          <p:nvPr/>
        </p:nvSpPr>
        <p:spPr>
          <a:xfrm>
            <a:off x="-1440815" y="-1558925"/>
            <a:ext cx="3810000" cy="381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p>
            <a:pPr algn="ctr">
              <a:defRPr/>
            </a:p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1"/>
            </p:custDataLst>
          </p:nvPr>
        </p:nvSpPr>
        <p:spPr>
          <a:xfrm>
            <a:off x="762000" y="2010410"/>
            <a:ext cx="3378200" cy="3429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762000" y="2010410"/>
            <a:ext cx="3378200" cy="508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327910"/>
            <a:ext cx="355600" cy="355600"/>
          </a:xfrm>
          <a:prstGeom prst="rect">
            <a:avLst/>
          </a:prstGeom>
        </p:spPr>
      </p:pic>
      <p:sp>
        <p:nvSpPr>
          <p:cNvPr id="8" name="AutoShape 8"/>
          <p:cNvSpPr/>
          <p:nvPr>
            <p:custDataLst>
              <p:tags r:id="rId6"/>
            </p:custDataLst>
          </p:nvPr>
        </p:nvSpPr>
        <p:spPr>
          <a:xfrm>
            <a:off x="1473200" y="232791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 </a:t>
            </a:r>
            <a:r>
              <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工作风格</a:t>
            </a:r>
            <a:endPar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9" name="Connector 9"/>
          <p:cNvCxnSpPr/>
          <p:nvPr>
            <p:custDataLst>
              <p:tags r:id="rId7"/>
            </p:custDataLst>
          </p:nvPr>
        </p:nvCxnSpPr>
        <p:spPr>
          <a:xfrm rot="21584789">
            <a:off x="1016000" y="2893060"/>
            <a:ext cx="28702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0" name="AutoShape 10"/>
          <p:cNvSpPr/>
          <p:nvPr>
            <p:custDataLst>
              <p:tags r:id="rId8"/>
            </p:custDataLst>
          </p:nvPr>
        </p:nvSpPr>
        <p:spPr>
          <a:xfrm>
            <a:off x="1016000" y="2834640"/>
            <a:ext cx="2870200" cy="254571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效率高、不拖泥带水；</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说清问题、交付对应人按意见修改；</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主动催办、信息到位；</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4. 责任到位、闭环意识。</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sz="13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对文件返工零容忍，工作过程中把"说清楚、写清楚、催到位、看结果"四件事打透。这种工作方式，对我后续处理工作事项启发很大。</a:t>
            </a:r>
            <a:endParaRPr lang="en-US" sz="13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9"/>
            </p:custDataLst>
          </p:nvPr>
        </p:nvSpPr>
        <p:spPr>
          <a:xfrm>
            <a:off x="4406900" y="2010410"/>
            <a:ext cx="3378200" cy="439039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custDataLst>
              <p:tags r:id="rId10"/>
            </p:custDataLst>
          </p:nvPr>
        </p:nvSpPr>
        <p:spPr>
          <a:xfrm>
            <a:off x="4406900" y="2010410"/>
            <a:ext cx="3378200" cy="508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660900" y="2327910"/>
            <a:ext cx="355600" cy="355600"/>
          </a:xfrm>
          <a:prstGeom prst="rect">
            <a:avLst/>
          </a:prstGeom>
        </p:spPr>
      </p:pic>
      <p:sp>
        <p:nvSpPr>
          <p:cNvPr id="14" name="AutoShape 14"/>
          <p:cNvSpPr/>
          <p:nvPr>
            <p:custDataLst>
              <p:tags r:id="rId14"/>
            </p:custDataLst>
          </p:nvPr>
        </p:nvSpPr>
        <p:spPr>
          <a:xfrm>
            <a:off x="5118100" y="232791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B </a:t>
            </a:r>
            <a:r>
              <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合规与廉洁意识</a:t>
            </a:r>
            <a:endPar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5" name="Connector 15"/>
          <p:cNvCxnSpPr/>
          <p:nvPr>
            <p:custDataLst>
              <p:tags r:id="rId15"/>
            </p:custDataLst>
          </p:nvPr>
        </p:nvCxnSpPr>
        <p:spPr>
          <a:xfrm rot="21584789">
            <a:off x="4660900" y="2893060"/>
            <a:ext cx="28702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6" name="AutoShape 16"/>
          <p:cNvSpPr/>
          <p:nvPr>
            <p:custDataLst>
              <p:tags r:id="rId16"/>
            </p:custDataLst>
          </p:nvPr>
        </p:nvSpPr>
        <p:spPr>
          <a:xfrm>
            <a:off x="4660900" y="2950210"/>
            <a:ext cx="2870200" cy="329311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1. 流程合规是红线</a:t>
            </a:r>
            <a:r>
              <a:rPr lang="en-US" sz="1300">
                <a:solidFill>
                  <a:srgbClr val="4B5563"/>
                </a:solidFill>
                <a:latin typeface="Noto Sans SC" panose="020B0200000000000000" charset="-122"/>
                <a:ea typeface="Noto Sans SC" panose="020B0200000000000000" charset="-122"/>
                <a:cs typeface="Noto Sans SC" panose="020B0200000000000000" charset="-122"/>
              </a:rPr>
              <a:t>——就算买一块几千块的移动屏幕，也必须走完完整的合规采购流程，不能图快而走捷径（像京东下单报销这种方式，</a:t>
            </a:r>
            <a:r>
              <a:rPr lang="zh-CN" altLang="en-US" sz="1300">
                <a:solidFill>
                  <a:srgbClr val="4B5563"/>
                </a:solidFill>
                <a:latin typeface="Noto Sans SC" panose="020B0200000000000000" charset="-122"/>
                <a:ea typeface="Noto Sans SC" panose="020B0200000000000000" charset="-122"/>
                <a:cs typeface="Noto Sans SC" panose="020B0200000000000000" charset="-122"/>
              </a:rPr>
              <a:t>会</a:t>
            </a:r>
            <a:r>
              <a:rPr lang="en-US" sz="1300">
                <a:solidFill>
                  <a:srgbClr val="4B5563"/>
                </a:solidFill>
                <a:latin typeface="Noto Sans SC" panose="020B0200000000000000" charset="-122"/>
                <a:ea typeface="Noto Sans SC" panose="020B0200000000000000" charset="-122"/>
                <a:cs typeface="Noto Sans SC" panose="020B0200000000000000" charset="-122"/>
              </a:rPr>
              <a:t>被明确排除）。</a:t>
            </a:r>
            <a:endParaRPr lang="zh-CN" altLang="en-US" sz="1100"/>
          </a:p>
          <a:p>
            <a:pPr marL="0" indent="0" algn="l">
              <a:lnSpc>
                <a:spcPct val="125000"/>
              </a:lnSpc>
            </a:pP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2. 专项条款有深意</a:t>
            </a:r>
            <a:r>
              <a:rPr lang="en-US" sz="1300">
                <a:solidFill>
                  <a:srgbClr val="4B5563"/>
                </a:solidFill>
                <a:latin typeface="Noto Sans SC" panose="020B0200000000000000" charset="-122"/>
                <a:ea typeface="Noto Sans SC" panose="020B0200000000000000" charset="-122"/>
                <a:cs typeface="Noto Sans SC" panose="020B0200000000000000" charset="-122"/>
              </a:rPr>
              <a:t>——投标保证金、单一来源采购、不可抗力、廉洁条款、知识产权归属，每一项都对应着出现过的具体问题，不能随意删减</a:t>
            </a:r>
            <a:r>
              <a:rPr lang="zh-CN" altLang="en-US" sz="1100"/>
              <a:t>。</a:t>
            </a:r>
            <a:endParaRPr lang="zh-CN" altLang="en-US" sz="1100"/>
          </a:p>
          <a:p>
            <a:pPr marL="0" indent="0" algn="l">
              <a:lnSpc>
                <a:spcPct val="125000"/>
              </a:lnSpc>
            </a:pP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3. 成本即真金白银</a:t>
            </a:r>
            <a:r>
              <a:rPr lang="en-US" sz="1300">
                <a:solidFill>
                  <a:srgbClr val="4B5563"/>
                </a:solidFill>
                <a:latin typeface="Noto Sans SC" panose="020B0200000000000000" charset="-122"/>
                <a:ea typeface="Noto Sans SC" panose="020B0200000000000000" charset="-122"/>
                <a:cs typeface="Noto Sans SC" panose="020B0200000000000000" charset="-122"/>
              </a:rPr>
              <a:t>——技术规格书里的参数，都对应着具体资金。技术决策需要在</a:t>
            </a:r>
            <a:r>
              <a:rPr lang="en-US" sz="1300">
                <a:solidFill>
                  <a:srgbClr val="4B5563"/>
                </a:solidFill>
                <a:highlight>
                  <a:srgbClr val="00FFFF"/>
                </a:highlight>
                <a:latin typeface="Noto Sans SC" panose="020B0200000000000000" charset="-122"/>
                <a:ea typeface="Noto Sans SC" panose="020B0200000000000000" charset="-122"/>
                <a:cs typeface="Noto Sans SC" panose="020B0200000000000000" charset="-122"/>
              </a:rPr>
              <a:t>完美设计、快速上线、维护成本</a:t>
            </a:r>
            <a:r>
              <a:rPr lang="en-US" sz="1300">
                <a:solidFill>
                  <a:srgbClr val="4B5563"/>
                </a:solidFill>
                <a:latin typeface="Noto Sans SC" panose="020B0200000000000000" charset="-122"/>
                <a:ea typeface="Noto Sans SC" panose="020B0200000000000000" charset="-122"/>
                <a:cs typeface="Noto Sans SC" panose="020B0200000000000000" charset="-122"/>
              </a:rPr>
              <a:t>之间做出取舍，没有唯一正确答案。</a:t>
            </a:r>
            <a:endParaRPr lang="en-US" sz="13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7" name="AutoShape 17"/>
          <p:cNvSpPr/>
          <p:nvPr>
            <p:custDataLst>
              <p:tags r:id="rId17"/>
            </p:custDataLst>
          </p:nvPr>
        </p:nvSpPr>
        <p:spPr>
          <a:xfrm>
            <a:off x="8051800" y="2010410"/>
            <a:ext cx="3378200" cy="366014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8" name="AutoShape 18"/>
          <p:cNvSpPr/>
          <p:nvPr>
            <p:custDataLst>
              <p:tags r:id="rId18"/>
            </p:custDataLst>
          </p:nvPr>
        </p:nvSpPr>
        <p:spPr>
          <a:xfrm>
            <a:off x="8051800" y="2010410"/>
            <a:ext cx="3378200" cy="508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305800" y="2327910"/>
            <a:ext cx="355600" cy="355600"/>
          </a:xfrm>
          <a:prstGeom prst="rect">
            <a:avLst/>
          </a:prstGeom>
        </p:spPr>
      </p:pic>
      <p:sp>
        <p:nvSpPr>
          <p:cNvPr id="20" name="AutoShape 20"/>
          <p:cNvSpPr/>
          <p:nvPr>
            <p:custDataLst>
              <p:tags r:id="rId22"/>
            </p:custDataLst>
          </p:nvPr>
        </p:nvSpPr>
        <p:spPr>
          <a:xfrm>
            <a:off x="8763000" y="232791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C 场景化务实认知</a:t>
            </a:r>
            <a:endParaRPr lang="en-US" sz="1100"/>
          </a:p>
        </p:txBody>
      </p:sp>
      <p:cxnSp>
        <p:nvCxnSpPr>
          <p:cNvPr id="21" name="Connector 21"/>
          <p:cNvCxnSpPr/>
          <p:nvPr>
            <p:custDataLst>
              <p:tags r:id="rId23"/>
            </p:custDataLst>
          </p:nvPr>
        </p:nvCxnSpPr>
        <p:spPr>
          <a:xfrm rot="21584789">
            <a:off x="8305800" y="2893060"/>
            <a:ext cx="28702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2" name="AutoShape 22"/>
          <p:cNvSpPr/>
          <p:nvPr>
            <p:custDataLst>
              <p:tags r:id="rId24"/>
            </p:custDataLst>
          </p:nvPr>
        </p:nvSpPr>
        <p:spPr>
          <a:xfrm>
            <a:off x="8305800" y="3089910"/>
            <a:ext cx="28702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理解“售前先行”逻辑</a:t>
            </a:r>
            <a:endParaRPr lang="en-US" sz="1100"/>
          </a:p>
          <a:p>
            <a:pPr marL="0" indent="0" algn="l">
              <a:lnSpc>
                <a:spcPct val="125000"/>
              </a:lnSpc>
            </a:pPr>
            <a:r>
              <a:rPr lang="en-US" sz="1300">
                <a:solidFill>
                  <a:srgbClr val="4B5563"/>
                </a:solidFill>
                <a:latin typeface="Noto Sans SC" panose="020B0200000000000000" charset="-122"/>
                <a:ea typeface="Noto Sans SC" panose="020B0200000000000000" charset="-122"/>
                <a:cs typeface="Noto Sans SC" panose="020B0200000000000000" charset="-122"/>
              </a:rPr>
              <a:t>既然培训、数据迁移、二开等大量工作已经在进行，为何仍要招标？老师解释：这是因为项目紧急，售前工作由中标优势更明显的供应商先做、若招标落选则由该供应商自行承担风险。这种现实安排，使我对"先有实质工作、合同后置"的国企招标机制有了直观认识，也更尊重"流程与现实并行"这一类项目现象。</a:t>
            </a:r>
            <a:endParaRPr lang="en-US" sz="13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5" name="AutoShape 4"/>
          <p:cNvSpPr/>
          <p:nvPr/>
        </p:nvSpPr>
        <p:spPr>
          <a:xfrm>
            <a:off x="762000" y="328295"/>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项目参与【核心】</a:t>
            </a:r>
            <a:endPar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2.1 CATIA V6项目</a:t>
            </a:r>
            <a:endParaRPr lang="en-US" sz="1100"/>
          </a:p>
        </p:txBody>
      </p:sp>
      <p:sp>
        <p:nvSpPr>
          <p:cNvPr id="26" name="AutoShape 4"/>
          <p:cNvSpPr/>
          <p:nvPr/>
        </p:nvSpPr>
        <p:spPr>
          <a:xfrm>
            <a:off x="762000" y="1406525"/>
            <a:ext cx="10668000" cy="52959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2.2.2 </a:t>
            </a:r>
            <a:r>
              <a:rPr lang="zh-CN" alt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a:t>
            </a:r>
            <a:r>
              <a:rPr lang="zh-CN" alt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认知</a:t>
            </a:r>
            <a:endParaRPr lang="zh-CN" alt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文本框 27"/>
          <p:cNvSpPr txBox="1"/>
          <p:nvPr/>
        </p:nvSpPr>
        <p:spPr>
          <a:xfrm>
            <a:off x="2723515" y="1690370"/>
            <a:ext cx="4064000" cy="306705"/>
          </a:xfrm>
          <a:prstGeom prst="rect">
            <a:avLst/>
          </a:prstGeom>
          <a:noFill/>
        </p:spPr>
        <p:txBody>
          <a:bodyPr wrap="square" rtlCol="0">
            <a:spAutoFit/>
          </a:bodyPr>
          <a:p>
            <a:endParaRPr lang="zh-CN" altLang="en-US"/>
          </a:p>
        </p:txBody>
      </p:sp>
      <p:pic>
        <p:nvPicPr>
          <p:cNvPr id="29" name="图片 28"/>
          <p:cNvPicPr>
            <a:picLocks noChangeAspect="1"/>
          </p:cNvPicPr>
          <p:nvPr/>
        </p:nvPicPr>
        <p:blipFill>
          <a:blip r:embed="rId25"/>
          <a:stretch>
            <a:fillRect/>
          </a:stretch>
        </p:blipFill>
        <p:spPr>
          <a:xfrm>
            <a:off x="10179050" y="143510"/>
            <a:ext cx="1800225" cy="6038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1"/>
            </p:custDataLst>
          </p:nvPr>
        </p:nvSpPr>
        <p:spPr>
          <a:xfrm>
            <a:off x="762000" y="1778000"/>
            <a:ext cx="3378200" cy="398526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406400" cy="406400"/>
          </a:xfrm>
          <a:prstGeom prst="rect">
            <a:avLst/>
          </a:prstGeom>
        </p:spPr>
      </p:pic>
      <p:sp>
        <p:nvSpPr>
          <p:cNvPr id="7" name="AutoShape 7"/>
          <p:cNvSpPr/>
          <p:nvPr>
            <p:custDataLst>
              <p:tags r:id="rId5"/>
            </p:custDataLst>
          </p:nvPr>
        </p:nvSpPr>
        <p:spPr>
          <a:xfrm>
            <a:off x="1524000" y="2057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a:solidFill>
                  <a:srgbClr val="0052CC"/>
                </a:solidFill>
                <a:latin typeface="Noto Sans SC" panose="020B0200000000000000" charset="-122"/>
                <a:ea typeface="Noto Sans SC" panose="020B0200000000000000" charset="-122"/>
                <a:cs typeface="Noto Sans SC" panose="020B0200000000000000" charset="-122"/>
              </a:rPr>
              <a:t>背景</a:t>
            </a:r>
            <a:endParaRPr lang="en-US" sz="1800" b="1">
              <a:solidFill>
                <a:srgbClr val="0052CC"/>
              </a:solidFill>
              <a:latin typeface="Noto Sans SC" panose="020B0200000000000000" charset="-122"/>
              <a:ea typeface="Noto Sans SC" panose="020B0200000000000000" charset="-122"/>
              <a:cs typeface="Noto Sans SC" panose="020B0200000000000000" charset="-122"/>
            </a:endParaRPr>
          </a:p>
        </p:txBody>
      </p:sp>
      <p:cxnSp>
        <p:nvCxnSpPr>
          <p:cNvPr id="8" name="Connector 8"/>
          <p:cNvCxnSpPr/>
          <p:nvPr>
            <p:custDataLst>
              <p:tags r:id="rId6"/>
            </p:custDataLst>
          </p:nvPr>
        </p:nvCxnSpPr>
        <p:spPr>
          <a:xfrm rot="-15211">
            <a:off x="1016014" y="2597150"/>
            <a:ext cx="28702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custDataLst>
              <p:tags r:id="rId7"/>
            </p:custDataLst>
          </p:nvPr>
        </p:nvSpPr>
        <p:spPr>
          <a:xfrm>
            <a:off x="1016000" y="2768600"/>
            <a:ext cx="2870200" cy="277939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为支撑团队移动工作站选型，部门组织 5 家供应商参加线上交流，分别是华资、成翔、正域、灵通、联嘉。我的具体任务是：</a:t>
            </a:r>
            <a:endParaRPr lang="en-US" sz="14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会前与对应公司对接，确认会议时间；</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会上做会议纪要，相应记录在《供应商交流会议纪要.xlsx》模板中；</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会后将纪要签字验收后归档。</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8"/>
            </p:custDataLst>
          </p:nvPr>
        </p:nvSpPr>
        <p:spPr>
          <a:xfrm>
            <a:off x="4394200" y="1778000"/>
            <a:ext cx="3378200" cy="2803525"/>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4648200" y="2032000"/>
            <a:ext cx="406400" cy="406400"/>
          </a:xfrm>
          <a:prstGeom prst="rect">
            <a:avLst/>
          </a:prstGeom>
        </p:spPr>
      </p:pic>
      <p:sp>
        <p:nvSpPr>
          <p:cNvPr id="12" name="AutoShape 12"/>
          <p:cNvSpPr/>
          <p:nvPr>
            <p:custDataLst>
              <p:tags r:id="rId11"/>
            </p:custDataLst>
          </p:nvPr>
        </p:nvSpPr>
        <p:spPr>
          <a:xfrm>
            <a:off x="5156200" y="2057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跨公司沟通</a:t>
            </a:r>
            <a:r>
              <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要点</a:t>
            </a:r>
            <a:endPar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13"/>
          <p:cNvCxnSpPr/>
          <p:nvPr>
            <p:custDataLst>
              <p:tags r:id="rId12"/>
            </p:custDataLst>
          </p:nvPr>
        </p:nvCxnSpPr>
        <p:spPr>
          <a:xfrm rot="-15211">
            <a:off x="4648214" y="2597150"/>
            <a:ext cx="28702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custDataLst>
              <p:tags r:id="rId13"/>
            </p:custDataLst>
          </p:nvPr>
        </p:nvSpPr>
        <p:spPr>
          <a:xfrm>
            <a:off x="4578985" y="2794000"/>
            <a:ext cx="2870200" cy="16052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会前：明确议程、明确材料、明确对接人，让对方有准备；</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会上：抓核心问题，会上讲重点；</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l">
              <a:lnSpc>
                <a:spcPct val="125000"/>
              </a:lnSpc>
              <a:buSzTx/>
              <a:buNone/>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会后：推动签章，把闭环动作做完。</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14"/>
            </p:custDataLst>
          </p:nvPr>
        </p:nvSpPr>
        <p:spPr>
          <a:xfrm>
            <a:off x="8026400" y="1778000"/>
            <a:ext cx="3378200" cy="3556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5"/>
            </p:custDataLst>
          </p:nvPr>
        </p:nvPicPr>
        <p:blipFill>
          <a:blip r:embed="rId16">
            <a:extLst>
              <a:ext uri="{28A0092B-C50C-407E-A947-70E740481C1C}">
                <a14:useLocalDpi xmlns:a14="http://schemas.microsoft.com/office/drawing/2010/main" val="0"/>
              </a:ext>
            </a:extLst>
          </a:blip>
          <a:stretch>
            <a:fillRect/>
          </a:stretch>
        </p:blipFill>
        <p:spPr>
          <a:xfrm>
            <a:off x="8280400" y="2032000"/>
            <a:ext cx="406400" cy="406400"/>
          </a:xfrm>
          <a:prstGeom prst="rect">
            <a:avLst/>
          </a:prstGeom>
        </p:spPr>
      </p:pic>
      <p:sp>
        <p:nvSpPr>
          <p:cNvPr id="17" name="AutoShape 17"/>
          <p:cNvSpPr/>
          <p:nvPr>
            <p:custDataLst>
              <p:tags r:id="rId17"/>
            </p:custDataLst>
          </p:nvPr>
        </p:nvSpPr>
        <p:spPr>
          <a:xfrm>
            <a:off x="8788400" y="2057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合规意识再强化</a:t>
            </a:r>
            <a:endParaRPr lang="en-US" sz="1100"/>
          </a:p>
        </p:txBody>
      </p:sp>
      <p:cxnSp>
        <p:nvCxnSpPr>
          <p:cNvPr id="18" name="Connector 18"/>
          <p:cNvCxnSpPr/>
          <p:nvPr>
            <p:custDataLst>
              <p:tags r:id="rId18"/>
            </p:custDataLst>
          </p:nvPr>
        </p:nvCxnSpPr>
        <p:spPr>
          <a:xfrm rot="-15211">
            <a:off x="8280414" y="2597150"/>
            <a:ext cx="28702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custDataLst>
              <p:tags r:id="rId19"/>
            </p:custDataLst>
          </p:nvPr>
        </p:nvSpPr>
        <p:spPr>
          <a:xfrm>
            <a:off x="8280400" y="2794000"/>
            <a:ext cx="28702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这次交流里有一件事让我印象深刻——一块移动屏幕的预算，从提出到批复，涉及到行政、业务、采购三方的协商。最初这块预算不在行政的预算线内，如果由行政批又会挤占其他支出。这种现实让我认识到：在国企体系内，小钱也要走流程；这是合规的一部分。这也强化了我对“流程合规”比“快”更重要的认识。</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4"/>
          <p:cNvSpPr/>
          <p:nvPr/>
        </p:nvSpPr>
        <p:spPr>
          <a:xfrm>
            <a:off x="762000" y="328295"/>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项目参与【核心】</a:t>
            </a:r>
            <a:endPar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2.2 </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移动工作站供应商交流</a:t>
            </a:r>
            <a:endPar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2" name="图片 21"/>
          <p:cNvPicPr>
            <a:picLocks noChangeAspect="1"/>
          </p:cNvPicPr>
          <p:nvPr/>
        </p:nvPicPr>
        <p:blipFill>
          <a:blip r:embed="rId20"/>
          <a:stretch>
            <a:fillRect/>
          </a:stretch>
        </p:blipFill>
        <p:spPr>
          <a:xfrm>
            <a:off x="10179050" y="143510"/>
            <a:ext cx="1800225" cy="603885"/>
          </a:xfrm>
          <a:prstGeom prst="rect">
            <a:avLst/>
          </a:prstGeom>
        </p:spPr>
      </p:pic>
      <p:pic>
        <p:nvPicPr>
          <p:cNvPr id="4" name="图片 3"/>
          <p:cNvPicPr>
            <a:picLocks noChangeAspect="1"/>
          </p:cNvPicPr>
          <p:nvPr/>
        </p:nvPicPr>
        <p:blipFill>
          <a:blip r:embed="rId21"/>
          <a:stretch>
            <a:fillRect/>
          </a:stretch>
        </p:blipFill>
        <p:spPr>
          <a:xfrm>
            <a:off x="4465320" y="4754880"/>
            <a:ext cx="2076450" cy="1845310"/>
          </a:xfrm>
          <a:prstGeom prst="rect">
            <a:avLst/>
          </a:prstGeom>
        </p:spPr>
      </p:pic>
      <p:sp>
        <p:nvSpPr>
          <p:cNvPr id="43" name="TextBox 42"/>
          <p:cNvSpPr txBox="1"/>
          <p:nvPr/>
        </p:nvSpPr>
        <p:spPr>
          <a:xfrm>
            <a:off x="6810375" y="5894705"/>
            <a:ext cx="5724525" cy="339725"/>
          </a:xfrm>
          <a:prstGeom prst="rect">
            <a:avLst/>
          </a:prstGeom>
          <a:noFill/>
        </p:spPr>
        <p:txBody>
          <a:bodyPr wrap="square" lIns="18000" tIns="10800" rIns="18000" bIns="10800" anchor="ctr">
            <a:noAutofit/>
          </a:bodyPr>
          <a:p>
            <a:pPr algn="l"/>
            <a:r>
              <a:rPr lang="zh-CN" b="1">
                <a:solidFill>
                  <a:srgbClr val="5A6B7B"/>
                </a:solidFill>
                <a:latin typeface="微软雅黑" panose="020B0503020204020204" charset="-122"/>
                <a:ea typeface="微软雅黑" panose="020B0503020204020204" charset="-122"/>
              </a:rPr>
              <a:t>供应商交流</a:t>
            </a:r>
            <a:r>
              <a:rPr lang="zh-CN" b="1">
                <a:solidFill>
                  <a:srgbClr val="5A6B7B"/>
                </a:solidFill>
                <a:latin typeface="微软雅黑" panose="020B0503020204020204" charset="-122"/>
                <a:ea typeface="微软雅黑" panose="020B0503020204020204" charset="-122"/>
              </a:rPr>
              <a:t>会议</a:t>
            </a:r>
            <a:endParaRPr lang="zh-CN" b="1">
              <a:solidFill>
                <a:srgbClr val="5A6B7B"/>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1270000"/>
            <a:ext cx="3810000" cy="3810000"/>
          </a:xfrm>
          <a:prstGeom prst="ellipse">
            <a:avLst/>
          </a:prstGeom>
          <a:solidFill>
            <a:srgbClr val="0052CC">
              <a:alpha val="4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5080000"/>
            <a:ext cx="3175000" cy="3175000"/>
          </a:xfrm>
          <a:prstGeom prst="ellipse">
            <a:avLst/>
          </a:prstGeom>
          <a:solidFill>
            <a:srgbClr val="0052CC">
              <a:alpha val="4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AI 工作流共学</a:t>
            </a:r>
            <a:endParaRPr lang="en-US" sz="2400" b="1">
              <a:solidFill>
                <a:srgbClr val="0052CC"/>
              </a:solidFill>
              <a:latin typeface="Noto Sans SC" panose="020B0200000000000000" charset="-122"/>
              <a:ea typeface="Noto Sans SC" panose="020B0200000000000000" charset="-122"/>
              <a:cs typeface="Noto Sans SC" panose="020B0200000000000000" charset="-122"/>
            </a:endParaRPr>
          </a:p>
        </p:txBody>
      </p:sp>
      <p:sp>
        <p:nvSpPr>
          <p:cNvPr id="6" name="AutoShape 6"/>
          <p:cNvSpPr/>
          <p:nvPr>
            <p:custDataLst>
              <p:tags r:id="rId1"/>
            </p:custDataLst>
          </p:nvPr>
        </p:nvSpPr>
        <p:spPr>
          <a:xfrm>
            <a:off x="762000" y="1953895"/>
            <a:ext cx="5270500" cy="1674495"/>
          </a:xfrm>
          <a:prstGeom prst="roundRect">
            <a:avLst>
              <a:gd name="adj" fmla="val 0"/>
            </a:avLst>
          </a:prstGeom>
          <a:solidFill>
            <a:srgbClr val="0052CC">
              <a:alpha val="5000"/>
            </a:srgbClr>
          </a:solidFill>
          <a:ln w="12700" cap="flat" cmpd="sng">
            <a:solidFill>
              <a:srgbClr val="0052CC">
                <a:alpha val="1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56765"/>
            <a:ext cx="406400" cy="406400"/>
          </a:xfrm>
          <a:prstGeom prst="rect">
            <a:avLst/>
          </a:prstGeom>
        </p:spPr>
      </p:pic>
      <p:sp>
        <p:nvSpPr>
          <p:cNvPr id="8" name="AutoShape 8"/>
          <p:cNvSpPr/>
          <p:nvPr>
            <p:custDataLst>
              <p:tags r:id="rId5"/>
            </p:custDataLst>
          </p:nvPr>
        </p:nvSpPr>
        <p:spPr>
          <a:xfrm>
            <a:off x="1587500" y="2056130"/>
            <a:ext cx="4254500" cy="4064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用 AI 辅助完成资料调研与整理</a:t>
            </a:r>
            <a:endPar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6"/>
            </p:custDataLst>
          </p:nvPr>
        </p:nvSpPr>
        <p:spPr>
          <a:xfrm>
            <a:off x="1016000" y="2463165"/>
            <a:ext cx="4762500" cy="103632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 WorkBuddy 工具为支撑，把 7-8 份参考材料（《广汽BOM管理当前现状痛点》、《企业级BOM变革项目立项Charter（高层汇报版）》、《供应商门户规划方案DS》等 PDF/PPTX）的核心信息抽提出来，形成可用素材；</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7"/>
            </p:custDataLst>
          </p:nvPr>
        </p:nvSpPr>
        <p:spPr>
          <a:xfrm>
            <a:off x="6286500" y="1085850"/>
            <a:ext cx="5270500" cy="4235450"/>
          </a:xfrm>
          <a:prstGeom prst="roundRect">
            <a:avLst>
              <a:gd name="adj" fmla="val 0"/>
            </a:avLst>
          </a:prstGeom>
          <a:solidFill>
            <a:srgbClr val="0052CC">
              <a:alpha val="5000"/>
            </a:srgbClr>
          </a:solidFill>
          <a:ln w="12700" cap="flat" cmpd="sng">
            <a:solidFill>
              <a:srgbClr val="0052CC">
                <a:alpha val="1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40500" y="1217295"/>
            <a:ext cx="406400" cy="406400"/>
          </a:xfrm>
          <a:prstGeom prst="rect">
            <a:avLst/>
          </a:prstGeom>
        </p:spPr>
      </p:pic>
      <p:sp>
        <p:nvSpPr>
          <p:cNvPr id="12" name="AutoShape 12"/>
          <p:cNvSpPr/>
          <p:nvPr>
            <p:custDataLst>
              <p:tags r:id="rId11"/>
            </p:custDataLst>
          </p:nvPr>
        </p:nvSpPr>
        <p:spPr>
          <a:xfrm>
            <a:off x="7112000" y="1217295"/>
            <a:ext cx="425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对话后</a:t>
            </a: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产出报告</a:t>
            </a:r>
            <a:endPar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21" name="组合 20"/>
          <p:cNvGrpSpPr/>
          <p:nvPr/>
        </p:nvGrpSpPr>
        <p:grpSpPr>
          <a:xfrm>
            <a:off x="762000" y="5852795"/>
            <a:ext cx="10795000" cy="886460"/>
            <a:chOff x="1200" y="8913"/>
            <a:chExt cx="17000" cy="1396"/>
          </a:xfrm>
        </p:grpSpPr>
        <p:sp>
          <p:nvSpPr>
            <p:cNvPr id="14" name="AutoShape 14"/>
            <p:cNvSpPr/>
            <p:nvPr/>
          </p:nvSpPr>
          <p:spPr>
            <a:xfrm>
              <a:off x="1200" y="8913"/>
              <a:ext cx="17000" cy="1396"/>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200" y="8913"/>
              <a:ext cx="120" cy="1396"/>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700" y="9080"/>
              <a:ext cx="16200" cy="115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a:solidFill>
                    <a:srgbClr val="4B5563"/>
                  </a:solidFill>
                  <a:latin typeface="Noto Sans SC" panose="020B0200000000000000" charset="-122"/>
                  <a:ea typeface="Noto Sans SC" panose="020B0200000000000000" charset="-122"/>
                  <a:cs typeface="Noto Sans SC" panose="020B0200000000000000" charset="-122"/>
                </a:rPr>
                <a:t>这 3 份报告最终形成并汇总。</a:t>
              </a:r>
              <a:endParaRPr lang="en-US" sz="16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en-US" sz="1600">
                  <a:solidFill>
                    <a:srgbClr val="4B5563"/>
                  </a:solidFill>
                  <a:latin typeface="Noto Sans SC" panose="020B0200000000000000" charset="-122"/>
                  <a:ea typeface="Noto Sans SC" panose="020B0200000000000000" charset="-122"/>
                  <a:cs typeface="Noto Sans SC" panose="020B0200000000000000" charset="-122"/>
                </a:rPr>
                <a:t>利用AI工具，效率与规范同步提升，这是这段实习中我在 AI 应用上最大的收获之一。</a:t>
              </a:r>
              <a:endParaRPr lang="en-US" sz="1600">
                <a:solidFill>
                  <a:srgbClr val="4B5563"/>
                </a:solidFill>
                <a:latin typeface="Noto Sans SC" panose="020B0200000000000000" charset="-122"/>
                <a:ea typeface="Noto Sans SC" panose="020B0200000000000000" charset="-122"/>
                <a:cs typeface="Noto Sans SC" panose="020B0200000000000000" charset="-122"/>
              </a:endParaRPr>
            </a:p>
          </p:txBody>
        </p:sp>
      </p:grpSp>
      <p:sp>
        <p:nvSpPr>
          <p:cNvPr id="25" name="AutoShape 4"/>
          <p:cNvSpPr/>
          <p:nvPr/>
        </p:nvSpPr>
        <p:spPr>
          <a:xfrm>
            <a:off x="762000" y="328295"/>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项目参与【核心】</a:t>
            </a:r>
            <a:endPar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2.3 </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企业级 </a:t>
            </a:r>
            <a:r>
              <a:rPr lang="en-US" altLang="zh-CN"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BOM </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调研</a:t>
            </a:r>
            <a:endPar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8" name="图片 17"/>
          <p:cNvPicPr>
            <a:picLocks noChangeAspect="1"/>
          </p:cNvPicPr>
          <p:nvPr/>
        </p:nvPicPr>
        <p:blipFill>
          <a:blip r:embed="rId12"/>
          <a:stretch>
            <a:fillRect/>
          </a:stretch>
        </p:blipFill>
        <p:spPr>
          <a:xfrm>
            <a:off x="10179050" y="143510"/>
            <a:ext cx="1800225" cy="603885"/>
          </a:xfrm>
          <a:prstGeom prst="rect">
            <a:avLst/>
          </a:prstGeom>
        </p:spPr>
      </p:pic>
      <p:pic>
        <p:nvPicPr>
          <p:cNvPr id="4" name="图片 3"/>
          <p:cNvPicPr>
            <a:picLocks noChangeAspect="1"/>
          </p:cNvPicPr>
          <p:nvPr/>
        </p:nvPicPr>
        <p:blipFill>
          <a:blip r:embed="rId13"/>
          <a:stretch>
            <a:fillRect/>
          </a:stretch>
        </p:blipFill>
        <p:spPr>
          <a:xfrm>
            <a:off x="6540500" y="1661795"/>
            <a:ext cx="4057650" cy="2663825"/>
          </a:xfrm>
          <a:prstGeom prst="rect">
            <a:avLst/>
          </a:prstGeom>
        </p:spPr>
      </p:pic>
      <p:sp>
        <p:nvSpPr>
          <p:cNvPr id="43" name="TextBox 42"/>
          <p:cNvSpPr txBox="1"/>
          <p:nvPr/>
        </p:nvSpPr>
        <p:spPr>
          <a:xfrm>
            <a:off x="6540500" y="4598035"/>
            <a:ext cx="4826000" cy="481965"/>
          </a:xfrm>
          <a:prstGeom prst="rect">
            <a:avLst/>
          </a:prstGeom>
          <a:noFill/>
        </p:spPr>
        <p:txBody>
          <a:bodyPr wrap="square" lIns="18000" tIns="10800" rIns="18000" bIns="10800" anchor="ctr">
            <a:noAutofit/>
          </a:bodyPr>
          <a:p>
            <a:pPr algn="l"/>
            <a:r>
              <a:rPr lang="zh-CN" b="1">
                <a:solidFill>
                  <a:srgbClr val="5A6B7B"/>
                </a:solidFill>
                <a:latin typeface="微软雅黑" panose="020B0503020204020204" charset="-122"/>
                <a:ea typeface="微软雅黑" panose="020B0503020204020204" charset="-122"/>
              </a:rPr>
              <a:t>调研中与</a:t>
            </a:r>
            <a:r>
              <a:rPr lang="en-US" altLang="zh-CN" b="1">
                <a:solidFill>
                  <a:srgbClr val="5A6B7B"/>
                </a:solidFill>
                <a:latin typeface="微软雅黑" panose="020B0503020204020204" charset="-122"/>
                <a:ea typeface="微软雅黑" panose="020B0503020204020204" charset="-122"/>
              </a:rPr>
              <a:t>Workbuddy</a:t>
            </a:r>
            <a:r>
              <a:rPr lang="zh-CN" altLang="en-US" b="1">
                <a:solidFill>
                  <a:srgbClr val="5A6B7B"/>
                </a:solidFill>
                <a:latin typeface="微软雅黑" panose="020B0503020204020204" charset="-122"/>
                <a:ea typeface="微软雅黑" panose="020B0503020204020204" charset="-122"/>
              </a:rPr>
              <a:t>对话，明确需求，产出数据分析报告</a:t>
            </a:r>
            <a:r>
              <a:rPr lang="en-US" altLang="zh-CN" b="1">
                <a:solidFill>
                  <a:srgbClr val="5A6B7B"/>
                </a:solidFill>
                <a:latin typeface="微软雅黑" panose="020B0503020204020204" charset="-122"/>
                <a:ea typeface="微软雅黑" panose="020B0503020204020204" charset="-122"/>
              </a:rPr>
              <a:t>&amp;</a:t>
            </a:r>
            <a:r>
              <a:rPr lang="en-US" altLang="zh-CN" b="1">
                <a:solidFill>
                  <a:srgbClr val="5A6B7B"/>
                </a:solidFill>
                <a:latin typeface="微软雅黑" panose="020B0503020204020204" charset="-122"/>
                <a:ea typeface="微软雅黑" panose="020B0503020204020204" charset="-122"/>
              </a:rPr>
              <a:t>ppt</a:t>
            </a:r>
            <a:endParaRPr lang="en-US" altLang="zh-CN" b="1">
              <a:solidFill>
                <a:srgbClr val="5A6B7B"/>
              </a:solidFill>
              <a:latin typeface="微软雅黑" panose="020B0503020204020204" charset="-122"/>
              <a:ea typeface="微软雅黑" panose="020B0503020204020204" charset="-122"/>
            </a:endParaRPr>
          </a:p>
        </p:txBody>
      </p:sp>
      <p:pic>
        <p:nvPicPr>
          <p:cNvPr id="19" name="图片 18"/>
          <p:cNvPicPr>
            <a:picLocks noChangeAspect="1"/>
          </p:cNvPicPr>
          <p:nvPr/>
        </p:nvPicPr>
        <p:blipFill>
          <a:blip r:embed="rId14"/>
          <a:stretch>
            <a:fillRect/>
          </a:stretch>
        </p:blipFill>
        <p:spPr>
          <a:xfrm>
            <a:off x="762000" y="3735705"/>
            <a:ext cx="1801495" cy="1731645"/>
          </a:xfrm>
          <a:prstGeom prst="rect">
            <a:avLst/>
          </a:prstGeom>
        </p:spPr>
      </p:pic>
      <p:pic>
        <p:nvPicPr>
          <p:cNvPr id="20" name="图片 19"/>
          <p:cNvPicPr>
            <a:picLocks noChangeAspect="1"/>
          </p:cNvPicPr>
          <p:nvPr/>
        </p:nvPicPr>
        <p:blipFill>
          <a:blip r:embed="rId15"/>
          <a:stretch>
            <a:fillRect/>
          </a:stretch>
        </p:blipFill>
        <p:spPr>
          <a:xfrm>
            <a:off x="2605405" y="3734435"/>
            <a:ext cx="3427095" cy="1605915"/>
          </a:xfrm>
          <a:prstGeom prst="rect">
            <a:avLst/>
          </a:prstGeom>
        </p:spPr>
      </p:pic>
      <p:sp>
        <p:nvSpPr>
          <p:cNvPr id="23" name="TextBox 42"/>
          <p:cNvSpPr txBox="1"/>
          <p:nvPr/>
        </p:nvSpPr>
        <p:spPr>
          <a:xfrm>
            <a:off x="943610" y="5317490"/>
            <a:ext cx="6539865" cy="481965"/>
          </a:xfrm>
          <a:prstGeom prst="rect">
            <a:avLst/>
          </a:prstGeom>
          <a:noFill/>
        </p:spPr>
        <p:txBody>
          <a:bodyPr wrap="square" lIns="18000" tIns="10800" rIns="18000" bIns="10800" anchor="ctr">
            <a:noAutofit/>
          </a:bodyPr>
          <a:p>
            <a:pPr algn="l"/>
            <a:r>
              <a:rPr lang="en-US" altLang="zh-CN" b="1">
                <a:solidFill>
                  <a:srgbClr val="5A6B7B"/>
                </a:solidFill>
                <a:latin typeface="微软雅黑" panose="020B0503020204020204" charset="-122"/>
                <a:ea typeface="微软雅黑" panose="020B0503020204020204" charset="-122"/>
              </a:rPr>
              <a:t>Workbuddy</a:t>
            </a:r>
            <a:r>
              <a:rPr lang="zh-CN" altLang="en-US" b="1">
                <a:solidFill>
                  <a:srgbClr val="5A6B7B"/>
                </a:solidFill>
                <a:latin typeface="微软雅黑" panose="020B0503020204020204" charset="-122"/>
                <a:ea typeface="微软雅黑" panose="020B0503020204020204" charset="-122"/>
              </a:rPr>
              <a:t>的产出，输出调研报告</a:t>
            </a:r>
            <a:r>
              <a:rPr lang="zh-CN" altLang="en-US" b="1">
                <a:solidFill>
                  <a:srgbClr val="5A6B7B"/>
                </a:solidFill>
                <a:latin typeface="微软雅黑" panose="020B0503020204020204" charset="-122"/>
                <a:ea typeface="微软雅黑" panose="020B0503020204020204" charset="-122"/>
              </a:rPr>
              <a:t>表格</a:t>
            </a:r>
            <a:endParaRPr lang="zh-CN" altLang="en-US" b="1">
              <a:solidFill>
                <a:srgbClr val="5A6B7B"/>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6" name="AutoShape 22"/>
          <p:cNvSpPr/>
          <p:nvPr/>
        </p:nvSpPr>
        <p:spPr>
          <a:xfrm>
            <a:off x="571500" y="1381125"/>
            <a:ext cx="11062335" cy="766445"/>
          </a:xfrm>
          <a:prstGeom prst="roundRect">
            <a:avLst>
              <a:gd name="adj" fmla="val 0"/>
            </a:avLst>
          </a:prstGeom>
          <a:solidFill>
            <a:srgbClr val="0052CC">
              <a:alpha val="6000"/>
            </a:srgbClr>
          </a:solidFill>
          <a:ln w="25400" cap="flat" cmpd="sng">
            <a:noFill/>
            <a:prstDash val="solid"/>
            <a:round/>
          </a:ln>
        </p:spPr>
        <p:txBody>
          <a:bodyPr vert="horz" wrap="square" lIns="63500" tIns="63500" rIns="63500" bIns="63500" rtlCol="0" anchor="ctr"/>
          <a:lstStyle/>
          <a:p>
            <a:pPr algn="ctr">
              <a:defRPr/>
            </a:pPr>
          </a:p>
        </p:txBody>
      </p:sp>
      <p:sp>
        <p:nvSpPr>
          <p:cNvPr id="2" name="AutoShape 2"/>
          <p:cNvSpPr/>
          <p:nvPr/>
        </p:nvSpPr>
        <p:spPr>
          <a:xfrm>
            <a:off x="9525000" y="-1270000"/>
            <a:ext cx="3810000" cy="381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454150"/>
            <a:ext cx="10668000" cy="53276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b="1" i="0" u="none" strike="noStrike">
                <a:solidFill>
                  <a:schemeClr val="tx1"/>
                </a:solidFill>
                <a:highlight>
                  <a:srgbClr val="00FFFF"/>
                </a:highlight>
                <a:latin typeface="Noto Sans SC" panose="020B0200000000000000" charset="-122"/>
                <a:ea typeface="Noto Sans SC" panose="020B0200000000000000" charset="-122"/>
                <a:cs typeface="Noto Sans SC" panose="020B0200000000000000" charset="-122"/>
                <a:sym typeface="Noto Sans SC" panose="020B0200000000000000" charset="-122"/>
              </a:rPr>
              <a:t>项目背景</a:t>
            </a:r>
            <a:r>
              <a:rPr lang="en-US" altLang="zh-CN"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Teamgo / </a:t>
            </a:r>
            <a:r>
              <a:rPr lang="zh-CN" altLang="en-US"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生销运营系统是部门当前在推的面向产销协同的内部系统，目标是把生产、销售、供应三端数据打通，支撑销售预测与辅助决策。该系统采用 </a:t>
            </a:r>
            <a:r>
              <a:rPr lang="en-US" altLang="zh-CN"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RuoYi </a:t>
            </a:r>
            <a:r>
              <a:rPr lang="zh-CN" altLang="en-US"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微服务 + </a:t>
            </a:r>
            <a:r>
              <a:rPr lang="en-US" altLang="zh-CN"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Nacos + Vue </a:t>
            </a:r>
            <a:r>
              <a:rPr lang="zh-CN" altLang="en-US"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技术栈，部署在内部环境。我在这条项目线上的参与方式是项目助理 + 系统学习者：</a:t>
            </a:r>
            <a:endParaRPr lang="zh-CN" altLang="en-US"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custDataLst>
              <p:tags r:id="rId1"/>
            </p:custDataLst>
          </p:nvPr>
        </p:nvSpPr>
        <p:spPr>
          <a:xfrm>
            <a:off x="762000" y="2223770"/>
            <a:ext cx="5270500" cy="123063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311400"/>
            <a:ext cx="304800" cy="304800"/>
          </a:xfrm>
          <a:prstGeom prst="rect">
            <a:avLst/>
          </a:prstGeom>
        </p:spPr>
      </p:pic>
      <p:sp>
        <p:nvSpPr>
          <p:cNvPr id="8" name="AutoShape 8"/>
          <p:cNvSpPr/>
          <p:nvPr>
            <p:custDataLst>
              <p:tags r:id="rId5"/>
            </p:custDataLst>
          </p:nvPr>
        </p:nvSpPr>
        <p:spPr>
          <a:xfrm>
            <a:off x="1397000" y="23114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环境搭建</a:t>
            </a:r>
            <a:endParaRPr lang="en-US" sz="1100"/>
          </a:p>
        </p:txBody>
      </p:sp>
      <p:sp>
        <p:nvSpPr>
          <p:cNvPr id="9" name="AutoShape 9"/>
          <p:cNvSpPr/>
          <p:nvPr>
            <p:custDataLst>
              <p:tags r:id="rId6"/>
            </p:custDataLst>
          </p:nvPr>
        </p:nvSpPr>
        <p:spPr>
          <a:xfrm>
            <a:off x="952500" y="2730500"/>
            <a:ext cx="4889500" cy="53213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完成本地开发环境部署：</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MySQL、Redis、Nacos、JDK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全部跑通。</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7"/>
            </p:custDataLst>
          </p:nvPr>
        </p:nvSpPr>
        <p:spPr>
          <a:xfrm>
            <a:off x="6159500" y="2223770"/>
            <a:ext cx="5270500" cy="1205865"/>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0" y="2311400"/>
            <a:ext cx="304800" cy="304800"/>
          </a:xfrm>
          <a:prstGeom prst="rect">
            <a:avLst/>
          </a:prstGeom>
        </p:spPr>
      </p:pic>
      <p:sp>
        <p:nvSpPr>
          <p:cNvPr id="12" name="AutoShape 12"/>
          <p:cNvSpPr/>
          <p:nvPr>
            <p:custDataLst>
              <p:tags r:id="rId11"/>
            </p:custDataLst>
          </p:nvPr>
        </p:nvSpPr>
        <p:spPr>
          <a:xfrm>
            <a:off x="6794500" y="23114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系统架构</a:t>
            </a: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a:t>
            </a:r>
            <a:endPar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12"/>
            </p:custDataLst>
          </p:nvPr>
        </p:nvSpPr>
        <p:spPr>
          <a:xfrm>
            <a:off x="6350000" y="2730500"/>
            <a:ext cx="4889500" cy="75501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按"路由 →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Vue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组件 → 接口映射（请求/响应）"的学习路径，逐页梳理菜单，产出一份"菜单 → 路由 →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vue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文件 → 接口"的映射笔记。</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19" name="组合 18"/>
          <p:cNvGrpSpPr/>
          <p:nvPr/>
        </p:nvGrpSpPr>
        <p:grpSpPr>
          <a:xfrm>
            <a:off x="762000" y="3810000"/>
            <a:ext cx="5270500" cy="1460500"/>
            <a:chOff x="1200" y="6000"/>
            <a:chExt cx="8300" cy="2300"/>
          </a:xfrm>
        </p:grpSpPr>
        <p:sp>
          <p:nvSpPr>
            <p:cNvPr id="14" name="AutoShape 14"/>
            <p:cNvSpPr/>
            <p:nvPr>
              <p:custDataLst>
                <p:tags r:id="rId13"/>
              </p:custDataLst>
            </p:nvPr>
          </p:nvSpPr>
          <p:spPr>
            <a:xfrm>
              <a:off x="1200" y="6000"/>
              <a:ext cx="8300" cy="23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500" y="6240"/>
              <a:ext cx="480" cy="480"/>
            </a:xfrm>
            <a:prstGeom prst="rect">
              <a:avLst/>
            </a:prstGeom>
          </p:spPr>
        </p:pic>
        <p:sp>
          <p:nvSpPr>
            <p:cNvPr id="16" name="AutoShape 16"/>
            <p:cNvSpPr/>
            <p:nvPr>
              <p:custDataLst>
                <p:tags r:id="rId17"/>
              </p:custDataLst>
            </p:nvPr>
          </p:nvSpPr>
          <p:spPr>
            <a:xfrm>
              <a:off x="2200" y="6240"/>
              <a:ext cx="7000" cy="4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a:t>
              </a: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项目逻辑</a:t>
              </a: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a:t>
              </a:r>
              <a:endPar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8"/>
              </p:custDataLst>
            </p:nvPr>
          </p:nvSpPr>
          <p:spPr>
            <a:xfrm>
              <a:off x="1500" y="6900"/>
              <a:ext cx="7700" cy="13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借助带教老师的指导，把项目从需求 → 研发协同 → 工时 → 验收的链路逐段画出流程图。</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sp>
        <p:nvSpPr>
          <p:cNvPr id="25" name="AutoShape 4"/>
          <p:cNvSpPr/>
          <p:nvPr/>
        </p:nvSpPr>
        <p:spPr>
          <a:xfrm>
            <a:off x="762000" y="328295"/>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项目参与【核心】</a:t>
            </a:r>
            <a:endPar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2.4 </a:t>
            </a:r>
            <a:r>
              <a:rPr lang="en-US" altLang="zh-CN"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Teamgo</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a:t>
            </a:r>
            <a:endPar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7" name="图片 26"/>
          <p:cNvPicPr>
            <a:picLocks noChangeAspect="1"/>
          </p:cNvPicPr>
          <p:nvPr/>
        </p:nvPicPr>
        <p:blipFill>
          <a:blip r:embed="rId19"/>
          <a:stretch>
            <a:fillRect/>
          </a:stretch>
        </p:blipFill>
        <p:spPr>
          <a:xfrm>
            <a:off x="10179050" y="143510"/>
            <a:ext cx="1800225" cy="603885"/>
          </a:xfrm>
          <a:prstGeom prst="rect">
            <a:avLst/>
          </a:prstGeom>
        </p:spPr>
      </p:pic>
      <p:pic>
        <p:nvPicPr>
          <p:cNvPr id="4" name="Picture 15" descr="7b0a20202020227069636672616d65646573223a20222670666d38323230363936323334262673707432312d312626626474303026267764743235353026266f726773697a653030262670667431323226220a7d0a"/>
          <p:cNvPicPr>
            <a:picLocks noChangeAspect="1"/>
          </p:cNvPicPr>
          <p:nvPr/>
        </p:nvPicPr>
        <p:blipFill>
          <a:blip r:embed="rId20">
            <a:extLst>
              <a:ext uri="{BEBA8EAE-BF5A-486C-A8C5-ECC9F3942E4B}">
                <a14:imgProps xmlns:a14="http://schemas.microsoft.com/office/drawing/2010/main">
                  <a14:imgLayer r:embed="rId21"/>
                </a14:imgProps>
              </a:ext>
            </a:extLst>
          </a:blip>
          <a:srcRect/>
          <a:stretch>
            <a:fillRect/>
          </a:stretch>
        </p:blipFill>
        <p:spPr>
          <a:xfrm>
            <a:off x="6350000" y="3710305"/>
            <a:ext cx="4300855" cy="23971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4"/>
          <p:cNvSpPr/>
          <p:nvPr/>
        </p:nvSpPr>
        <p:spPr>
          <a:xfrm>
            <a:off x="762000" y="328295"/>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项目参与【核心】</a:t>
            </a:r>
            <a:endPar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2.5 </a:t>
            </a:r>
            <a:r>
              <a:rPr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生销运营系统</a:t>
            </a:r>
            <a:endParaRPr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7" name="图片 26"/>
          <p:cNvPicPr>
            <a:picLocks noChangeAspect="1"/>
          </p:cNvPicPr>
          <p:nvPr/>
        </p:nvPicPr>
        <p:blipFill>
          <a:blip r:embed="rId1"/>
          <a:stretch>
            <a:fillRect/>
          </a:stretch>
        </p:blipFill>
        <p:spPr>
          <a:xfrm>
            <a:off x="10179050" y="143510"/>
            <a:ext cx="1800225" cy="603885"/>
          </a:xfrm>
          <a:prstGeom prst="rect">
            <a:avLst/>
          </a:prstGeom>
        </p:spPr>
      </p:pic>
      <p:pic>
        <p:nvPicPr>
          <p:cNvPr id="18" name="Picture 9" descr="img_video.png"/>
          <p:cNvPicPr>
            <a:picLocks noChangeAspect="1"/>
          </p:cNvPicPr>
          <p:nvPr/>
        </p:nvPicPr>
        <p:blipFill>
          <a:blip r:embed="rId2"/>
          <a:stretch>
            <a:fillRect/>
          </a:stretch>
        </p:blipFill>
        <p:spPr>
          <a:xfrm>
            <a:off x="432435" y="1610360"/>
            <a:ext cx="4843145" cy="3173730"/>
          </a:xfrm>
          <a:prstGeom prst="rect">
            <a:avLst/>
          </a:prstGeom>
        </p:spPr>
      </p:pic>
      <p:grpSp>
        <p:nvGrpSpPr>
          <p:cNvPr id="19" name="组合 18"/>
          <p:cNvGrpSpPr/>
          <p:nvPr/>
        </p:nvGrpSpPr>
        <p:grpSpPr>
          <a:xfrm>
            <a:off x="432435" y="5024755"/>
            <a:ext cx="5270500" cy="1460500"/>
            <a:chOff x="1200" y="6000"/>
            <a:chExt cx="8300" cy="2300"/>
          </a:xfrm>
        </p:grpSpPr>
        <p:sp>
          <p:nvSpPr>
            <p:cNvPr id="20" name="AutoShape 14"/>
            <p:cNvSpPr/>
            <p:nvPr>
              <p:custDataLst>
                <p:tags r:id="rId3"/>
              </p:custDataLst>
            </p:nvPr>
          </p:nvSpPr>
          <p:spPr>
            <a:xfrm>
              <a:off x="1200" y="6000"/>
              <a:ext cx="8300" cy="23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p>
              <a:pPr algn="ctr">
                <a:defRPr/>
              </a:pPr>
            </a:p>
          </p:txBody>
        </p:sp>
        <p:pic>
          <p:nvPicPr>
            <p:cNvPr id="21" name="Picture 15"/>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00" y="6240"/>
              <a:ext cx="480" cy="480"/>
            </a:xfrm>
            <a:prstGeom prst="rect">
              <a:avLst/>
            </a:prstGeom>
          </p:spPr>
        </p:pic>
        <p:sp>
          <p:nvSpPr>
            <p:cNvPr id="22" name="AutoShape 16"/>
            <p:cNvSpPr/>
            <p:nvPr>
              <p:custDataLst>
                <p:tags r:id="rId7"/>
              </p:custDataLst>
            </p:nvPr>
          </p:nvSpPr>
          <p:spPr>
            <a:xfrm>
              <a:off x="2200" y="6240"/>
              <a:ext cx="7000" cy="48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汇报视频</a:t>
              </a: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剪辑</a:t>
              </a:r>
              <a:endPar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17"/>
            <p:cNvSpPr/>
            <p:nvPr>
              <p:custDataLst>
                <p:tags r:id="rId8"/>
              </p:custDataLst>
            </p:nvPr>
          </p:nvSpPr>
          <p:spPr>
            <a:xfrm>
              <a:off x="1500" y="6900"/>
              <a:ext cx="7700" cy="1300"/>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主导剪辑了《生销运营系统经营层中间确认会-0724》汇报视频，把系统的功能与价值</a:t>
              </a:r>
              <a:r>
                <a:rPr lang="en-US" altLang="zh-CN"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翻译</a:t>
              </a:r>
              <a:r>
                <a:rPr lang="en-US" altLang="zh-CN"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成更加易懂的</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语言。</a:t>
              </a:r>
              <a:endPar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pic>
        <p:nvPicPr>
          <p:cNvPr id="24" name="Picture 14" descr="img_arch.png"/>
          <p:cNvPicPr>
            <a:picLocks noChangeAspect="1"/>
          </p:cNvPicPr>
          <p:nvPr/>
        </p:nvPicPr>
        <p:blipFill>
          <a:blip r:embed="rId9"/>
          <a:stretch>
            <a:fillRect/>
          </a:stretch>
        </p:blipFill>
        <p:spPr>
          <a:xfrm>
            <a:off x="5832000" y="1007999"/>
            <a:ext cx="5868000" cy="3420000"/>
          </a:xfrm>
          <a:prstGeom prst="rect">
            <a:avLst/>
          </a:prstGeom>
        </p:spPr>
      </p:pic>
      <p:pic>
        <p:nvPicPr>
          <p:cNvPr id="28" name="Picture 16" descr="img_sys1.png"/>
          <p:cNvPicPr>
            <a:picLocks noChangeAspect="1"/>
          </p:cNvPicPr>
          <p:nvPr/>
        </p:nvPicPr>
        <p:blipFill>
          <a:blip r:embed="rId10"/>
          <a:stretch>
            <a:fillRect/>
          </a:stretch>
        </p:blipFill>
        <p:spPr>
          <a:xfrm>
            <a:off x="5832000" y="4752000"/>
            <a:ext cx="1908000" cy="1296000"/>
          </a:xfrm>
          <a:prstGeom prst="rect">
            <a:avLst/>
          </a:prstGeom>
        </p:spPr>
      </p:pic>
      <p:pic>
        <p:nvPicPr>
          <p:cNvPr id="29" name="Picture 17" descr="img_sys2.png"/>
          <p:cNvPicPr>
            <a:picLocks noChangeAspect="1"/>
          </p:cNvPicPr>
          <p:nvPr/>
        </p:nvPicPr>
        <p:blipFill>
          <a:blip r:embed="rId11"/>
          <a:stretch>
            <a:fillRect/>
          </a:stretch>
        </p:blipFill>
        <p:spPr>
          <a:xfrm>
            <a:off x="7793999" y="4752000"/>
            <a:ext cx="1908000" cy="1296000"/>
          </a:xfrm>
          <a:prstGeom prst="rect">
            <a:avLst/>
          </a:prstGeom>
        </p:spPr>
      </p:pic>
      <p:pic>
        <p:nvPicPr>
          <p:cNvPr id="30" name="Picture 18" descr="img_sys3.png"/>
          <p:cNvPicPr>
            <a:picLocks noChangeAspect="1"/>
          </p:cNvPicPr>
          <p:nvPr/>
        </p:nvPicPr>
        <p:blipFill>
          <a:blip r:embed="rId12"/>
          <a:stretch>
            <a:fillRect/>
          </a:stretch>
        </p:blipFill>
        <p:spPr>
          <a:xfrm>
            <a:off x="9756000" y="4752000"/>
            <a:ext cx="1908000" cy="1296000"/>
          </a:xfrm>
          <a:prstGeom prst="rect">
            <a:avLst/>
          </a:prstGeom>
        </p:spPr>
      </p:pic>
      <p:sp>
        <p:nvSpPr>
          <p:cNvPr id="31" name="TextBox 10"/>
          <p:cNvSpPr txBox="1"/>
          <p:nvPr/>
        </p:nvSpPr>
        <p:spPr>
          <a:xfrm>
            <a:off x="6138110" y="4399597"/>
            <a:ext cx="5220000" cy="236855"/>
          </a:xfrm>
          <a:prstGeom prst="rect">
            <a:avLst/>
          </a:prstGeom>
          <a:noFill/>
        </p:spPr>
        <p:txBody>
          <a:bodyPr wrap="square" lIns="18000" tIns="10800" rIns="18000" bIns="10800" anchor="ctr">
            <a:spAutoFit/>
          </a:bodyPr>
          <a:p>
            <a:pPr algn="ctr"/>
            <a:r>
              <a:rPr b="0">
                <a:solidFill>
                  <a:srgbClr val="5A6B7B"/>
                </a:solidFill>
                <a:latin typeface="微软雅黑" panose="020B0503020204020204" charset="-122"/>
                <a:ea typeface="微软雅黑" panose="020B0503020204020204" charset="-122"/>
              </a:rPr>
              <a:t>视频关键帧 </a:t>
            </a:r>
            <a:r>
              <a:rPr lang="zh-CN" b="0">
                <a:solidFill>
                  <a:srgbClr val="5A6B7B"/>
                </a:solidFill>
                <a:latin typeface="微软雅黑" panose="020B0503020204020204" charset="-122"/>
                <a:ea typeface="微软雅黑" panose="020B0503020204020204" charset="-122"/>
              </a:rPr>
              <a:t>，</a:t>
            </a:r>
            <a:r>
              <a:rPr b="0">
                <a:solidFill>
                  <a:srgbClr val="5A6B7B"/>
                </a:solidFill>
                <a:latin typeface="微软雅黑" panose="020B0503020204020204" charset="-122"/>
                <a:ea typeface="微软雅黑" panose="020B0503020204020204" charset="-122"/>
              </a:rPr>
              <a:t>用于</a:t>
            </a:r>
            <a:r>
              <a:rPr lang="zh-CN" b="0">
                <a:solidFill>
                  <a:srgbClr val="5A6B7B"/>
                </a:solidFill>
                <a:latin typeface="微软雅黑" panose="020B0503020204020204" charset="-122"/>
                <a:ea typeface="微软雅黑" panose="020B0503020204020204" charset="-122"/>
              </a:rPr>
              <a:t>汇报</a:t>
            </a:r>
            <a:r>
              <a:rPr lang="zh-CN" b="0">
                <a:solidFill>
                  <a:srgbClr val="5A6B7B"/>
                </a:solidFill>
                <a:latin typeface="微软雅黑" panose="020B0503020204020204" charset="-122"/>
                <a:ea typeface="微软雅黑" panose="020B0503020204020204" charset="-122"/>
              </a:rPr>
              <a:t>会议</a:t>
            </a:r>
            <a:endParaRPr lang="zh-CN" b="0">
              <a:solidFill>
                <a:srgbClr val="5A6B7B"/>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250371"/>
            <a:ext cx="12199621" cy="2357257"/>
          </a:xfrm>
          <a:prstGeom prst="rect">
            <a:avLst/>
          </a:prstGeom>
          <a:gradFill flip="none" rotWithShape="1">
            <a:gsLst>
              <a:gs pos="86000">
                <a:srgbClr val="80A9E6">
                  <a:alpha val="100000"/>
                </a:srgbClr>
              </a:gs>
              <a:gs pos="0">
                <a:srgbClr val="0052CC">
                  <a:alpha val="100000"/>
                </a:srgbClr>
              </a:gs>
              <a:gs pos="78000">
                <a:srgbClr val="00B0F0"/>
              </a:gs>
              <a:gs pos="100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核心产出与亮点</a:t>
            </a:r>
            <a:endPar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7" name="Picture 7"/>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2425700" y="2987675"/>
            <a:ext cx="659130" cy="7181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0052CC">
              <a:alpha val="3000"/>
            </a:srgbClr>
          </a:solidFill>
          <a:ln cap="flat" cmpd="sng">
            <a:solidFill>
              <a:srgbClr val="0048B3">
                <a:alpha val="3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635000" y="5334000"/>
            <a:ext cx="1905000" cy="1905000"/>
          </a:xfrm>
          <a:prstGeom prst="ellipse">
            <a:avLst/>
          </a:prstGeom>
          <a:solidFill>
            <a:srgbClr val="0052CC">
              <a:alpha val="3000"/>
            </a:srgbClr>
          </a:solidFill>
          <a:ln cap="flat" cmpd="sng">
            <a:solidFill>
              <a:srgbClr val="0048B3">
                <a:alpha val="3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核心产出与亮点</a:t>
            </a:r>
            <a:endParaRPr lang="en-US" sz="1100"/>
          </a:p>
        </p:txBody>
      </p:sp>
      <p:sp>
        <p:nvSpPr>
          <p:cNvPr id="5" name="AutoShape 5"/>
          <p:cNvSpPr/>
          <p:nvPr>
            <p:custDataLst>
              <p:tags r:id="rId2"/>
            </p:custDataLst>
          </p:nvPr>
        </p:nvSpPr>
        <p:spPr>
          <a:xfrm>
            <a:off x="762000" y="2103755"/>
            <a:ext cx="5270500" cy="3775075"/>
          </a:xfrm>
          <a:prstGeom prst="roundRect">
            <a:avLst>
              <a:gd name="adj" fmla="val 0"/>
            </a:avLst>
          </a:prstGeom>
          <a:solidFill>
            <a:srgbClr val="0052CC">
              <a:alpha val="6000"/>
            </a:srgbClr>
          </a:solidFill>
          <a:ln cap="flat" cmpd="sng">
            <a:solidFill>
              <a:srgbClr val="0048B3">
                <a:alpha val="6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357755"/>
            <a:ext cx="406400" cy="406400"/>
          </a:xfrm>
          <a:prstGeom prst="rect">
            <a:avLst/>
          </a:prstGeom>
        </p:spPr>
      </p:pic>
      <p:sp>
        <p:nvSpPr>
          <p:cNvPr id="7" name="AutoShape 7"/>
          <p:cNvSpPr/>
          <p:nvPr>
            <p:custDataLst>
              <p:tags r:id="rId6"/>
            </p:custDataLst>
          </p:nvPr>
        </p:nvSpPr>
        <p:spPr>
          <a:xfrm>
            <a:off x="1524000" y="2357755"/>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是这一段实习贯穿始终的工具主线</a:t>
            </a:r>
            <a:endPar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custDataLst>
              <p:tags r:id="rId7"/>
            </p:custDataLst>
          </p:nvPr>
        </p:nvCxnSpPr>
        <p:spPr>
          <a:xfrm rot="21590833">
            <a:off x="1016000" y="2922905"/>
            <a:ext cx="4762500" cy="12700"/>
          </a:xfrm>
          <a:prstGeom prst="straightConnector1">
            <a:avLst/>
          </a:prstGeom>
          <a:solidFill>
            <a:srgbClr val="DEE0E3">
              <a:alpha val="100000"/>
            </a:srgbClr>
          </a:solidFill>
          <a:ln w="12700" cap="flat" cmpd="sng">
            <a:solidFill>
              <a:srgbClr val="0052CC">
                <a:alpha val="15000"/>
              </a:srgbClr>
            </a:solidFill>
            <a:prstDash val="solid"/>
            <a:round/>
            <a:headEnd type="none" w="med" len="med"/>
            <a:tailEnd type="none" w="med" len="med"/>
          </a:ln>
        </p:spPr>
      </p:cxnSp>
      <p:sp>
        <p:nvSpPr>
          <p:cNvPr id="9" name="AutoShape 9"/>
          <p:cNvSpPr/>
          <p:nvPr>
            <p:custDataLst>
              <p:tags r:id="rId8"/>
            </p:custDataLst>
          </p:nvPr>
        </p:nvSpPr>
        <p:spPr>
          <a:xfrm>
            <a:off x="1016000" y="3056255"/>
            <a:ext cx="4762500" cy="250380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CodeBuddy（WorkBuddy）</a:t>
            </a: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用来理解项目架构、读代码、生成调研报告骨架、梳理 </a:t>
            </a: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BOM </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 </a:t>
            </a: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Teamgo </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项目逻辑。</a:t>
            </a:r>
            <a:endPar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腾讯 AI 战略认知</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7.31 腾讯参访的学习，我了解了腾讯 </a:t>
            </a: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的全栈自研、</a:t>
            </a: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magic agent、</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 </a:t>
            </a: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应用四大场景、对"人才密度 × </a:t>
            </a: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杠杆 / 组织摩擦 = 组织竞争力"的认识。腾讯对"工作流搭建、</a:t>
            </a: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Skill </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沉淀、规则制作"的实践，对我后来在 </a:t>
            </a: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BOM </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调研与 </a:t>
            </a: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Teamgo </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学习中使用 </a:t>
            </a: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的方式产生了直接启发。</a:t>
            </a:r>
            <a:endPar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企业级 BOM 调研</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 </a:t>
            </a: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辅助产出 3 份对标报告，效率与规范同步提升。</a:t>
            </a:r>
            <a:endPar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5"/>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altLang="zh-CN"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3.1 AI </a:t>
            </a:r>
            <a:r>
              <a:rPr lang="zh-CN" alt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应用与工具力</a:t>
            </a:r>
            <a:endParaRPr lang="zh-CN" alt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30" name="组合 29"/>
          <p:cNvGrpSpPr/>
          <p:nvPr/>
        </p:nvGrpSpPr>
        <p:grpSpPr>
          <a:xfrm>
            <a:off x="692150" y="5952490"/>
            <a:ext cx="10668000" cy="633730"/>
            <a:chOff x="1200" y="8600"/>
            <a:chExt cx="16800" cy="1600"/>
          </a:xfrm>
        </p:grpSpPr>
        <p:sp>
          <p:nvSpPr>
            <p:cNvPr id="27" name="AutoShape 22"/>
            <p:cNvSpPr/>
            <p:nvPr/>
          </p:nvSpPr>
          <p:spPr>
            <a:xfrm>
              <a:off x="1200" y="8600"/>
              <a:ext cx="16800" cy="1600"/>
            </a:xfrm>
            <a:prstGeom prst="roundRect">
              <a:avLst>
                <a:gd name="adj" fmla="val 0"/>
              </a:avLst>
            </a:prstGeom>
            <a:solidFill>
              <a:srgbClr val="0052CC">
                <a:alpha val="6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3"/>
            <p:cNvSpPr/>
            <p:nvPr/>
          </p:nvSpPr>
          <p:spPr>
            <a:xfrm>
              <a:off x="1200" y="8600"/>
              <a:ext cx="120" cy="16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4"/>
            <p:cNvSpPr/>
            <p:nvPr/>
          </p:nvSpPr>
          <p:spPr>
            <a:xfrm>
              <a:off x="1600" y="8760"/>
              <a:ext cx="16000" cy="14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400" b="1" i="0" u="none" strike="noStrike">
                  <a:solidFill>
                    <a:srgbClr val="1F2937"/>
                  </a:solidFill>
                  <a:highlight>
                    <a:srgbClr val="00FFFF"/>
                  </a:highlight>
                  <a:latin typeface="Noto Sans SC" panose="020B0200000000000000" charset="-122"/>
                  <a:ea typeface="Noto Sans SC" panose="020B0200000000000000" charset="-122"/>
                  <a:cs typeface="Noto Sans SC" panose="020B0200000000000000" charset="-122"/>
                  <a:sym typeface="Noto Sans SC" panose="020B0200000000000000" charset="-122"/>
                </a:rPr>
                <a:t>一句话总结：用好 </a:t>
              </a:r>
              <a:r>
                <a:rPr lang="en-US" altLang="zh-CN" sz="1400" b="1" i="0" u="none" strike="noStrike">
                  <a:solidFill>
                    <a:srgbClr val="1F2937"/>
                  </a:solidFill>
                  <a:highlight>
                    <a:srgbClr val="00FFFF"/>
                  </a:highlight>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zh-CN" altLang="en-US" sz="1400" b="1" i="0" u="none" strike="noStrike">
                  <a:solidFill>
                    <a:srgbClr val="1F2937"/>
                  </a:solidFill>
                  <a:highlight>
                    <a:srgbClr val="00FFFF"/>
                  </a:highlight>
                  <a:latin typeface="Noto Sans SC" panose="020B0200000000000000" charset="-122"/>
                  <a:ea typeface="Noto Sans SC" panose="020B0200000000000000" charset="-122"/>
                  <a:cs typeface="Noto Sans SC" panose="020B0200000000000000" charset="-122"/>
                  <a:sym typeface="Noto Sans SC" panose="020B0200000000000000" charset="-122"/>
                </a:rPr>
                <a:t>的关键，是把 </a:t>
              </a:r>
              <a:r>
                <a:rPr lang="en-US" altLang="zh-CN" sz="1400" b="1" i="0" u="none" strike="noStrike">
                  <a:solidFill>
                    <a:srgbClr val="1F2937"/>
                  </a:solidFill>
                  <a:highlight>
                    <a:srgbClr val="00FFFF"/>
                  </a:highlight>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zh-CN" altLang="en-US" sz="1400" b="1" i="0" u="none" strike="noStrike">
                  <a:solidFill>
                    <a:srgbClr val="1F2937"/>
                  </a:solidFill>
                  <a:highlight>
                    <a:srgbClr val="00FFFF"/>
                  </a:highlight>
                  <a:latin typeface="Noto Sans SC" panose="020B0200000000000000" charset="-122"/>
                  <a:ea typeface="Noto Sans SC" panose="020B0200000000000000" charset="-122"/>
                  <a:cs typeface="Noto Sans SC" panose="020B0200000000000000" charset="-122"/>
                  <a:sym typeface="Noto Sans SC" panose="020B0200000000000000" charset="-122"/>
                </a:rPr>
                <a:t>当作"工作流的放大器"，把节省的时间花在思考上。</a:t>
              </a:r>
              <a:endParaRPr lang="zh-CN" altLang="en-US" sz="1400" b="1" i="0" u="none" strike="noStrike">
                <a:solidFill>
                  <a:srgbClr val="1F2937"/>
                </a:solidFill>
                <a:highlight>
                  <a:srgbClr val="00FFFF"/>
                </a:highligh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pic>
        <p:nvPicPr>
          <p:cNvPr id="31" name="图片 30"/>
          <p:cNvPicPr>
            <a:picLocks noChangeAspect="1"/>
          </p:cNvPicPr>
          <p:nvPr/>
        </p:nvPicPr>
        <p:blipFill>
          <a:blip r:embed="rId9"/>
          <a:stretch>
            <a:fillRect/>
          </a:stretch>
        </p:blipFill>
        <p:spPr>
          <a:xfrm>
            <a:off x="10179050" y="143510"/>
            <a:ext cx="1800225" cy="603885"/>
          </a:xfrm>
          <a:prstGeom prst="rect">
            <a:avLst/>
          </a:prstGeom>
        </p:spPr>
      </p:pic>
      <p:pic>
        <p:nvPicPr>
          <p:cNvPr id="42" name="Picture 41" descr="img_ideawb.png"/>
          <p:cNvPicPr>
            <a:picLocks noChangeAspect="1"/>
          </p:cNvPicPr>
          <p:nvPr/>
        </p:nvPicPr>
        <p:blipFill>
          <a:blip r:embed="rId10"/>
          <a:stretch>
            <a:fillRect/>
          </a:stretch>
        </p:blipFill>
        <p:spPr>
          <a:xfrm>
            <a:off x="6420485" y="3056255"/>
            <a:ext cx="5114925" cy="2445385"/>
          </a:xfrm>
          <a:prstGeom prst="rect">
            <a:avLst/>
          </a:prstGeom>
        </p:spPr>
      </p:pic>
      <p:sp>
        <p:nvSpPr>
          <p:cNvPr id="43" name="TextBox 42"/>
          <p:cNvSpPr txBox="1"/>
          <p:nvPr/>
        </p:nvSpPr>
        <p:spPr>
          <a:xfrm>
            <a:off x="5903999" y="5623965"/>
            <a:ext cx="5724000" cy="205740"/>
          </a:xfrm>
          <a:prstGeom prst="rect">
            <a:avLst/>
          </a:prstGeom>
          <a:noFill/>
        </p:spPr>
        <p:txBody>
          <a:bodyPr wrap="square" lIns="18000" tIns="10800" rIns="18000" bIns="10800" anchor="ctr">
            <a:spAutoFit/>
          </a:bodyPr>
          <a:p>
            <a:pPr algn="ctr"/>
            <a:r>
              <a:rPr sz="1200" b="0">
                <a:solidFill>
                  <a:srgbClr val="5A6B7B"/>
                </a:solidFill>
                <a:latin typeface="微软雅黑" panose="020B0503020204020204" charset="-122"/>
                <a:ea typeface="微软雅黑" panose="020B0503020204020204" charset="-122"/>
              </a:rPr>
              <a:t>IDEA +  </a:t>
            </a:r>
            <a:r>
              <a:rPr lang="en-US" sz="1200" b="0">
                <a:solidFill>
                  <a:srgbClr val="5A6B7B"/>
                </a:solidFill>
                <a:latin typeface="微软雅黑" panose="020B0503020204020204" charset="-122"/>
                <a:ea typeface="微软雅黑" panose="020B0503020204020204" charset="-122"/>
              </a:rPr>
              <a:t>Code</a:t>
            </a:r>
            <a:r>
              <a:rPr sz="1200" b="0">
                <a:solidFill>
                  <a:srgbClr val="5A6B7B"/>
                </a:solidFill>
                <a:latin typeface="微软雅黑" panose="020B0503020204020204" charset="-122"/>
                <a:ea typeface="微软雅黑" panose="020B0503020204020204" charset="-122"/>
              </a:rPr>
              <a:t>Buddy 工作流</a:t>
            </a:r>
            <a:endParaRPr sz="1200" b="0">
              <a:solidFill>
                <a:srgbClr val="5A6B7B"/>
              </a:solidFill>
              <a:latin typeface="微软雅黑" panose="020B0503020204020204" charset="-122"/>
              <a:ea typeface="微软雅黑" panose="020B0503020204020204" charset="-122"/>
            </a:endParaRPr>
          </a:p>
        </p:txBody>
      </p:sp>
      <p:graphicFrame>
        <p:nvGraphicFramePr>
          <p:cNvPr id="10" name="图表 9" descr="7b0a202020202263686172745265734964223a202234363937323636220a7d0a"/>
          <p:cNvGraphicFramePr/>
          <p:nvPr/>
        </p:nvGraphicFramePr>
        <p:xfrm>
          <a:off x="6550660" y="272415"/>
          <a:ext cx="4093845" cy="290957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0052CC">
              <a:alpha val="3000"/>
            </a:srgbClr>
          </a:solidFill>
          <a:ln cap="flat" cmpd="sng">
            <a:solidFill>
              <a:srgbClr val="0048B3">
                <a:alpha val="3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635000" y="5334000"/>
            <a:ext cx="1905000" cy="1905000"/>
          </a:xfrm>
          <a:prstGeom prst="ellipse">
            <a:avLst/>
          </a:prstGeom>
          <a:solidFill>
            <a:srgbClr val="0052CC">
              <a:alpha val="3000"/>
            </a:srgbClr>
          </a:solidFill>
          <a:ln cap="flat" cmpd="sng">
            <a:solidFill>
              <a:srgbClr val="0048B3">
                <a:alpha val="3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14351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核心产出与亮点</a:t>
            </a:r>
            <a:endParaRPr lang="en-US" sz="1100"/>
          </a:p>
        </p:txBody>
      </p:sp>
      <p:sp>
        <p:nvSpPr>
          <p:cNvPr id="26" name="AutoShape 5"/>
          <p:cNvSpPr/>
          <p:nvPr/>
        </p:nvSpPr>
        <p:spPr>
          <a:xfrm>
            <a:off x="762000" y="925195"/>
            <a:ext cx="10668000" cy="508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altLang="zh-CN"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3.1 </a:t>
            </a:r>
            <a:r>
              <a:rPr lang="zh-CN" alt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跨角色沟通</a:t>
            </a:r>
            <a:endParaRPr lang="zh-CN" alt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18" name="组合 17"/>
          <p:cNvGrpSpPr/>
          <p:nvPr/>
        </p:nvGrpSpPr>
        <p:grpSpPr>
          <a:xfrm>
            <a:off x="762000" y="1490345"/>
            <a:ext cx="5270500" cy="2225040"/>
            <a:chOff x="1200" y="3313"/>
            <a:chExt cx="8300" cy="3504"/>
          </a:xfrm>
        </p:grpSpPr>
        <p:sp>
          <p:nvSpPr>
            <p:cNvPr id="5" name="AutoShape 5"/>
            <p:cNvSpPr/>
            <p:nvPr>
              <p:custDataLst>
                <p:tags r:id="rId2"/>
              </p:custDataLst>
            </p:nvPr>
          </p:nvSpPr>
          <p:spPr>
            <a:xfrm>
              <a:off x="1200" y="3313"/>
              <a:ext cx="8300" cy="3505"/>
            </a:xfrm>
            <a:prstGeom prst="roundRect">
              <a:avLst>
                <a:gd name="adj" fmla="val 0"/>
              </a:avLst>
            </a:prstGeom>
            <a:solidFill>
              <a:srgbClr val="0052CC">
                <a:alpha val="6000"/>
              </a:srgbClr>
            </a:solidFill>
            <a:ln cap="flat" cmpd="sng">
              <a:solidFill>
                <a:srgbClr val="0048B3">
                  <a:alpha val="6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2400" y="3713"/>
              <a:ext cx="6800" cy="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跨角色沟通是我在这段实习里最被反复锻炼的能力</a:t>
              </a:r>
              <a:endPar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custDataLst>
                <p:tags r:id="rId4"/>
              </p:custDataLst>
            </p:nvPr>
          </p:nvCxnSpPr>
          <p:spPr>
            <a:xfrm rot="21590833">
              <a:off x="1600" y="4603"/>
              <a:ext cx="7500" cy="20"/>
            </a:xfrm>
            <a:prstGeom prst="straightConnector1">
              <a:avLst/>
            </a:prstGeom>
            <a:solidFill>
              <a:srgbClr val="DEE0E3">
                <a:alpha val="100000"/>
              </a:srgbClr>
            </a:solidFill>
            <a:ln w="12700" cap="flat" cmpd="sng">
              <a:solidFill>
                <a:srgbClr val="0052CC">
                  <a:alpha val="15000"/>
                </a:srgbClr>
              </a:solidFill>
              <a:prstDash val="solid"/>
              <a:round/>
              <a:headEnd type="none" w="med" len="med"/>
              <a:tailEnd type="none" w="med" len="med"/>
            </a:ln>
          </p:spPr>
        </p:cxnSp>
        <p:sp>
          <p:nvSpPr>
            <p:cNvPr id="9" name="AutoShape 9"/>
            <p:cNvSpPr/>
            <p:nvPr>
              <p:custDataLst>
                <p:tags r:id="rId5"/>
              </p:custDataLst>
            </p:nvPr>
          </p:nvSpPr>
          <p:spPr>
            <a:xfrm>
              <a:off x="1600" y="4696"/>
              <a:ext cx="7500" cy="2008"/>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企业内部</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：与工程师（企业微信）、架构师、带教老师、采购员多方对齐信息；</a:t>
              </a:r>
              <a:endPar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跨公司</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 5 家供应商分别交流；</a:t>
              </a:r>
              <a:endPar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跨上下游</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观察）与行政、业务、采购三方协调预算边界。</a:t>
              </a:r>
              <a:endPar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Picture 11"/>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00" y="3730"/>
              <a:ext cx="640" cy="640"/>
            </a:xfrm>
            <a:prstGeom prst="rect">
              <a:avLst/>
            </a:prstGeom>
          </p:spPr>
        </p:pic>
      </p:grpSp>
      <p:grpSp>
        <p:nvGrpSpPr>
          <p:cNvPr id="23" name="组合 22"/>
          <p:cNvGrpSpPr/>
          <p:nvPr/>
        </p:nvGrpSpPr>
        <p:grpSpPr>
          <a:xfrm>
            <a:off x="6350000" y="925195"/>
            <a:ext cx="5270500" cy="3646170"/>
            <a:chOff x="10000" y="2347"/>
            <a:chExt cx="8300" cy="5742"/>
          </a:xfrm>
        </p:grpSpPr>
        <p:sp>
          <p:nvSpPr>
            <p:cNvPr id="10" name="AutoShape 5"/>
            <p:cNvSpPr/>
            <p:nvPr>
              <p:custDataLst>
                <p:tags r:id="rId9"/>
              </p:custDataLst>
            </p:nvPr>
          </p:nvSpPr>
          <p:spPr>
            <a:xfrm>
              <a:off x="10000" y="2347"/>
              <a:ext cx="8300" cy="5742"/>
            </a:xfrm>
            <a:prstGeom prst="roundRect">
              <a:avLst>
                <a:gd name="adj" fmla="val 0"/>
              </a:avLst>
            </a:prstGeom>
            <a:solidFill>
              <a:srgbClr val="0052CC">
                <a:alpha val="6000"/>
              </a:srgbClr>
            </a:solidFill>
            <a:ln cap="flat" cmpd="sng">
              <a:solidFill>
                <a:srgbClr val="0048B3">
                  <a:alpha val="6000"/>
                </a:srgbClr>
              </a:solidFill>
              <a:prstDash val="solid"/>
              <a:round/>
            </a:ln>
          </p:spPr>
          <p:txBody>
            <a:bodyPr vert="horz" wrap="square" lIns="63500" tIns="63500" rIns="63500" bIns="63500" rtlCol="0" anchor="ctr"/>
            <a:lstStyle/>
            <a:p>
              <a:pPr algn="ctr">
                <a:defRPr/>
              </a:pPr>
            </a:p>
          </p:txBody>
        </p:sp>
        <p:sp>
          <p:nvSpPr>
            <p:cNvPr id="12" name="AutoShape 7"/>
            <p:cNvSpPr/>
            <p:nvPr>
              <p:custDataLst>
                <p:tags r:id="rId10"/>
              </p:custDataLst>
            </p:nvPr>
          </p:nvSpPr>
          <p:spPr>
            <a:xfrm>
              <a:off x="11200" y="2747"/>
              <a:ext cx="6800" cy="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我学到的沟通要点</a:t>
              </a:r>
              <a:endPar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8"/>
            <p:cNvCxnSpPr/>
            <p:nvPr>
              <p:custDataLst>
                <p:tags r:id="rId11"/>
              </p:custDataLst>
            </p:nvPr>
          </p:nvCxnSpPr>
          <p:spPr>
            <a:xfrm rot="21590833">
              <a:off x="10400" y="3637"/>
              <a:ext cx="7500" cy="20"/>
            </a:xfrm>
            <a:prstGeom prst="straightConnector1">
              <a:avLst/>
            </a:prstGeom>
            <a:solidFill>
              <a:srgbClr val="DEE0E3">
                <a:alpha val="100000"/>
              </a:srgbClr>
            </a:solidFill>
            <a:ln w="12700" cap="flat" cmpd="sng">
              <a:solidFill>
                <a:srgbClr val="0052CC">
                  <a:alpha val="15000"/>
                </a:srgbClr>
              </a:solidFill>
              <a:prstDash val="solid"/>
              <a:round/>
              <a:headEnd type="none" w="med" len="med"/>
              <a:tailEnd type="none" w="med" len="med"/>
            </a:ln>
          </p:spPr>
        </p:cxnSp>
        <p:sp>
          <p:nvSpPr>
            <p:cNvPr id="14" name="AutoShape 9"/>
            <p:cNvSpPr/>
            <p:nvPr>
              <p:custDataLst>
                <p:tags r:id="rId12"/>
              </p:custDataLst>
            </p:nvPr>
          </p:nvSpPr>
          <p:spPr>
            <a:xfrm>
              <a:off x="10400" y="3847"/>
              <a:ext cx="7500" cy="381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沟通前明确自己的需求、希望对方做什么、什么是前提条件、痛点是什么，以保持双方信息一致；</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在要求对方作出决策、承诺或改变之前，给出双方都认可的理由；</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执行留痕——必要时点对点私聊，必要时线下到工位提醒；</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4. 沟通中少解释、多听——尤其在跨公司场合，先让对方说完，再聚焦问题。</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5" name="Picture 11"/>
            <p:cNvPicPr>
              <a:picLocks noChangeAspect="1"/>
            </p:cNvPicPr>
            <p:nvPr>
              <p:custDataLst>
                <p:tags r:id="rId13"/>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00" y="2764"/>
              <a:ext cx="640" cy="640"/>
            </a:xfrm>
            <a:prstGeom prst="rect">
              <a:avLst/>
            </a:prstGeom>
          </p:spPr>
        </p:pic>
      </p:grpSp>
      <p:pic>
        <p:nvPicPr>
          <p:cNvPr id="21" name="图片 20"/>
          <p:cNvPicPr>
            <a:picLocks noChangeAspect="1"/>
          </p:cNvPicPr>
          <p:nvPr/>
        </p:nvPicPr>
        <p:blipFill>
          <a:blip r:embed="rId14"/>
          <a:stretch>
            <a:fillRect/>
          </a:stretch>
        </p:blipFill>
        <p:spPr>
          <a:xfrm>
            <a:off x="10179050" y="143510"/>
            <a:ext cx="1800225" cy="603885"/>
          </a:xfrm>
          <a:prstGeom prst="rect">
            <a:avLst/>
          </a:prstGeom>
        </p:spPr>
      </p:pic>
      <p:graphicFrame>
        <p:nvGraphicFramePr>
          <p:cNvPr id="19" name="图表 18" descr="7b0a202020202263686172745265734964223a20223230343735353035220a7d0a"/>
          <p:cNvGraphicFramePr/>
          <p:nvPr/>
        </p:nvGraphicFramePr>
        <p:xfrm>
          <a:off x="762000" y="3642995"/>
          <a:ext cx="5426710" cy="3154680"/>
        </p:xfrm>
        <a:graphic>
          <a:graphicData uri="http://schemas.openxmlformats.org/drawingml/2006/chart">
            <c:chart xmlns:c="http://schemas.openxmlformats.org/drawingml/2006/chart" xmlns:r="http://schemas.openxmlformats.org/officeDocument/2006/relationships" r:id="rId1"/>
          </a:graphicData>
        </a:graphic>
      </p:graphicFrame>
      <p:pic>
        <p:nvPicPr>
          <p:cNvPr id="20" name="图片 19"/>
          <p:cNvPicPr>
            <a:picLocks noChangeAspect="1"/>
          </p:cNvPicPr>
          <p:nvPr/>
        </p:nvPicPr>
        <p:blipFill>
          <a:blip r:embed="rId15"/>
          <a:stretch>
            <a:fillRect/>
          </a:stretch>
        </p:blipFill>
        <p:spPr>
          <a:xfrm>
            <a:off x="6350000" y="4614545"/>
            <a:ext cx="3192780" cy="1012825"/>
          </a:xfrm>
          <a:prstGeom prst="rect">
            <a:avLst/>
          </a:prstGeom>
        </p:spPr>
      </p:pic>
      <p:pic>
        <p:nvPicPr>
          <p:cNvPr id="24" name="F35B0BEE-F18A-47BB-8FCB-E00DA2F2635D-1" descr="C:/Users/lianghaiqiao/AppData/Local/Temp/wpp.uPLgOEwpp"/>
          <p:cNvPicPr>
            <a:picLocks noChangeAspect="1"/>
          </p:cNvPicPr>
          <p:nvPr/>
        </p:nvPicPr>
        <p:blipFill>
          <a:blip r:embed="rId16"/>
          <a:stretch>
            <a:fillRect/>
          </a:stretch>
        </p:blipFill>
        <p:spPr>
          <a:xfrm>
            <a:off x="6350000" y="5670868"/>
            <a:ext cx="5391150" cy="748665"/>
          </a:xfrm>
          <a:prstGeom prst="rect">
            <a:avLst/>
          </a:prstGeom>
        </p:spPr>
      </p:pic>
      <p:sp>
        <p:nvSpPr>
          <p:cNvPr id="25" name="文本框 24"/>
          <p:cNvSpPr txBox="1"/>
          <p:nvPr/>
        </p:nvSpPr>
        <p:spPr>
          <a:xfrm>
            <a:off x="6032500" y="6463665"/>
            <a:ext cx="6096000" cy="306705"/>
          </a:xfrm>
          <a:prstGeom prst="rect">
            <a:avLst/>
          </a:prstGeom>
          <a:noFill/>
        </p:spPr>
        <p:txBody>
          <a:bodyPr wrap="square" rtlCol="0" anchor="t">
            <a:spAutoFit/>
          </a:bodyPr>
          <a:p>
            <a:pPr algn="ctr"/>
            <a:r>
              <a:rPr lang="zh-CN" altLang="en-US" b="1">
                <a:solidFill>
                  <a:srgbClr val="5A6B7B"/>
                </a:solidFill>
                <a:latin typeface="微软雅黑" panose="020B0503020204020204" charset="-122"/>
                <a:ea typeface="微软雅黑" panose="020B0503020204020204" charset="-122"/>
                <a:sym typeface="+mn-ea"/>
              </a:rPr>
              <a:t>交流沟通过程（供应商</a:t>
            </a:r>
            <a:r>
              <a:rPr lang="en-US" altLang="zh-CN" b="1">
                <a:solidFill>
                  <a:srgbClr val="5A6B7B"/>
                </a:solidFill>
                <a:latin typeface="微软雅黑" panose="020B0503020204020204" charset="-122"/>
                <a:ea typeface="微软雅黑" panose="020B0503020204020204" charset="-122"/>
                <a:sym typeface="+mn-ea"/>
              </a:rPr>
              <a:t>&amp;</a:t>
            </a:r>
            <a:r>
              <a:rPr lang="zh-CN" altLang="en-US" b="1">
                <a:solidFill>
                  <a:srgbClr val="5A6B7B"/>
                </a:solidFill>
                <a:latin typeface="微软雅黑" panose="020B0503020204020204" charset="-122"/>
                <a:ea typeface="微软雅黑" panose="020B0503020204020204" charset="-122"/>
                <a:sym typeface="+mn-ea"/>
              </a:rPr>
              <a:t>项目工程师）</a:t>
            </a:r>
            <a:endParaRPr lang="zh-CN" altLang="en-US" b="1">
              <a:solidFill>
                <a:srgbClr val="5A6B7B"/>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0052CC">
              <a:alpha val="3000"/>
            </a:srgbClr>
          </a:solidFill>
          <a:ln cap="flat" cmpd="sng">
            <a:solidFill>
              <a:srgbClr val="0048B3">
                <a:alpha val="3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635000" y="5334000"/>
            <a:ext cx="1905000" cy="1905000"/>
          </a:xfrm>
          <a:prstGeom prst="ellipse">
            <a:avLst/>
          </a:prstGeom>
          <a:solidFill>
            <a:srgbClr val="0052CC">
              <a:alpha val="3000"/>
            </a:srgbClr>
          </a:solidFill>
          <a:ln cap="flat" cmpd="sng">
            <a:solidFill>
              <a:srgbClr val="0048B3">
                <a:alpha val="3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核心产出与亮点</a:t>
            </a:r>
            <a:endParaRPr lang="en-US" sz="1100"/>
          </a:p>
        </p:txBody>
      </p:sp>
      <p:sp>
        <p:nvSpPr>
          <p:cNvPr id="5" name="AutoShape 5"/>
          <p:cNvSpPr/>
          <p:nvPr>
            <p:custDataLst>
              <p:tags r:id="rId1"/>
            </p:custDataLst>
          </p:nvPr>
        </p:nvSpPr>
        <p:spPr>
          <a:xfrm>
            <a:off x="762000" y="2103755"/>
            <a:ext cx="5270500" cy="4470400"/>
          </a:xfrm>
          <a:prstGeom prst="roundRect">
            <a:avLst>
              <a:gd name="adj" fmla="val 0"/>
            </a:avLst>
          </a:prstGeom>
          <a:solidFill>
            <a:srgbClr val="0052CC">
              <a:alpha val="6000"/>
            </a:srgbClr>
          </a:solidFill>
          <a:ln cap="flat" cmpd="sng">
            <a:solidFill>
              <a:srgbClr val="0048B3">
                <a:alpha val="6000"/>
              </a:srgbClr>
            </a:solidFill>
            <a:prstDash val="solid"/>
            <a:round/>
          </a:ln>
        </p:spPr>
        <p:txBody>
          <a:bodyPr vert="horz" wrap="square" lIns="63500" tIns="63500" rIns="63500" bIns="63500" rtlCol="0" anchor="ctr"/>
          <a:lstStyle/>
          <a:p>
            <a:pPr algn="ctr">
              <a:defRPr/>
            </a:pPr>
          </a:p>
        </p:txBody>
      </p:sp>
      <p:sp>
        <p:nvSpPr>
          <p:cNvPr id="9" name="AutoShape 9"/>
          <p:cNvSpPr/>
          <p:nvPr>
            <p:custDataLst>
              <p:tags r:id="rId2"/>
            </p:custDataLst>
          </p:nvPr>
        </p:nvSpPr>
        <p:spPr>
          <a:xfrm>
            <a:off x="1016000" y="2254885"/>
            <a:ext cx="4762500" cy="431927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zh-CN" altLang="en-US" sz="1500" b="1" i="0" u="none" strike="noStrike">
                <a:solidFill>
                  <a:srgbClr val="1F2937"/>
                </a:solidFill>
                <a:highlight>
                  <a:srgbClr val="00FFFF"/>
                </a:highlight>
                <a:latin typeface="Noto Sans SC" panose="020B0200000000000000" charset="-122"/>
                <a:ea typeface="Noto Sans SC" panose="020B0200000000000000" charset="-122"/>
                <a:cs typeface="Noto Sans SC" panose="020B0200000000000000" charset="-122"/>
                <a:sym typeface="Noto Sans SC" panose="020B0200000000000000" charset="-122"/>
              </a:rPr>
              <a:t> 流程管理</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是大企业工作的核心——以前在学校习惯一个人搞定所有事，这里讲究</a:t>
            </a: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先有流程，再在系统落地</a:t>
            </a: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，流程是制度也是证据。</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社会化分工是大企业运转的方式——一个复杂系统背后有数十个角色：项目经理、产品经理、架构师、技术经理、采购员、行政。每个角色只看到自己负责的一角，实习生要做的，是在一段时间内把自己那一角做扎实，并且理解周围的人为什么需要自己提供怎样的产出。</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国企背景下的供应商管理是一条专业体系——从《采购方案 → 技术规格书（内/外）→ 招标文件 → 报价 → 谈判 → 合同 → 订单 → 验收 → 结算》的链路，每一步都有合规要求。</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4. BOM </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系统的复杂度极高——带教老师曾说</a:t>
            </a: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至少需要 2-3 个月才能基本了解整体概况，3 个月后才有能力参与到具体任务</a:t>
            </a: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5"/>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altLang="zh-CN"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3.3 </a:t>
            </a:r>
            <a:r>
              <a:rPr lang="zh-CN" alt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对公司项目与流程架构的理解</a:t>
            </a:r>
            <a:endParaRPr lang="zh-CN" alt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7" name="图片 16"/>
          <p:cNvPicPr>
            <a:picLocks noChangeAspect="1"/>
          </p:cNvPicPr>
          <p:nvPr/>
        </p:nvPicPr>
        <p:blipFill>
          <a:blip r:embed="rId3"/>
          <a:stretch>
            <a:fillRect/>
          </a:stretch>
        </p:blipFill>
        <p:spPr>
          <a:xfrm>
            <a:off x="10179050" y="143510"/>
            <a:ext cx="1800225" cy="603885"/>
          </a:xfrm>
          <a:prstGeom prst="rect">
            <a:avLst/>
          </a:prstGeom>
        </p:spPr>
      </p:pic>
      <p:pic>
        <p:nvPicPr>
          <p:cNvPr id="13" name="Picture 12" descr="img_proc.png"/>
          <p:cNvPicPr>
            <a:picLocks noChangeAspect="1"/>
          </p:cNvPicPr>
          <p:nvPr/>
        </p:nvPicPr>
        <p:blipFill>
          <a:blip r:embed="rId4"/>
          <a:stretch>
            <a:fillRect/>
          </a:stretch>
        </p:blipFill>
        <p:spPr>
          <a:xfrm>
            <a:off x="6199505" y="974090"/>
            <a:ext cx="5883275" cy="2294255"/>
          </a:xfrm>
          <a:prstGeom prst="rect">
            <a:avLst/>
          </a:prstGeom>
        </p:spPr>
      </p:pic>
      <p:sp>
        <p:nvSpPr>
          <p:cNvPr id="25" name="文本框 24"/>
          <p:cNvSpPr txBox="1"/>
          <p:nvPr/>
        </p:nvSpPr>
        <p:spPr>
          <a:xfrm>
            <a:off x="6032500" y="3268345"/>
            <a:ext cx="6096000" cy="306705"/>
          </a:xfrm>
          <a:prstGeom prst="rect">
            <a:avLst/>
          </a:prstGeom>
          <a:noFill/>
        </p:spPr>
        <p:txBody>
          <a:bodyPr wrap="square" rtlCol="0" anchor="t">
            <a:spAutoFit/>
          </a:bodyPr>
          <a:p>
            <a:pPr algn="ctr"/>
            <a:r>
              <a:rPr lang="zh-CN" altLang="en-US" b="1">
                <a:solidFill>
                  <a:srgbClr val="0052CC"/>
                </a:solidFill>
                <a:latin typeface="Noto Sans SC" panose="020B0200000000000000" charset="-122"/>
                <a:ea typeface="Noto Sans SC" panose="020B0200000000000000" charset="-122"/>
                <a:cs typeface="Noto Sans SC" panose="020B0200000000000000" charset="-122"/>
                <a:sym typeface="+mn-ea"/>
              </a:rPr>
              <a:t>工时系统设计过程中对流程逻辑的梳理</a:t>
            </a:r>
            <a:endParaRPr lang="zh-CN" altLang="en-US" b="1">
              <a:solidFill>
                <a:srgbClr val="0052CC"/>
              </a:solidFill>
              <a:latin typeface="Noto Sans SC" panose="020B0200000000000000" charset="-122"/>
              <a:ea typeface="Noto Sans SC" panose="020B0200000000000000" charset="-122"/>
              <a:cs typeface="Noto Sans SC" panose="020B0200000000000000" charset="-122"/>
              <a:sym typeface="+mn-ea"/>
            </a:endParaRPr>
          </a:p>
        </p:txBody>
      </p:sp>
      <p:pic>
        <p:nvPicPr>
          <p:cNvPr id="6" name="图片 5"/>
          <p:cNvPicPr/>
          <p:nvPr/>
        </p:nvPicPr>
        <p:blipFill>
          <a:blip r:embed="rId5"/>
        </p:blipFill>
        <p:spPr>
          <a:xfrm>
            <a:off x="6548755" y="3673475"/>
            <a:ext cx="4881245" cy="2364105"/>
          </a:xfrm>
          <a:prstGeom prst="rect">
            <a:avLst/>
          </a:prstGeom>
        </p:spPr>
      </p:pic>
      <p:sp>
        <p:nvSpPr>
          <p:cNvPr id="7" name="文本框 6"/>
          <p:cNvSpPr txBox="1"/>
          <p:nvPr/>
        </p:nvSpPr>
        <p:spPr>
          <a:xfrm>
            <a:off x="6199505" y="6136005"/>
            <a:ext cx="6096000" cy="306705"/>
          </a:xfrm>
          <a:prstGeom prst="rect">
            <a:avLst/>
          </a:prstGeom>
          <a:noFill/>
        </p:spPr>
        <p:txBody>
          <a:bodyPr wrap="square" rtlCol="0" anchor="t">
            <a:spAutoFit/>
          </a:bodyPr>
          <a:p>
            <a:pPr algn="ctr"/>
            <a:r>
              <a:rPr lang="zh-CN" altLang="en-US" b="1">
                <a:solidFill>
                  <a:srgbClr val="0052CC"/>
                </a:solidFill>
                <a:latin typeface="Noto Sans SC" panose="020B0200000000000000" charset="-122"/>
                <a:ea typeface="Noto Sans SC" panose="020B0200000000000000" charset="-122"/>
                <a:cs typeface="Noto Sans SC" panose="020B0200000000000000" charset="-122"/>
                <a:sym typeface="+mn-ea"/>
              </a:rPr>
              <a:t>需求研发协同</a:t>
            </a:r>
            <a:r>
              <a:rPr lang="zh-CN" altLang="en-US" b="1">
                <a:solidFill>
                  <a:srgbClr val="0052CC"/>
                </a:solidFill>
                <a:latin typeface="Noto Sans SC" panose="020B0200000000000000" charset="-122"/>
                <a:ea typeface="Noto Sans SC" panose="020B0200000000000000" charset="-122"/>
                <a:cs typeface="Noto Sans SC" panose="020B0200000000000000" charset="-122"/>
                <a:sym typeface="+mn-ea"/>
              </a:rPr>
              <a:t>流程</a:t>
            </a:r>
            <a:endParaRPr lang="zh-CN" altLang="en-US" b="1">
              <a:solidFill>
                <a:srgbClr val="0052CC"/>
              </a:solidFill>
              <a:latin typeface="Noto Sans SC" panose="020B0200000000000000" charset="-122"/>
              <a:ea typeface="Noto Sans SC" panose="020B0200000000000000" charset="-122"/>
              <a:cs typeface="Noto Sans SC" panose="020B02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0052CC">
              <a:alpha val="3000"/>
            </a:srgbClr>
          </a:solidFill>
          <a:ln cap="flat" cmpd="sng">
            <a:solidFill>
              <a:srgbClr val="0048B3">
                <a:alpha val="3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635000" y="5334000"/>
            <a:ext cx="1905000" cy="1905000"/>
          </a:xfrm>
          <a:prstGeom prst="ellipse">
            <a:avLst/>
          </a:prstGeom>
          <a:solidFill>
            <a:srgbClr val="0052CC">
              <a:alpha val="3000"/>
            </a:srgbClr>
          </a:solidFill>
          <a:ln cap="flat" cmpd="sng">
            <a:solidFill>
              <a:srgbClr val="0048B3">
                <a:alpha val="3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核心产出与亮点</a:t>
            </a:r>
            <a:endParaRPr lang="en-US" sz="1100"/>
          </a:p>
        </p:txBody>
      </p:sp>
      <p:grpSp>
        <p:nvGrpSpPr>
          <p:cNvPr id="8" name="组合 7"/>
          <p:cNvGrpSpPr/>
          <p:nvPr/>
        </p:nvGrpSpPr>
        <p:grpSpPr>
          <a:xfrm>
            <a:off x="6708775" y="1851660"/>
            <a:ext cx="5270500" cy="2876550"/>
            <a:chOff x="1200" y="3331"/>
            <a:chExt cx="8300" cy="4530"/>
          </a:xfrm>
        </p:grpSpPr>
        <p:sp>
          <p:nvSpPr>
            <p:cNvPr id="5" name="AutoShape 5"/>
            <p:cNvSpPr/>
            <p:nvPr>
              <p:custDataLst>
                <p:tags r:id="rId1"/>
              </p:custDataLst>
            </p:nvPr>
          </p:nvSpPr>
          <p:spPr>
            <a:xfrm>
              <a:off x="1200" y="3331"/>
              <a:ext cx="8300" cy="4530"/>
            </a:xfrm>
            <a:prstGeom prst="roundRect">
              <a:avLst>
                <a:gd name="adj" fmla="val 0"/>
              </a:avLst>
            </a:prstGeom>
            <a:solidFill>
              <a:srgbClr val="0052CC">
                <a:alpha val="6000"/>
              </a:srgbClr>
            </a:solidFill>
            <a:ln cap="flat" cmpd="sng">
              <a:solidFill>
                <a:srgbClr val="0048B3">
                  <a:alpha val="6000"/>
                </a:srgbClr>
              </a:solidFill>
              <a:prstDash val="solid"/>
              <a:round/>
            </a:ln>
          </p:spPr>
          <p:txBody>
            <a:bodyPr vert="horz" wrap="square" lIns="63500" tIns="63500" rIns="63500" bIns="63500" rtlCol="0" anchor="ctr"/>
            <a:lstStyle/>
            <a:p>
              <a:pPr algn="ctr">
                <a:defRPr/>
              </a:pPr>
            </a:p>
          </p:txBody>
        </p:sp>
        <p:sp>
          <p:nvSpPr>
            <p:cNvPr id="9" name="AutoShape 9"/>
            <p:cNvSpPr/>
            <p:nvPr>
              <p:custDataLst>
                <p:tags r:id="rId2"/>
              </p:custDataLst>
            </p:nvPr>
          </p:nvSpPr>
          <p:spPr>
            <a:xfrm>
              <a:off x="1600" y="3551"/>
              <a:ext cx="7500" cy="4084"/>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目标第一位——任何任务被布置下来，先问"目标是什么、什么时候要"。这两条是项目工作的起手式。</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流程意识——做任何事都要有节奏、有节奏感。先 1，再 </a:t>
              </a: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N，N </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是可重复、可复用、可改进的标准动作。</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沟通是第一位——大公司里 80% 的时间都在沟通；越大的公司，沟通越重要。</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4. 学习是基本盘——专业不对口是常态，学习能力是核心。在会议中</a:t>
              </a: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少解释、多听</a:t>
              </a: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，在任务里</a:t>
              </a: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一次不行两次、两次不行三次</a:t>
              </a: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，这种韧性比天赋更重要。</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sp>
        <p:nvSpPr>
          <p:cNvPr id="26" name="AutoShape 5"/>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altLang="zh-CN"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3.4 </a:t>
            </a:r>
            <a:r>
              <a:rPr lang="zh-CN" alt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向 </a:t>
            </a:r>
            <a:r>
              <a:rPr lang="en-US" altLang="zh-CN"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PM / </a:t>
            </a:r>
            <a:r>
              <a:rPr lang="zh-CN" alt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团队学思维</a:t>
            </a:r>
            <a:endParaRPr lang="zh-CN" altLang="en-US" sz="2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7" name="图片 16"/>
          <p:cNvPicPr>
            <a:picLocks noChangeAspect="1"/>
          </p:cNvPicPr>
          <p:nvPr/>
        </p:nvPicPr>
        <p:blipFill>
          <a:blip r:embed="rId3"/>
          <a:stretch>
            <a:fillRect/>
          </a:stretch>
        </p:blipFill>
        <p:spPr>
          <a:xfrm>
            <a:off x="10179050" y="143510"/>
            <a:ext cx="1800225" cy="603885"/>
          </a:xfrm>
          <a:prstGeom prst="rect">
            <a:avLst/>
          </a:prstGeom>
        </p:spPr>
      </p:pic>
      <p:pic>
        <p:nvPicPr>
          <p:cNvPr id="10" name="图片 9" descr="大箭头方向时间轴2"/>
          <p:cNvPicPr>
            <a:picLocks noChangeAspect="1"/>
          </p:cNvPicPr>
          <p:nvPr/>
        </p:nvPicPr>
        <p:blipFill>
          <a:blip r:embed="rId4"/>
          <a:stretch>
            <a:fillRect/>
          </a:stretch>
        </p:blipFill>
        <p:spPr>
          <a:xfrm>
            <a:off x="128905" y="1646555"/>
            <a:ext cx="6697980" cy="465963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250371"/>
            <a:ext cx="12199621" cy="2357257"/>
          </a:xfrm>
          <a:prstGeom prst="rect">
            <a:avLst/>
          </a:prstGeom>
          <a:gradFill flip="none" rotWithShape="1">
            <a:gsLst>
              <a:gs pos="86000">
                <a:srgbClr val="80A9E6">
                  <a:alpha val="100000"/>
                </a:srgbClr>
              </a:gs>
              <a:gs pos="0">
                <a:srgbClr val="0052CC">
                  <a:alpha val="100000"/>
                </a:srgbClr>
              </a:gs>
              <a:gs pos="78000">
                <a:srgbClr val="00B0F0"/>
              </a:gs>
              <a:gs pos="100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lnSpc>
                <a:spcPct val="125000"/>
              </a:lnSpc>
              <a:defRPr/>
            </a:pPr>
            <a:r>
              <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sym typeface="Noto Sans SC" panose="020B0200000000000000" charset="-122"/>
              </a:rPr>
              <a:t>成长与收获</a:t>
            </a:r>
            <a:endPar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7" name="Picture 7"/>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2425700" y="2987675"/>
            <a:ext cx="659130" cy="7181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635000"/>
            <a:ext cx="2540000" cy="254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成长与收获</a:t>
            </a:r>
            <a:endParaRPr lang="en-US" sz="1100"/>
          </a:p>
        </p:txBody>
      </p:sp>
      <p:sp>
        <p:nvSpPr>
          <p:cNvPr id="5" name="AutoShape 5"/>
          <p:cNvSpPr/>
          <p:nvPr>
            <p:custDataLst>
              <p:tags r:id="rId1"/>
            </p:custDataLst>
          </p:nvPr>
        </p:nvSpPr>
        <p:spPr>
          <a:xfrm>
            <a:off x="762000" y="1651000"/>
            <a:ext cx="3556000" cy="4318000"/>
          </a:xfrm>
          <a:prstGeom prst="roundRect">
            <a:avLst>
              <a:gd name="adj" fmla="val 0"/>
            </a:avLst>
          </a:prstGeom>
          <a:solidFill>
            <a:srgbClr val="0052CC">
              <a:alpha val="4000"/>
            </a:srgbClr>
          </a:solidFill>
          <a:ln w="12700" cap="flat" cmpd="sng">
            <a:solidFill>
              <a:srgbClr val="0052CC">
                <a:alpha val="1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1955800"/>
            <a:ext cx="406400" cy="406400"/>
          </a:xfrm>
          <a:prstGeom prst="rect">
            <a:avLst/>
          </a:prstGeom>
        </p:spPr>
      </p:pic>
      <p:sp>
        <p:nvSpPr>
          <p:cNvPr id="7" name="AutoShape 7"/>
          <p:cNvSpPr/>
          <p:nvPr>
            <p:custDataLst>
              <p:tags r:id="rId5"/>
            </p:custDataLst>
          </p:nvPr>
        </p:nvSpPr>
        <p:spPr>
          <a:xfrm>
            <a:off x="1574800" y="19558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 技术视角 ➔ 业务视角</a:t>
            </a:r>
            <a:endParaRPr lang="en-US" sz="1100"/>
          </a:p>
        </p:txBody>
      </p:sp>
      <p:cxnSp>
        <p:nvCxnSpPr>
          <p:cNvPr id="8" name="Connector 8"/>
          <p:cNvCxnSpPr/>
          <p:nvPr>
            <p:custDataLst>
              <p:tags r:id="rId6"/>
            </p:custDataLst>
          </p:nvPr>
        </p:nvCxnSpPr>
        <p:spPr>
          <a:xfrm rot="-14817">
            <a:off x="1066814" y="2597150"/>
            <a:ext cx="2946400" cy="12700"/>
          </a:xfrm>
          <a:prstGeom prst="straightConnector1">
            <a:avLst/>
          </a:prstGeom>
          <a:solidFill>
            <a:srgbClr val="DEE0E3">
              <a:alpha val="100000"/>
            </a:srgbClr>
          </a:solidFill>
          <a:ln w="12700" cap="flat" cmpd="sng">
            <a:solidFill>
              <a:srgbClr val="0052CC">
                <a:alpha val="15000"/>
              </a:srgbClr>
            </a:solidFill>
            <a:prstDash val="solid"/>
            <a:round/>
            <a:headEnd type="none" w="med" len="med"/>
            <a:tailEnd type="none" w="med" len="med"/>
          </a:ln>
        </p:spPr>
      </p:cxnSp>
      <p:sp>
        <p:nvSpPr>
          <p:cNvPr id="9" name="AutoShape 9"/>
          <p:cNvSpPr/>
          <p:nvPr/>
        </p:nvSpPr>
        <p:spPr>
          <a:xfrm>
            <a:off x="1066800" y="2857500"/>
            <a:ext cx="3048000" cy="240665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4 周前，我对"业务"的理解还停留在"流程图上某一节点的名称"。现在我意识到：</a:t>
            </a:r>
            <a:r>
              <a:rPr lang="zh-CN" altLang="en-US" sz="13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a:t>
            </a:r>
            <a:r>
              <a:rPr lang="en-US" sz="13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是为业务服务的"实现手段"，业务是技术存在的"目标"。</a:t>
            </a:r>
            <a:endParaRPr lang="en-US" sz="13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l">
              <a:lnSpc>
                <a:spcPct val="108000"/>
              </a:lnSpc>
              <a:buSzTx/>
              <a:defRPr/>
            </a:pP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具体落地</a:t>
            </a:r>
            <a:r>
              <a:rPr lang="en-US" sz="13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：一份 BOM 调研报告还要对齐调研口径、对齐"现状痛点→立项依据→调研结论"的链路；一份 V6 招标还要对齐"为什么是这一版参数、删/改的取舍是什么"；一份 Teamgo 汇报视频还要对齐"经营层最想看到的是什么"。</a:t>
            </a:r>
            <a:endPar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7"/>
            </p:custDataLst>
          </p:nvPr>
        </p:nvSpPr>
        <p:spPr>
          <a:xfrm>
            <a:off x="4318000" y="1651000"/>
            <a:ext cx="3556000" cy="4318000"/>
          </a:xfrm>
          <a:prstGeom prst="roundRect">
            <a:avLst>
              <a:gd name="adj" fmla="val 0"/>
            </a:avLst>
          </a:prstGeom>
          <a:solidFill>
            <a:srgbClr val="0052CC">
              <a:alpha val="4000"/>
            </a:srgbClr>
          </a:solidFill>
          <a:ln w="12700" cap="flat" cmpd="sng">
            <a:solidFill>
              <a:srgbClr val="0052CC">
                <a:alpha val="1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22800" y="1955800"/>
            <a:ext cx="406400" cy="406400"/>
          </a:xfrm>
          <a:prstGeom prst="rect">
            <a:avLst/>
          </a:prstGeom>
        </p:spPr>
      </p:pic>
      <p:sp>
        <p:nvSpPr>
          <p:cNvPr id="13" name="AutoShape 13"/>
          <p:cNvSpPr/>
          <p:nvPr>
            <p:custDataLst>
              <p:tags r:id="rId11"/>
            </p:custDataLst>
          </p:nvPr>
        </p:nvSpPr>
        <p:spPr>
          <a:xfrm>
            <a:off x="5130800" y="19558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B </a:t>
            </a:r>
            <a:r>
              <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a:t>
            </a: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不确定性 ➔ 平衡</a:t>
            </a:r>
            <a:endParaRPr lang="en-US" sz="1100"/>
          </a:p>
        </p:txBody>
      </p:sp>
      <p:cxnSp>
        <p:nvCxnSpPr>
          <p:cNvPr id="14" name="Connector 14"/>
          <p:cNvCxnSpPr/>
          <p:nvPr>
            <p:custDataLst>
              <p:tags r:id="rId12"/>
            </p:custDataLst>
          </p:nvPr>
        </p:nvCxnSpPr>
        <p:spPr>
          <a:xfrm rot="-14817">
            <a:off x="4622814" y="2597150"/>
            <a:ext cx="2946400" cy="12700"/>
          </a:xfrm>
          <a:prstGeom prst="straightConnector1">
            <a:avLst/>
          </a:prstGeom>
          <a:solidFill>
            <a:srgbClr val="DEE0E3">
              <a:alpha val="100000"/>
            </a:srgbClr>
          </a:solidFill>
          <a:ln w="12700" cap="flat" cmpd="sng">
            <a:solidFill>
              <a:srgbClr val="0052CC">
                <a:alpha val="15000"/>
              </a:srgbClr>
            </a:solidFill>
            <a:prstDash val="solid"/>
            <a:round/>
            <a:headEnd type="none" w="med" len="med"/>
            <a:tailEnd type="none" w="med" len="med"/>
          </a:ln>
        </p:spPr>
      </p:cxnSp>
      <p:sp>
        <p:nvSpPr>
          <p:cNvPr id="15" name="AutoShape 15"/>
          <p:cNvSpPr/>
          <p:nvPr/>
        </p:nvSpPr>
        <p:spPr>
          <a:xfrm>
            <a:off x="4622800" y="2857500"/>
            <a:ext cx="3048000" cy="231457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时间的不确定性</a:t>
            </a:r>
            <a:r>
              <a:rPr lang="zh-CN" alt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X</a:t>
            </a:r>
            <a:r>
              <a:rPr lang="zh-CN" alt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月</a:t>
            </a:r>
            <a:r>
              <a:rPr lang="en-US" altLang="zh-CN"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X</a:t>
            </a:r>
            <a:r>
              <a:rPr lang="zh-CN" alt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日是项目工程师全部切换的节点，这是不能更改的硬约束；</a:t>
            </a:r>
            <a:endParaRPr lang="zh-CN" alt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方案的不确定性</a:t>
            </a:r>
            <a:r>
              <a:rPr lang="zh-CN" alt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——技术方案需要在"完美设计 / 快速上线 / 维护成本"之间做平衡；</a:t>
            </a:r>
            <a:endParaRPr lang="zh-CN" alt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人的不确定性</a:t>
            </a:r>
            <a:r>
              <a:rPr lang="zh-CN" alt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——56 位工程师的工位、时间、操作系统各不相同，需要逐一沟通协调。</a:t>
            </a:r>
            <a:endParaRPr lang="zh-CN" alt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3"/>
            </p:custDataLst>
          </p:nvPr>
        </p:nvSpPr>
        <p:spPr>
          <a:xfrm>
            <a:off x="7874000" y="1651000"/>
            <a:ext cx="3556000" cy="4318000"/>
          </a:xfrm>
          <a:prstGeom prst="roundRect">
            <a:avLst>
              <a:gd name="adj" fmla="val 0"/>
            </a:avLst>
          </a:prstGeom>
          <a:solidFill>
            <a:srgbClr val="0052CC">
              <a:alpha val="4000"/>
            </a:srgbClr>
          </a:solidFill>
          <a:ln w="12700" cap="flat" cmpd="sng">
            <a:solidFill>
              <a:srgbClr val="0052CC">
                <a:alpha val="1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178800" y="1955800"/>
            <a:ext cx="406400" cy="406400"/>
          </a:xfrm>
          <a:prstGeom prst="rect">
            <a:avLst/>
          </a:prstGeom>
        </p:spPr>
      </p:pic>
      <p:sp>
        <p:nvSpPr>
          <p:cNvPr id="19" name="AutoShape 19"/>
          <p:cNvSpPr/>
          <p:nvPr>
            <p:custDataLst>
              <p:tags r:id="rId17"/>
            </p:custDataLst>
          </p:nvPr>
        </p:nvSpPr>
        <p:spPr>
          <a:xfrm>
            <a:off x="8686800" y="19558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C 成本</a:t>
            </a:r>
            <a:r>
              <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意识</a:t>
            </a: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&amp; 职业伦理</a:t>
            </a:r>
            <a:endParaRPr lang="en-US" sz="1100"/>
          </a:p>
        </p:txBody>
      </p:sp>
      <p:cxnSp>
        <p:nvCxnSpPr>
          <p:cNvPr id="20" name="Connector 20"/>
          <p:cNvCxnSpPr/>
          <p:nvPr>
            <p:custDataLst>
              <p:tags r:id="rId18"/>
            </p:custDataLst>
          </p:nvPr>
        </p:nvCxnSpPr>
        <p:spPr>
          <a:xfrm rot="-14817">
            <a:off x="8178814" y="2597150"/>
            <a:ext cx="2946400" cy="12700"/>
          </a:xfrm>
          <a:prstGeom prst="straightConnector1">
            <a:avLst/>
          </a:prstGeom>
          <a:solidFill>
            <a:srgbClr val="DEE0E3">
              <a:alpha val="100000"/>
            </a:srgbClr>
          </a:solidFill>
          <a:ln w="12700" cap="flat" cmpd="sng">
            <a:solidFill>
              <a:srgbClr val="0052CC">
                <a:alpha val="15000"/>
              </a:srgbClr>
            </a:solidFill>
            <a:prstDash val="solid"/>
            <a:round/>
            <a:headEnd type="none" w="med" len="med"/>
            <a:tailEnd type="none" w="med" len="med"/>
          </a:ln>
        </p:spPr>
      </p:cxnSp>
      <p:sp>
        <p:nvSpPr>
          <p:cNvPr id="21" name="AutoShape 21"/>
          <p:cNvSpPr/>
          <p:nvPr/>
        </p:nvSpPr>
        <p:spPr>
          <a:xfrm>
            <a:off x="8178800" y="2857500"/>
            <a:ext cx="3048000" cy="155067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硬件采购：每一份配置都对应着一笔资金；</a:t>
            </a:r>
            <a:endPar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软件开发：每一项功能都对应开发、测试、运维成本；</a:t>
            </a:r>
            <a:endPar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沟通协调：每一次跨部门协作都对应沟通成本。</a:t>
            </a:r>
            <a:endPar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1"/>
          <p:cNvSpPr/>
          <p:nvPr/>
        </p:nvSpPr>
        <p:spPr>
          <a:xfrm>
            <a:off x="8178800" y="4516120"/>
            <a:ext cx="3048000" cy="110045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职业伦理</a:t>
            </a:r>
            <a:r>
              <a:rPr lang="zh-CN" alt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，我从带教老师那里学到了</a:t>
            </a:r>
            <a:r>
              <a:rPr lang="en-US" altLang="zh-CN"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i="0" u="none" strike="noStrike">
                <a:solidFill>
                  <a:srgbClr val="1F2937"/>
                </a:solidFill>
                <a:highlight>
                  <a:srgbClr val="00FFFF"/>
                </a:highlight>
                <a:latin typeface="Noto Sans SC" panose="020B0200000000000000" charset="-122"/>
                <a:ea typeface="Noto Sans SC" panose="020B0200000000000000" charset="-122"/>
                <a:cs typeface="Noto Sans SC" panose="020B0200000000000000" charset="-122"/>
                <a:sym typeface="Noto Sans SC" panose="020B0200000000000000" charset="-122"/>
              </a:rPr>
              <a:t>不要把钱放进自己口袋</a:t>
            </a:r>
            <a:r>
              <a:rPr lang="en-US" altLang="zh-CN" sz="1400" i="0" u="none" strike="noStrike">
                <a:solidFill>
                  <a:srgbClr val="1F2937"/>
                </a:solidFill>
                <a:highlight>
                  <a:srgbClr val="00FFFF"/>
                </a:highlight>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这一句话。它在我心中的分量，比任何一本合规手册都重——技术可以学、流程可以熟，做人的底线不能松。</a:t>
            </a:r>
            <a:endParaRPr lang="zh-CN" alt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5" name="图片 24"/>
          <p:cNvPicPr>
            <a:picLocks noChangeAspect="1"/>
          </p:cNvPicPr>
          <p:nvPr/>
        </p:nvPicPr>
        <p:blipFill>
          <a:blip r:embed="rId19"/>
          <a:stretch>
            <a:fillRect/>
          </a:stretch>
        </p:blipFill>
        <p:spPr>
          <a:xfrm>
            <a:off x="10179050" y="143510"/>
            <a:ext cx="1800225" cy="6038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635000"/>
            <a:ext cx="2540000" cy="254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成长与收获</a:t>
            </a:r>
            <a:endParaRPr lang="en-US" sz="1100"/>
          </a:p>
        </p:txBody>
      </p:sp>
      <p:pic>
        <p:nvPicPr>
          <p:cNvPr id="25" name="图片 24"/>
          <p:cNvPicPr>
            <a:picLocks noChangeAspect="1"/>
          </p:cNvPicPr>
          <p:nvPr/>
        </p:nvPicPr>
        <p:blipFill>
          <a:blip r:embed="rId2"/>
          <a:stretch>
            <a:fillRect/>
          </a:stretch>
        </p:blipFill>
        <p:spPr>
          <a:xfrm>
            <a:off x="10179050" y="143510"/>
            <a:ext cx="1800225" cy="603885"/>
          </a:xfrm>
          <a:prstGeom prst="rect">
            <a:avLst/>
          </a:prstGeom>
        </p:spPr>
      </p:pic>
      <p:graphicFrame>
        <p:nvGraphicFramePr>
          <p:cNvPr id="10" name="图表 9"/>
          <p:cNvGraphicFramePr/>
          <p:nvPr/>
        </p:nvGraphicFramePr>
        <p:xfrm>
          <a:off x="-429260" y="1350010"/>
          <a:ext cx="7267575" cy="4629785"/>
        </p:xfrm>
        <a:graphic>
          <a:graphicData uri="http://schemas.openxmlformats.org/drawingml/2006/chart">
            <c:chart xmlns:c="http://schemas.openxmlformats.org/drawingml/2006/chart" xmlns:r="http://schemas.openxmlformats.org/officeDocument/2006/relationships" r:id="rId1"/>
          </a:graphicData>
        </a:graphic>
      </p:graphicFrame>
      <p:grpSp>
        <p:nvGrpSpPr>
          <p:cNvPr id="11" name="组合 10"/>
          <p:cNvGrpSpPr/>
          <p:nvPr/>
        </p:nvGrpSpPr>
        <p:grpSpPr>
          <a:xfrm>
            <a:off x="5675630" y="747395"/>
            <a:ext cx="5270500" cy="2656840"/>
            <a:chOff x="9100" y="2600"/>
            <a:chExt cx="8300" cy="4184"/>
          </a:xfrm>
        </p:grpSpPr>
        <p:sp>
          <p:nvSpPr>
            <p:cNvPr id="5" name="AutoShape 5"/>
            <p:cNvSpPr/>
            <p:nvPr>
              <p:custDataLst>
                <p:tags r:id="rId3"/>
              </p:custDataLst>
            </p:nvPr>
          </p:nvSpPr>
          <p:spPr>
            <a:xfrm>
              <a:off x="9100" y="2600"/>
              <a:ext cx="8300" cy="4184"/>
            </a:xfrm>
            <a:prstGeom prst="roundRect">
              <a:avLst>
                <a:gd name="adj" fmla="val 0"/>
              </a:avLst>
            </a:prstGeom>
            <a:solidFill>
              <a:srgbClr val="0052CC">
                <a:alpha val="6000"/>
              </a:srgbClr>
            </a:solidFill>
            <a:ln cap="flat" cmpd="sng">
              <a:solidFill>
                <a:srgbClr val="0048B3">
                  <a:alpha val="6000"/>
                </a:srgbClr>
              </a:solidFill>
              <a:prstDash val="solid"/>
              <a:round/>
            </a:ln>
          </p:spPr>
          <p:txBody>
            <a:bodyPr vert="horz" wrap="square" lIns="63500" tIns="63500" rIns="63500" bIns="63500" rtlCol="0" anchor="ctr"/>
            <a:p>
              <a:pPr algn="ctr">
                <a:defRPr/>
              </a:pPr>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00" y="3000"/>
              <a:ext cx="640" cy="640"/>
            </a:xfrm>
            <a:prstGeom prst="rect">
              <a:avLst/>
            </a:prstGeom>
          </p:spPr>
        </p:pic>
        <p:sp>
          <p:nvSpPr>
            <p:cNvPr id="7" name="AutoShape 7"/>
            <p:cNvSpPr/>
            <p:nvPr>
              <p:custDataLst>
                <p:tags r:id="rId7"/>
              </p:custDataLst>
            </p:nvPr>
          </p:nvSpPr>
          <p:spPr>
            <a:xfrm>
              <a:off x="10300" y="3000"/>
              <a:ext cx="6800" cy="6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r>
                <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点</a:t>
              </a:r>
              <a:r>
                <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反思</a:t>
              </a:r>
              <a:endParaRPr lang="zh-CN" alt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custDataLst>
                <p:tags r:id="rId8"/>
              </p:custDataLst>
            </p:nvPr>
          </p:nvCxnSpPr>
          <p:spPr>
            <a:xfrm rot="-9167">
              <a:off x="9500" y="3890"/>
              <a:ext cx="7500" cy="20"/>
            </a:xfrm>
            <a:prstGeom prst="straightConnector1">
              <a:avLst/>
            </a:prstGeom>
            <a:solidFill>
              <a:srgbClr val="DEE0E3">
                <a:alpha val="100000"/>
              </a:srgbClr>
            </a:solidFill>
            <a:ln w="12700" cap="flat" cmpd="sng">
              <a:solidFill>
                <a:srgbClr val="0052CC">
                  <a:alpha val="15000"/>
                </a:srgbClr>
              </a:solidFill>
              <a:prstDash val="solid"/>
              <a:round/>
              <a:headEnd type="none" w="med" len="med"/>
              <a:tailEnd type="none" w="med" len="med"/>
            </a:ln>
          </p:spPr>
        </p:cxnSp>
        <p:sp>
          <p:nvSpPr>
            <p:cNvPr id="9" name="AutoShape 9"/>
            <p:cNvSpPr/>
            <p:nvPr>
              <p:custDataLst>
                <p:tags r:id="rId9"/>
              </p:custDataLst>
            </p:nvPr>
          </p:nvSpPr>
          <p:spPr>
            <a:xfrm>
              <a:off x="9500" y="4100"/>
              <a:ext cx="7500" cy="2573"/>
            </a:xfrm>
            <a:prstGeom prst="rect">
              <a:avLst/>
            </a:prstGeom>
            <a:noFill/>
            <a:ln w="12700" cap="flat" cmpd="sng">
              <a:noFill/>
              <a:prstDash val="solid"/>
              <a:round/>
            </a:ln>
          </p:spPr>
          <p:txBody>
            <a:bodyPr vert="horz" wrap="square" lIns="0" tIns="0" rIns="0" bIns="0" rtlCol="0" anchor="ctr" anchorCtr="0"/>
            <a:p>
              <a:pPr marL="0" indent="0" algn="l">
                <a:lnSpc>
                  <a:spcPct val="117000"/>
                </a:lnSpc>
                <a:defRPr/>
              </a:pPr>
              <a:r>
                <a:rPr lang="en-US" altLang="zh-CN" sz="1600" b="1">
                  <a:solidFill>
                    <a:srgbClr val="1F2937"/>
                  </a:solidFill>
                  <a:latin typeface="Noto Sans SC" panose="020B0200000000000000" charset="-122"/>
                  <a:ea typeface="Noto Sans SC" panose="020B0200000000000000" charset="-122"/>
                  <a:cs typeface="Noto Sans SC" panose="020B0200000000000000" charset="-122"/>
                </a:rPr>
                <a:t>1</a:t>
              </a:r>
              <a:r>
                <a:rPr lang="zh-CN" altLang="en-US" sz="1600" b="1">
                  <a:solidFill>
                    <a:srgbClr val="1F2937"/>
                  </a:solidFill>
                  <a:latin typeface="Noto Sans SC" panose="020B0200000000000000" charset="-122"/>
                  <a:ea typeface="Noto Sans SC" panose="020B0200000000000000" charset="-122"/>
                  <a:cs typeface="Noto Sans SC" panose="020B0200000000000000" charset="-122"/>
                </a:rPr>
                <a:t>，不把作业思维带到项目中</a:t>
              </a:r>
              <a:r>
                <a:rPr lang="en-US">
                  <a:solidFill>
                    <a:srgbClr val="4B5563"/>
                  </a:solidFill>
                  <a:latin typeface="Noto Sans SC" panose="020B0200000000000000" charset="-122"/>
                  <a:ea typeface="Noto Sans SC" panose="020B0200000000000000" charset="-122"/>
                  <a:cs typeface="Noto Sans SC" panose="020B0200000000000000" charset="-122"/>
                </a:rPr>
                <a:t>——</a:t>
              </a:r>
              <a:r>
                <a:rPr lang="en-US">
                  <a:solidFill>
                    <a:srgbClr val="4B5563"/>
                  </a:solidFill>
                  <a:latin typeface="Noto Sans SC" panose="020B0200000000000000" charset="-122"/>
                  <a:ea typeface="Noto Sans SC" panose="020B0200000000000000" charset="-122"/>
                  <a:cs typeface="Noto Sans SC" panose="020B0200000000000000" charset="-122"/>
                  <a:sym typeface="+mn-ea"/>
                </a:rPr>
                <a:t>项目要的是结果，不是「我学到了」。</a:t>
              </a:r>
              <a:endParaRPr lang="en-US">
                <a:solidFill>
                  <a:srgbClr val="4B5563"/>
                </a:solidFill>
                <a:latin typeface="Noto Sans SC" panose="020B0200000000000000" charset="-122"/>
                <a:ea typeface="Noto Sans SC" panose="020B0200000000000000" charset="-122"/>
                <a:cs typeface="Noto Sans SC" panose="020B0200000000000000" charset="-122"/>
                <a:sym typeface="+mn-ea"/>
              </a:endParaRPr>
            </a:p>
            <a:p>
              <a:pPr marL="0" indent="0" algn="l">
                <a:lnSpc>
                  <a:spcPct val="117000"/>
                </a:lnSpc>
                <a:defRPr/>
              </a:pPr>
              <a:r>
                <a:rPr lang="zh-CN" altLang="en-US" sz="1600" b="1">
                  <a:solidFill>
                    <a:srgbClr val="1F2937"/>
                  </a:solidFill>
                  <a:latin typeface="Noto Sans SC" panose="020B0200000000000000" charset="-122"/>
                  <a:ea typeface="Noto Sans SC" panose="020B0200000000000000" charset="-122"/>
                  <a:cs typeface="Noto Sans SC" panose="020B0200000000000000" charset="-122"/>
                  <a:sym typeface="+mn-ea"/>
                </a:rPr>
                <a:t>2，文档和纪要是项目资产</a:t>
              </a:r>
              <a:endParaRPr lang="zh-CN" altLang="en-US" sz="1600" b="1">
                <a:solidFill>
                  <a:srgbClr val="1F2937"/>
                </a:solidFill>
                <a:latin typeface="Noto Sans SC" panose="020B0200000000000000" charset="-122"/>
                <a:ea typeface="Noto Sans SC" panose="020B0200000000000000" charset="-122"/>
                <a:cs typeface="Noto Sans SC" panose="020B0200000000000000" charset="-122"/>
                <a:sym typeface="+mn-ea"/>
              </a:endParaRPr>
            </a:p>
            <a:p>
              <a:pPr marL="0" algn="l">
                <a:lnSpc>
                  <a:spcPct val="117000"/>
                </a:lnSpc>
                <a:buSzTx/>
                <a:defRPr/>
              </a:pPr>
              <a:r>
                <a:rPr lang="zh-CN" altLang="en-US" sz="1600" b="1">
                  <a:solidFill>
                    <a:srgbClr val="1F2937"/>
                  </a:solidFill>
                  <a:latin typeface="Noto Sans SC" panose="020B0200000000000000" charset="-122"/>
                  <a:ea typeface="Noto Sans SC" panose="020B0200000000000000" charset="-122"/>
                  <a:cs typeface="Noto Sans SC" panose="020B0200000000000000" charset="-122"/>
                  <a:sym typeface="+mn-ea"/>
                </a:rPr>
                <a:t>3，主动很重要</a:t>
              </a:r>
              <a:r>
                <a:rPr lang="en-US">
                  <a:solidFill>
                    <a:srgbClr val="4B5563"/>
                  </a:solidFill>
                  <a:latin typeface="Noto Sans SC" panose="020B0200000000000000" charset="-122"/>
                  <a:ea typeface="Noto Sans SC" panose="020B0200000000000000" charset="-122"/>
                  <a:cs typeface="Noto Sans SC" panose="020B0200000000000000" charset="-122"/>
                  <a:sym typeface="+mn-ea"/>
                </a:rPr>
                <a:t>——不懂就问、没事就找事、主动同步进度。</a:t>
              </a:r>
              <a:endParaRPr lang="en-US" b="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endParaRPr lang="en-US" altLang="zh-CN" b="0">
                <a:solidFill>
                  <a:srgbClr val="4B5563"/>
                </a:solidFill>
                <a:latin typeface="Noto Sans SC" panose="020B0200000000000000" charset="-122"/>
                <a:ea typeface="Noto Sans SC" panose="020B0200000000000000" charset="-122"/>
                <a:cs typeface="Noto Sans SC" panose="020B0200000000000000" charset="-122"/>
              </a:endParaRPr>
            </a:p>
          </p:txBody>
        </p:sp>
      </p:grpSp>
      <p:pic>
        <p:nvPicPr>
          <p:cNvPr id="12" name="图片 11"/>
          <p:cNvPicPr>
            <a:picLocks noChangeAspect="1"/>
          </p:cNvPicPr>
          <p:nvPr/>
        </p:nvPicPr>
        <p:blipFill>
          <a:blip r:embed="rId10"/>
          <a:srcRect l="-392" t="8509"/>
          <a:stretch>
            <a:fillRect/>
          </a:stretch>
        </p:blipFill>
        <p:spPr>
          <a:xfrm>
            <a:off x="5675630" y="3651250"/>
            <a:ext cx="3023870" cy="2580005"/>
          </a:xfrm>
          <a:prstGeom prst="rect">
            <a:avLst/>
          </a:prstGeom>
          <a:ln w="12700">
            <a:solidFill>
              <a:srgbClr val="0052CC"/>
            </a:solidFill>
          </a:ln>
        </p:spPr>
      </p:pic>
      <p:pic>
        <p:nvPicPr>
          <p:cNvPr id="13" name="图片 12"/>
          <p:cNvPicPr>
            <a:picLocks noChangeAspect="1"/>
          </p:cNvPicPr>
          <p:nvPr/>
        </p:nvPicPr>
        <p:blipFill>
          <a:blip r:embed="rId11"/>
          <a:stretch>
            <a:fillRect/>
          </a:stretch>
        </p:blipFill>
        <p:spPr>
          <a:xfrm>
            <a:off x="8880475" y="3949065"/>
            <a:ext cx="3098800" cy="2282190"/>
          </a:xfrm>
          <a:prstGeom prst="rect">
            <a:avLst/>
          </a:prstGeom>
          <a:ln w="12700">
            <a:solidFill>
              <a:srgbClr val="0052CC"/>
            </a:solidFill>
          </a:ln>
        </p:spPr>
      </p:pic>
      <p:sp>
        <p:nvSpPr>
          <p:cNvPr id="43" name="TextBox 42"/>
          <p:cNvSpPr txBox="1"/>
          <p:nvPr/>
        </p:nvSpPr>
        <p:spPr>
          <a:xfrm>
            <a:off x="5903999" y="6379933"/>
            <a:ext cx="5724000" cy="236855"/>
          </a:xfrm>
          <a:prstGeom prst="rect">
            <a:avLst/>
          </a:prstGeom>
          <a:noFill/>
        </p:spPr>
        <p:txBody>
          <a:bodyPr wrap="square" lIns="18000" tIns="10800" rIns="18000" bIns="10800" anchor="ctr">
            <a:spAutoFit/>
          </a:bodyPr>
          <a:p>
            <a:pPr algn="ctr"/>
            <a:r>
              <a:rPr lang="zh-CN" b="1">
                <a:solidFill>
                  <a:srgbClr val="5A6B7B"/>
                </a:solidFill>
                <a:latin typeface="微软雅黑" panose="020B0503020204020204" charset="-122"/>
                <a:ea typeface="微软雅黑" panose="020B0503020204020204" charset="-122"/>
              </a:rPr>
              <a:t>腾讯参访会议记录</a:t>
            </a:r>
            <a:r>
              <a:rPr lang="en-US" altLang="zh-CN" b="1">
                <a:solidFill>
                  <a:srgbClr val="5A6B7B"/>
                </a:solidFill>
                <a:latin typeface="微软雅黑" panose="020B0503020204020204" charset="-122"/>
                <a:ea typeface="微软雅黑" panose="020B0503020204020204" charset="-122"/>
              </a:rPr>
              <a:t>&amp;</a:t>
            </a:r>
            <a:r>
              <a:rPr lang="zh-CN" altLang="en-US" b="1">
                <a:solidFill>
                  <a:srgbClr val="5A6B7B"/>
                </a:solidFill>
                <a:latin typeface="微软雅黑" panose="020B0503020204020204" charset="-122"/>
                <a:ea typeface="微软雅黑" panose="020B0503020204020204" charset="-122"/>
              </a:rPr>
              <a:t>项目会议记录</a:t>
            </a:r>
            <a:endParaRPr lang="zh-CN" altLang="en-US" b="1">
              <a:solidFill>
                <a:srgbClr val="5A6B7B"/>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250371"/>
            <a:ext cx="12199621" cy="2357257"/>
          </a:xfrm>
          <a:prstGeom prst="rect">
            <a:avLst/>
          </a:prstGeom>
          <a:gradFill flip="none" rotWithShape="1">
            <a:gsLst>
              <a:gs pos="86000">
                <a:srgbClr val="80A9E6">
                  <a:alpha val="100000"/>
                </a:srgbClr>
              </a:gs>
              <a:gs pos="0">
                <a:srgbClr val="0052CC">
                  <a:alpha val="100000"/>
                </a:srgbClr>
              </a:gs>
              <a:gs pos="78000">
                <a:srgbClr val="00B0F0"/>
              </a:gs>
              <a:gs pos="100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lnSpc>
                <a:spcPct val="125000"/>
              </a:lnSpc>
              <a:defRPr/>
            </a:pPr>
            <a:r>
              <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sym typeface="Noto Sans SC" panose="020B0200000000000000" charset="-122"/>
              </a:rPr>
              <a:t>不足与未来提升</a:t>
            </a:r>
            <a:endPar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7" name="Picture 7"/>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2425700" y="2987675"/>
            <a:ext cx="659130" cy="7181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05 不足与未来提升</a:t>
            </a:r>
            <a:endParaRPr lang="en-US" sz="1100"/>
          </a:p>
        </p:txBody>
      </p:sp>
      <p:sp>
        <p:nvSpPr>
          <p:cNvPr id="3" name="AutoShape 3"/>
          <p:cNvSpPr/>
          <p:nvPr/>
        </p:nvSpPr>
        <p:spPr>
          <a:xfrm>
            <a:off x="762000" y="1524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5.1 我的不足</a:t>
            </a:r>
            <a:endParaRPr lang="en-US" sz="1100"/>
          </a:p>
        </p:txBody>
      </p:sp>
      <p:sp>
        <p:nvSpPr>
          <p:cNvPr id="4" name="AutoShape 4"/>
          <p:cNvSpPr/>
          <p:nvPr/>
        </p:nvSpPr>
        <p:spPr>
          <a:xfrm>
            <a:off x="762000" y="2222500"/>
            <a:ext cx="5080000" cy="2258060"/>
          </a:xfrm>
          <a:prstGeom prst="roundRect">
            <a:avLst>
              <a:gd name="adj" fmla="val 0"/>
            </a:avLst>
          </a:prstGeom>
          <a:solidFill>
            <a:srgbClr val="0052CC">
              <a:alpha val="5000"/>
            </a:srgbClr>
          </a:solidFill>
          <a:ln w="12700" cap="flat" cmpd="sng">
            <a:solidFill>
              <a:srgbClr val="0052CC">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2286000"/>
            <a:ext cx="4699000" cy="2070735"/>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 技术能力仍处于入门积累期</a:t>
            </a:r>
            <a:endParaRPr lang="en-US" sz="1800" b="1">
              <a:solidFill>
                <a:srgbClr val="0052CC"/>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代码阅读能力不足</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Teamgo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系统里的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Java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微服务代码，我能看懂目录结构、依赖关系，但阅读具体业务实现仍有压力。</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前端能力尚未建立</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Vue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router、</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组件、接口对接，我目前只能跟随带教老师的讲解大致理解，尚未具备独立做组件开发的能力。</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复杂业务的积累有限</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BOM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这类高度复杂的制造业系统，我仍处于"看山是山、看山不是山"的初级学习阶段。</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25" name="组合 24"/>
          <p:cNvGrpSpPr/>
          <p:nvPr/>
        </p:nvGrpSpPr>
        <p:grpSpPr>
          <a:xfrm>
            <a:off x="762000" y="4737735"/>
            <a:ext cx="5080000" cy="1714500"/>
            <a:chOff x="1200" y="6600"/>
            <a:chExt cx="8000" cy="2700"/>
          </a:xfrm>
        </p:grpSpPr>
        <p:sp>
          <p:nvSpPr>
            <p:cNvPr id="6" name="AutoShape 6"/>
            <p:cNvSpPr/>
            <p:nvPr/>
          </p:nvSpPr>
          <p:spPr>
            <a:xfrm>
              <a:off x="1200" y="6600"/>
              <a:ext cx="8000" cy="2700"/>
            </a:xfrm>
            <a:prstGeom prst="roundRect">
              <a:avLst>
                <a:gd name="adj" fmla="val 0"/>
              </a:avLst>
            </a:prstGeom>
            <a:solidFill>
              <a:srgbClr val="0052CC">
                <a:alpha val="5000"/>
              </a:srgbClr>
            </a:solidFill>
            <a:ln w="12700" cap="flat" cmpd="sng">
              <a:solidFill>
                <a:srgbClr val="0052CC">
                  <a:alpha val="2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500" y="6740"/>
              <a:ext cx="7400" cy="236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B. 复杂业务的项目积累不足</a:t>
              </a:r>
              <a:endPar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 跨部门、跨公司、跨甲乙方的</a:t>
              </a:r>
              <a:r>
                <a:rPr lang="zh-CN" alt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项目协调经验</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，本次实习只覆盖了其中相对基础的部分，例如 5 家供应商的会议组织。</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经营层汇报经验不足</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——我只做了一次经营层汇报视频的剪辑，还没能独立完成经营层汇报材料。</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sp>
        <p:nvSpPr>
          <p:cNvPr id="8" name="AutoShape 8"/>
          <p:cNvSpPr/>
          <p:nvPr/>
        </p:nvSpPr>
        <p:spPr>
          <a:xfrm>
            <a:off x="6223000" y="1524000"/>
            <a:ext cx="546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5.2 未来改进方向</a:t>
            </a:r>
            <a:endParaRPr lang="en-US" sz="1100"/>
          </a:p>
        </p:txBody>
      </p:sp>
      <p:sp>
        <p:nvSpPr>
          <p:cNvPr id="9" name="AutoShape 9"/>
          <p:cNvSpPr/>
          <p:nvPr>
            <p:custDataLst>
              <p:tags r:id="rId1"/>
            </p:custDataLst>
          </p:nvPr>
        </p:nvSpPr>
        <p:spPr>
          <a:xfrm>
            <a:off x="6223000" y="2222500"/>
            <a:ext cx="2667000" cy="1714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2413000"/>
            <a:ext cx="279400" cy="279400"/>
          </a:xfrm>
          <a:prstGeom prst="rect">
            <a:avLst/>
          </a:prstGeom>
        </p:spPr>
      </p:pic>
      <p:sp>
        <p:nvSpPr>
          <p:cNvPr id="11" name="AutoShape 11"/>
          <p:cNvSpPr/>
          <p:nvPr>
            <p:custDataLst>
              <p:tags r:id="rId5"/>
            </p:custDataLst>
          </p:nvPr>
        </p:nvSpPr>
        <p:spPr>
          <a:xfrm>
            <a:off x="6794500" y="23876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 </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技术能力</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6"/>
            </p:custDataLst>
          </p:nvPr>
        </p:nvSpPr>
        <p:spPr>
          <a:xfrm>
            <a:off x="6413500" y="28575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以</a:t>
            </a:r>
            <a:r>
              <a:rPr lang="zh-CN" alt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应用为主线，补齐基本工程能力。</a:t>
            </a:r>
            <a:endParaRPr lang="zh-CN" alt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7"/>
            </p:custDataLst>
          </p:nvPr>
        </p:nvSpPr>
        <p:spPr>
          <a:xfrm>
            <a:off x="9017000" y="2222500"/>
            <a:ext cx="2667000" cy="1714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07500" y="2413000"/>
            <a:ext cx="279400" cy="279400"/>
          </a:xfrm>
          <a:prstGeom prst="rect">
            <a:avLst/>
          </a:prstGeom>
        </p:spPr>
      </p:pic>
      <p:sp>
        <p:nvSpPr>
          <p:cNvPr id="15" name="AutoShape 15"/>
          <p:cNvSpPr/>
          <p:nvPr>
            <p:custDataLst>
              <p:tags r:id="rId11"/>
            </p:custDataLst>
          </p:nvPr>
        </p:nvSpPr>
        <p:spPr>
          <a:xfrm>
            <a:off x="9588500" y="23876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B 产品思维</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2"/>
            </p:custDataLst>
          </p:nvPr>
        </p:nvSpPr>
        <p:spPr>
          <a:xfrm>
            <a:off x="9207500" y="28575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学用户调研、需求分析、技术规格书的写作规范，让自己具备"听懂业务→写出功能"的能力。</a:t>
            </a:r>
            <a:endParaRPr lang="zh-CN" alt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3"/>
            </p:custDataLst>
          </p:nvPr>
        </p:nvSpPr>
        <p:spPr>
          <a:xfrm>
            <a:off x="6223000" y="4191000"/>
            <a:ext cx="2667000" cy="1714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413500" y="4381500"/>
            <a:ext cx="279400" cy="279400"/>
          </a:xfrm>
          <a:prstGeom prst="rect">
            <a:avLst/>
          </a:prstGeom>
        </p:spPr>
      </p:pic>
      <p:sp>
        <p:nvSpPr>
          <p:cNvPr id="19" name="AutoShape 19"/>
          <p:cNvSpPr/>
          <p:nvPr>
            <p:custDataLst>
              <p:tags r:id="rId17"/>
            </p:custDataLst>
          </p:nvPr>
        </p:nvSpPr>
        <p:spPr>
          <a:xfrm>
            <a:off x="6794500" y="43561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 商业</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custDataLst>
              <p:tags r:id="rId18"/>
            </p:custDataLst>
          </p:nvPr>
        </p:nvSpPr>
        <p:spPr>
          <a:xfrm>
            <a:off x="6413500" y="48260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补充财务常识、商业模式分析</a:t>
            </a:r>
            <a:r>
              <a:rPr lang="zh-CN" alt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、行业研究方法论、流程</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，理解技术方案背后的商业价值</a:t>
            </a:r>
            <a:r>
              <a:rPr lang="zh-CN" alt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，让自己具备"算得清钱 / 看得懂数"的能力。</a:t>
            </a:r>
            <a:endParaRPr lang="zh-CN" alt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custDataLst>
              <p:tags r:id="rId19"/>
            </p:custDataLst>
          </p:nvPr>
        </p:nvSpPr>
        <p:spPr>
          <a:xfrm>
            <a:off x="9017000" y="4191000"/>
            <a:ext cx="2667000" cy="1714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207500" y="4381500"/>
            <a:ext cx="279400" cy="279400"/>
          </a:xfrm>
          <a:prstGeom prst="rect">
            <a:avLst/>
          </a:prstGeom>
        </p:spPr>
      </p:pic>
      <p:sp>
        <p:nvSpPr>
          <p:cNvPr id="23" name="AutoShape 23"/>
          <p:cNvSpPr/>
          <p:nvPr>
            <p:custDataLst>
              <p:tags r:id="rId23"/>
            </p:custDataLst>
          </p:nvPr>
        </p:nvSpPr>
        <p:spPr>
          <a:xfrm>
            <a:off x="9588500" y="43561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 沟通</a:t>
            </a:r>
            <a:endParaRPr lang="en-US" sz="1100"/>
          </a:p>
        </p:txBody>
      </p:sp>
      <p:sp>
        <p:nvSpPr>
          <p:cNvPr id="24" name="AutoShape 24"/>
          <p:cNvSpPr/>
          <p:nvPr>
            <p:custDataLst>
              <p:tags r:id="rId24"/>
            </p:custDataLst>
          </p:nvPr>
        </p:nvSpPr>
        <p:spPr>
          <a:xfrm>
            <a:off x="9207500" y="48260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在每一次会议记录、每一次跨角色对接中主动复盘，把"沟通即证据""沟通即专业"内化为习惯。</a:t>
            </a:r>
            <a:endParaRPr lang="zh-CN" alt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6" name="图片 25"/>
          <p:cNvPicPr>
            <a:picLocks noChangeAspect="1"/>
          </p:cNvPicPr>
          <p:nvPr/>
        </p:nvPicPr>
        <p:blipFill>
          <a:blip r:embed="rId25"/>
          <a:stretch>
            <a:fillRect/>
          </a:stretch>
        </p:blipFill>
        <p:spPr>
          <a:xfrm>
            <a:off x="10179050" y="143510"/>
            <a:ext cx="1800225" cy="603885"/>
          </a:xfrm>
          <a:prstGeom prst="rect">
            <a:avLst/>
          </a:prstGeom>
        </p:spPr>
      </p:pic>
      <p:sp>
        <p:nvSpPr>
          <p:cNvPr id="27" name="AutoShape 2"/>
          <p:cNvSpPr/>
          <p:nvPr/>
        </p:nvSpPr>
        <p:spPr>
          <a:xfrm>
            <a:off x="9525000" y="4445000"/>
            <a:ext cx="3810000" cy="381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p>
            <a:pPr algn="ctr">
              <a:defRPr/>
            </a:pPr>
          </a:p>
        </p:txBody>
      </p:sp>
      <p:sp>
        <p:nvSpPr>
          <p:cNvPr id="28" name="AutoShape 2"/>
          <p:cNvSpPr/>
          <p:nvPr/>
        </p:nvSpPr>
        <p:spPr>
          <a:xfrm>
            <a:off x="-755650" y="-1679575"/>
            <a:ext cx="3810000" cy="381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9" name="AutoShape 4"/>
          <p:cNvSpPr/>
          <p:nvPr/>
        </p:nvSpPr>
        <p:spPr>
          <a:xfrm>
            <a:off x="574675" y="1480820"/>
            <a:ext cx="10280650" cy="1821180"/>
          </a:xfrm>
          <a:prstGeom prst="roundRect">
            <a:avLst>
              <a:gd name="adj" fmla="val 0"/>
            </a:avLst>
          </a:prstGeom>
          <a:solidFill>
            <a:srgbClr val="0052CC">
              <a:alpha val="5000"/>
            </a:srgbClr>
          </a:solidFill>
          <a:ln w="12700" cap="flat" cmpd="sng">
            <a:solidFill>
              <a:srgbClr val="0052CC">
                <a:alpha val="20000"/>
              </a:srgbClr>
            </a:solidFill>
            <a:prstDash val="solid"/>
            <a:round/>
          </a:ln>
        </p:spPr>
        <p:txBody>
          <a:bodyPr vert="horz" wrap="square" lIns="63500" tIns="63500" rIns="63500" bIns="63500" rtlCol="0" anchor="ctr"/>
          <a:lstStyle/>
          <a:p>
            <a:pPr algn="ctr">
              <a:defRPr/>
            </a:pPr>
          </a:p>
        </p:txBody>
      </p:sp>
      <p:sp>
        <p:nvSpPr>
          <p:cNvPr id="2" name="AutoShape 2"/>
          <p:cNvSpPr/>
          <p:nvPr/>
        </p:nvSpPr>
        <p:spPr>
          <a:xfrm>
            <a:off x="-942340" y="-1067435"/>
            <a:ext cx="2540000" cy="2540000"/>
          </a:xfrm>
          <a:prstGeom prst="ellipse">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1069955" y="5642610"/>
            <a:ext cx="1524000" cy="1524000"/>
          </a:xfrm>
          <a:prstGeom prst="ellipse">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总结与致谢</a:t>
            </a:r>
            <a:endParaRPr lang="en-US" sz="1100"/>
          </a:p>
        </p:txBody>
      </p:sp>
      <p:sp>
        <p:nvSpPr>
          <p:cNvPr id="20" name="AutoShape 20"/>
          <p:cNvSpPr/>
          <p:nvPr/>
        </p:nvSpPr>
        <p:spPr>
          <a:xfrm>
            <a:off x="762000" y="3429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感恩同行：成长路上的引路人</a:t>
            </a:r>
            <a:endParaRPr lang="en-US" sz="1100"/>
          </a:p>
        </p:txBody>
      </p:sp>
      <p:sp>
        <p:nvSpPr>
          <p:cNvPr id="21" name="AutoShape 21"/>
          <p:cNvSpPr/>
          <p:nvPr/>
        </p:nvSpPr>
        <p:spPr>
          <a:xfrm>
            <a:off x="762000" y="3937000"/>
            <a:ext cx="5270500" cy="1079500"/>
          </a:xfrm>
          <a:prstGeom prst="roundRect">
            <a:avLst>
              <a:gd name="adj" fmla="val 0"/>
            </a:avLst>
          </a:prstGeom>
          <a:solidFill>
            <a:srgbClr val="F3F4F6">
              <a:alpha val="6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4114800"/>
            <a:ext cx="355600" cy="355600"/>
          </a:xfrm>
          <a:prstGeom prst="rect">
            <a:avLst/>
          </a:prstGeom>
        </p:spPr>
      </p:pic>
      <p:sp>
        <p:nvSpPr>
          <p:cNvPr id="23" name="AutoShape 23"/>
          <p:cNvSpPr/>
          <p:nvPr/>
        </p:nvSpPr>
        <p:spPr>
          <a:xfrm>
            <a:off x="1397000" y="40894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春天哥 · 方向校准</a:t>
            </a:r>
            <a:endParaRPr lang="en-US" sz="1100"/>
          </a:p>
        </p:txBody>
      </p:sp>
      <p:sp>
        <p:nvSpPr>
          <p:cNvPr id="24" name="AutoShape 24"/>
          <p:cNvSpPr/>
          <p:nvPr/>
        </p:nvSpPr>
        <p:spPr>
          <a:xfrm>
            <a:off x="1397000" y="44450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在周会中以提问与点评为我纠偏，不仅校准了工作方向，更教会</a:t>
            </a:r>
            <a:r>
              <a:rPr lang="zh-CN" alt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如何从更高维度思考问题。</a:t>
            </a:r>
            <a:endParaRPr lang="en-US" sz="1100"/>
          </a:p>
        </p:txBody>
      </p:sp>
      <p:sp>
        <p:nvSpPr>
          <p:cNvPr id="25" name="AutoShape 25"/>
          <p:cNvSpPr/>
          <p:nvPr/>
        </p:nvSpPr>
        <p:spPr>
          <a:xfrm>
            <a:off x="6159500" y="3937000"/>
            <a:ext cx="5270500" cy="1079500"/>
          </a:xfrm>
          <a:prstGeom prst="roundRect">
            <a:avLst>
              <a:gd name="adj" fmla="val 0"/>
            </a:avLst>
          </a:prstGeom>
          <a:solidFill>
            <a:srgbClr val="F3F4F6">
              <a:alpha val="6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0" y="4114800"/>
            <a:ext cx="355600" cy="355600"/>
          </a:xfrm>
          <a:prstGeom prst="rect">
            <a:avLst/>
          </a:prstGeom>
        </p:spPr>
      </p:pic>
      <p:sp>
        <p:nvSpPr>
          <p:cNvPr id="27" name="AutoShape 27"/>
          <p:cNvSpPr/>
          <p:nvPr/>
        </p:nvSpPr>
        <p:spPr>
          <a:xfrm>
            <a:off x="6794500" y="40894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胡羽老师 · 业务启蒙</a:t>
            </a:r>
            <a:endParaRPr lang="en-US" sz="1100"/>
          </a:p>
        </p:txBody>
      </p:sp>
      <p:sp>
        <p:nvSpPr>
          <p:cNvPr id="28" name="AutoShape 28"/>
          <p:cNvSpPr/>
          <p:nvPr/>
        </p:nvSpPr>
        <p:spPr>
          <a:xfrm>
            <a:off x="6794500" y="44450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悉心解答采购与合规疑问，让我深入理解国企的业务逻辑与招标机制，夯实了业务认知基础。</a:t>
            </a:r>
            <a:endParaRPr lang="en-US" sz="1100"/>
          </a:p>
        </p:txBody>
      </p:sp>
      <p:sp>
        <p:nvSpPr>
          <p:cNvPr id="29" name="AutoShape 29"/>
          <p:cNvSpPr/>
          <p:nvPr/>
        </p:nvSpPr>
        <p:spPr>
          <a:xfrm>
            <a:off x="762000" y="5080000"/>
            <a:ext cx="5270500" cy="1079500"/>
          </a:xfrm>
          <a:prstGeom prst="roundRect">
            <a:avLst>
              <a:gd name="adj" fmla="val 0"/>
            </a:avLst>
          </a:prstGeom>
          <a:solidFill>
            <a:srgbClr val="F3F4F6">
              <a:alpha val="60000"/>
            </a:srgbClr>
          </a:solidFill>
          <a:ln w="25400" cap="flat" cmpd="sng">
            <a:no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257800"/>
            <a:ext cx="355600" cy="355600"/>
          </a:xfrm>
          <a:prstGeom prst="rect">
            <a:avLst/>
          </a:prstGeom>
        </p:spPr>
      </p:pic>
      <p:sp>
        <p:nvSpPr>
          <p:cNvPr id="31" name="AutoShape 31"/>
          <p:cNvSpPr/>
          <p:nvPr/>
        </p:nvSpPr>
        <p:spPr>
          <a:xfrm>
            <a:off x="1397000" y="52324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媛媛姐 &amp; 汪洋老师</a:t>
            </a:r>
            <a:endParaRPr lang="en-US" sz="1100"/>
          </a:p>
        </p:txBody>
      </p:sp>
      <p:sp>
        <p:nvSpPr>
          <p:cNvPr id="32" name="AutoShape 32"/>
          <p:cNvSpPr/>
          <p:nvPr/>
        </p:nvSpPr>
        <p:spPr>
          <a:xfrm>
            <a:off x="1397000" y="55880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在V6项目、Teamgo系统 学习中耐心答疑，用专业知识为我扫除障碍，是快速上手的强力支撑。</a:t>
            </a:r>
            <a:endParaRPr lang="en-US" sz="1100"/>
          </a:p>
        </p:txBody>
      </p:sp>
      <p:sp>
        <p:nvSpPr>
          <p:cNvPr id="38" name="AutoShape 7"/>
          <p:cNvSpPr/>
          <p:nvPr/>
        </p:nvSpPr>
        <p:spPr>
          <a:xfrm>
            <a:off x="762000" y="1651000"/>
            <a:ext cx="9906000" cy="1498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4 周时间，在部门领导和带教老师的指导下，我参与了 </a:t>
            </a:r>
            <a:r>
              <a:rPr lang="en-US" altLang="zh-CN"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CATIA V6 </a:t>
            </a:r>
            <a:r>
              <a:rPr lang="zh-CN" alt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试点硬件采购、移动工作站供应商交流、企业级 </a:t>
            </a:r>
            <a:r>
              <a:rPr lang="en-US" altLang="zh-CN"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BOM </a:t>
            </a:r>
            <a:r>
              <a:rPr lang="zh-CN" alt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调研、</a:t>
            </a:r>
            <a:r>
              <a:rPr lang="en-US" altLang="zh-CN"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Teamgo / </a:t>
            </a:r>
            <a:r>
              <a:rPr lang="zh-CN" alt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生销运营系统 4 条项目线的工作。我的主要工作是观察学习、跨角色沟通协调、环境搭建与项目逻辑梳理、汇报材料制作。</a:t>
            </a:r>
            <a:r>
              <a:rPr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通过这段实践，我实现几方面转变：从旁观学习转向深度参与协调；学会运用 AI 工具搭建工作链路，支撑常态化输出；工作理念也从 “做完就行” 升级为保障高质量、闭环式交付。</a:t>
            </a:r>
            <a:endParaRPr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0" name="图片 39"/>
          <p:cNvPicPr>
            <a:picLocks noChangeAspect="1"/>
          </p:cNvPicPr>
          <p:nvPr/>
        </p:nvPicPr>
        <p:blipFill>
          <a:blip r:embed="rId7"/>
          <a:stretch>
            <a:fillRect/>
          </a:stretch>
        </p:blipFill>
        <p:spPr>
          <a:xfrm>
            <a:off x="10179050" y="143510"/>
            <a:ext cx="1800225" cy="6038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42340" y="-1067435"/>
            <a:ext cx="2540000" cy="2540000"/>
          </a:xfrm>
          <a:prstGeom prst="ellipse">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1069955" y="5642610"/>
            <a:ext cx="1524000" cy="1524000"/>
          </a:xfrm>
          <a:prstGeom prst="ellipse">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总结与致谢</a:t>
            </a:r>
            <a:endParaRPr lang="en-US" sz="1100"/>
          </a:p>
        </p:txBody>
      </p:sp>
      <p:grpSp>
        <p:nvGrpSpPr>
          <p:cNvPr id="5" name="组合 4"/>
          <p:cNvGrpSpPr/>
          <p:nvPr/>
        </p:nvGrpSpPr>
        <p:grpSpPr>
          <a:xfrm>
            <a:off x="976630" y="2498725"/>
            <a:ext cx="10280650" cy="1821180"/>
            <a:chOff x="905" y="2332"/>
            <a:chExt cx="16190" cy="2868"/>
          </a:xfrm>
        </p:grpSpPr>
        <p:sp>
          <p:nvSpPr>
            <p:cNvPr id="39" name="AutoShape 4"/>
            <p:cNvSpPr/>
            <p:nvPr/>
          </p:nvSpPr>
          <p:spPr>
            <a:xfrm>
              <a:off x="905" y="2332"/>
              <a:ext cx="16190" cy="2868"/>
            </a:xfrm>
            <a:prstGeom prst="roundRect">
              <a:avLst>
                <a:gd name="adj" fmla="val 0"/>
              </a:avLst>
            </a:prstGeom>
            <a:solidFill>
              <a:srgbClr val="0052CC">
                <a:alpha val="5000"/>
              </a:srgbClr>
            </a:solidFill>
            <a:ln w="12700" cap="flat" cmpd="sng">
              <a:solidFill>
                <a:srgbClr val="0052CC">
                  <a:alpha val="20000"/>
                </a:srgbClr>
              </a:solidFill>
              <a:prstDash val="solid"/>
              <a:round/>
            </a:ln>
          </p:spPr>
          <p:txBody>
            <a:bodyPr vert="horz" wrap="square" lIns="63500" tIns="63500" rIns="63500" bIns="63500" rtlCol="0" anchor="ctr"/>
            <a:lstStyle/>
            <a:p>
              <a:pPr algn="ctr">
                <a:defRPr/>
              </a:pPr>
            </a:p>
          </p:txBody>
        </p:sp>
        <p:sp>
          <p:nvSpPr>
            <p:cNvPr id="38" name="AutoShape 7"/>
            <p:cNvSpPr/>
            <p:nvPr/>
          </p:nvSpPr>
          <p:spPr>
            <a:xfrm>
              <a:off x="1200" y="2600"/>
              <a:ext cx="15600" cy="2572"/>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最后，感谢所在部门给我这次走进真实大项目的机会。最后，由衷感谢各位领导、带教老师与团队同事在四周实习期间的悉心指导、耐心包容与倾力帮助。</a:t>
              </a:r>
              <a:endParaRPr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00000"/>
                </a:lnSpc>
                <a:defRPr/>
              </a:pPr>
              <a:r>
                <a:rPr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四周的实践让我收获颇丰，这段经历将成为我职业起步十分珍贵的积累。我会持续复盘所学、不断提升，在后续的道路上踏实奋进。</a:t>
              </a:r>
              <a:endParaRPr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pic>
        <p:nvPicPr>
          <p:cNvPr id="40" name="图片 39"/>
          <p:cNvPicPr>
            <a:picLocks noChangeAspect="1"/>
          </p:cNvPicPr>
          <p:nvPr/>
        </p:nvPicPr>
        <p:blipFill>
          <a:blip r:embed="rId1"/>
          <a:stretch>
            <a:fillRect/>
          </a:stretch>
        </p:blipFill>
        <p:spPr>
          <a:xfrm>
            <a:off x="10179050" y="143510"/>
            <a:ext cx="1800225" cy="6038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2250371"/>
            <a:ext cx="12199621" cy="2357257"/>
          </a:xfrm>
          <a:prstGeom prst="rect">
            <a:avLst/>
          </a:prstGeom>
          <a:gradFill flip="none" rotWithShape="1">
            <a:gsLst>
              <a:gs pos="86000">
                <a:srgbClr val="80A9E6">
                  <a:alpha val="100000"/>
                </a:srgbClr>
              </a:gs>
              <a:gs pos="0">
                <a:srgbClr val="0052CC">
                  <a:alpha val="100000"/>
                </a:srgbClr>
              </a:gs>
              <a:gs pos="78000">
                <a:srgbClr val="00B0F0"/>
              </a:gs>
              <a:gs pos="100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lnSpc>
                <a:spcPct val="125000"/>
              </a:lnSpc>
              <a:defRPr/>
            </a:pPr>
            <a:r>
              <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sym typeface="Noto Sans SC" panose="020B0200000000000000" charset="-122"/>
              </a:rPr>
              <a:t>感谢</a:t>
            </a:r>
            <a:r>
              <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sym typeface="Noto Sans SC" panose="020B0200000000000000" charset="-122"/>
              </a:rPr>
              <a:t>各位聆听！</a:t>
            </a:r>
            <a:endParaRPr lang="zh-CN" altLang="en-US" sz="3600" b="1" dirty="0" smtClean="0">
              <a:solidFill>
                <a:schemeClr val="bg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7" name="Picture 7"/>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2425700" y="2987675"/>
            <a:ext cx="659130" cy="718185"/>
          </a:xfrm>
          <a:prstGeom prst="rect">
            <a:avLst/>
          </a:prstGeom>
        </p:spPr>
      </p:pic>
      <p:sp>
        <p:nvSpPr>
          <p:cNvPr id="43" name="TextBox 42"/>
          <p:cNvSpPr txBox="1"/>
          <p:nvPr/>
        </p:nvSpPr>
        <p:spPr>
          <a:xfrm>
            <a:off x="6467475" y="4830445"/>
            <a:ext cx="5724525" cy="339725"/>
          </a:xfrm>
          <a:prstGeom prst="rect">
            <a:avLst/>
          </a:prstGeom>
          <a:noFill/>
        </p:spPr>
        <p:txBody>
          <a:bodyPr wrap="square" lIns="18000" tIns="10800" rIns="18000" bIns="10800" anchor="ctr">
            <a:noAutofit/>
          </a:bodyPr>
          <a:p>
            <a:pPr algn="ctr"/>
            <a:r>
              <a:rPr lang="zh-CN" b="1">
                <a:solidFill>
                  <a:srgbClr val="5A6B7B"/>
                </a:solidFill>
                <a:latin typeface="微软雅黑" panose="020B0503020204020204" charset="-122"/>
                <a:ea typeface="微软雅黑" panose="020B0503020204020204" charset="-122"/>
              </a:rPr>
              <a:t>梁海翘，</a:t>
            </a:r>
            <a:r>
              <a:rPr lang="en-US" altLang="zh-CN" b="1">
                <a:solidFill>
                  <a:srgbClr val="5A6B7B"/>
                </a:solidFill>
                <a:latin typeface="微软雅黑" panose="020B0503020204020204" charset="-122"/>
                <a:ea typeface="微软雅黑" panose="020B0503020204020204" charset="-122"/>
              </a:rPr>
              <a:t>2026.8.12</a:t>
            </a:r>
            <a:endParaRPr lang="en-US" altLang="zh-CN" b="1">
              <a:solidFill>
                <a:srgbClr val="5A6B7B"/>
              </a:solidFill>
              <a:latin typeface="微软雅黑" panose="020B0503020204020204" charset="-122"/>
              <a:ea typeface="微软雅黑" panose="020B0503020204020204" charset="-122"/>
            </a:endParaRPr>
          </a:p>
        </p:txBody>
      </p:sp>
      <p:sp>
        <p:nvSpPr>
          <p:cNvPr id="5" name="AutoShape 2"/>
          <p:cNvSpPr/>
          <p:nvPr/>
        </p:nvSpPr>
        <p:spPr>
          <a:xfrm>
            <a:off x="10031095" y="5013325"/>
            <a:ext cx="3810000" cy="381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2"/>
          <p:cNvSpPr/>
          <p:nvPr/>
        </p:nvSpPr>
        <p:spPr>
          <a:xfrm>
            <a:off x="-1474470" y="-1276985"/>
            <a:ext cx="3810000" cy="3810000"/>
          </a:xfrm>
          <a:prstGeom prst="ellipse">
            <a:avLst/>
          </a:prstGeom>
          <a:solidFill>
            <a:srgbClr val="0052CC">
              <a:alpha val="3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DIAGRAM_VIRTUALLY_FRAME" val="{&quot;height&quot;:360,&quot;left&quot;:60,&quot;top&quot;:140,&quot;width&quot;:840}"/>
</p:tagLst>
</file>

<file path=ppt/tags/tag2.xml><?xml version="1.0" encoding="utf-8"?>
<p:tagLst xmlns:p="http://schemas.openxmlformats.org/presentationml/2006/main">
  <p:tag name="KSO_WM_DIAGRAM_VIRTUALLY_FRAME" val="{&quot;height&quot;:360,&quot;left&quot;:60,&quot;top&quot;:140,&quot;width&quot;:840}"/>
</p:tagLst>
</file>

<file path=ppt/tags/tag3.xml><?xml version="1.0" encoding="utf-8"?>
<p:tagLst xmlns:p="http://schemas.openxmlformats.org/presentationml/2006/main">
  <p:tag name="KSO_WM_DIAGRAM_VIRTUALLY_FRAME" val="{&quot;height&quot;:360,&quot;left&quot;:60,&quot;top&quot;:140,&quot;width&quot;:840}"/>
</p:tagLst>
</file>

<file path=ppt/tags/tag4.xml><?xml version="1.0" encoding="utf-8"?>
<p:tagLst xmlns:p="http://schemas.openxmlformats.org/presentationml/2006/main">
  <p:tag name="KSO_WM_DIAGRAM_VIRTUALLY_FRAME" val="{&quot;height&quot;:360,&quot;left&quot;:60,&quot;top&quot;:140,&quot;width&quot;:840}"/>
</p:tagLst>
</file>

<file path=ppt/tags/tag5.xml><?xml version="1.0" encoding="utf-8"?>
<p:tagLst xmlns:p="http://schemas.openxmlformats.org/presentationml/2006/main">
  <p:tag name="KSO_WM_DIAGRAM_VIRTUALLY_FRAME" val="{&quot;height&quot;:360,&quot;left&quot;:60,&quot;top&quot;:140,&quot;width&quot;:840}"/>
</p:tagLst>
</file>

<file path=ppt/tags/tag6.xml><?xml version="1.0" encoding="utf-8"?>
<p:tagLst xmlns:p="http://schemas.openxmlformats.org/presentationml/2006/main">
  <p:tag name="KSO_WM_DIAGRAM_VIRTUALLY_FRAME" val="{&quot;height&quot;:360,&quot;left&quot;:60,&quot;top&quot;:140,&quot;width&quot;:840}"/>
</p:tagLst>
</file>

<file path=ppt/tags/tag7.xml><?xml version="1.0" encoding="utf-8"?>
<p:tagLst xmlns:p="http://schemas.openxmlformats.org/presentationml/2006/main">
  <p:tag name="KSO_WM_DIAGRAM_VIRTUALLY_FRAME" val="{&quot;height&quot;:360,&quot;left&quot;:60,&quot;top&quot;:140,&quot;width&quot;:840}"/>
</p:tagLst>
</file>

<file path=ppt/tags/tag8.xml><?xml version="1.0" encoding="utf-8"?>
<p:tagLst xmlns:p="http://schemas.openxmlformats.org/presentationml/2006/main">
  <p:tag name="KSO_WM_DIAGRAM_VIRTUALLY_FRAME" val="{&quot;height&quot;:360,&quot;left&quot;:60,&quot;top&quot;:140,&quot;width&quot;:840}"/>
</p:tagLst>
</file>

<file path=ppt/tags/tag9.xml><?xml version="1.0" encoding="utf-8"?>
<p:tagLst xmlns:p="http://schemas.openxmlformats.org/presentationml/2006/main">
  <p:tag name="KSO_WM_DIAGRAM_VIRTUALLY_FRAME" val="{&quot;height&quot;:360,&quot;left&quot;:60,&quot;top&quot;:140,&quot;width&quot;:840}"/>
</p:tagLst>
</file>

<file path=ppt/tags/tag10.xml><?xml version="1.0" encoding="utf-8"?>
<p:tagLst xmlns:p="http://schemas.openxmlformats.org/presentationml/2006/main">
  <p:tag name="KSO_WM_DIAGRAM_VIRTUALLY_FRAME" val="{&quot;height&quot;:360,&quot;left&quot;:60,&quot;top&quot;:140,&quot;width&quot;:840}"/>
</p:tagLst>
</file>

<file path=ppt/tags/tag11.xml><?xml version="1.0" encoding="utf-8"?>
<p:tagLst xmlns:p="http://schemas.openxmlformats.org/presentationml/2006/main">
  <p:tag name="KSO_WM_DIAGRAM_VIRTUALLY_FRAME" val="{&quot;height&quot;:360,&quot;left&quot;:60,&quot;top&quot;:140,&quot;width&quot;:840}"/>
</p:tagLst>
</file>

<file path=ppt/tags/tag12.xml><?xml version="1.0" encoding="utf-8"?>
<p:tagLst xmlns:p="http://schemas.openxmlformats.org/presentationml/2006/main">
  <p:tag name="KSO_WM_DIAGRAM_VIRTUALLY_FRAME" val="{&quot;height&quot;:360,&quot;left&quot;:60,&quot;top&quot;:140,&quot;width&quot;:840}"/>
</p:tagLst>
</file>

<file path=ppt/tags/tag13.xml><?xml version="1.0" encoding="utf-8"?>
<p:tagLst xmlns:p="http://schemas.openxmlformats.org/presentationml/2006/main">
  <p:tag name="KSO_WM_DIAGRAM_VIRTUALLY_FRAME" val="{&quot;height&quot;:360,&quot;left&quot;:60,&quot;top&quot;:140,&quot;width&quot;:840}"/>
</p:tagLst>
</file>

<file path=ppt/tags/tag14.xml><?xml version="1.0" encoding="utf-8"?>
<p:tagLst xmlns:p="http://schemas.openxmlformats.org/presentationml/2006/main">
  <p:tag name="KSO_WM_DIAGRAM_VIRTUALLY_FRAME" val="{&quot;height&quot;:360,&quot;left&quot;:60,&quot;top&quot;:140,&quot;width&quot;:840}"/>
</p:tagLst>
</file>

<file path=ppt/tags/tag15.xml><?xml version="1.0" encoding="utf-8"?>
<p:tagLst xmlns:p="http://schemas.openxmlformats.org/presentationml/2006/main">
  <p:tag name="KSO_WM_DIAGRAM_VIRTUALLY_FRAME" val="{&quot;height&quot;:360,&quot;left&quot;:60,&quot;top&quot;:140,&quot;width&quot;:840}"/>
</p:tagLst>
</file>

<file path=ppt/tags/tag16.xml><?xml version="1.0" encoding="utf-8"?>
<p:tagLst xmlns:p="http://schemas.openxmlformats.org/presentationml/2006/main">
  <p:tag name="KSO_WM_DIAGRAM_VIRTUALLY_FRAME" val="{&quot;height&quot;:360,&quot;left&quot;:60,&quot;top&quot;:140,&quot;width&quot;:840}"/>
</p:tagLst>
</file>

<file path=ppt/tags/tag17.xml><?xml version="1.0" encoding="utf-8"?>
<p:tagLst xmlns:p="http://schemas.openxmlformats.org/presentationml/2006/main">
  <p:tag name="KSO_WM_DIAGRAM_VIRTUALLY_FRAME" val="{&quot;height&quot;:360,&quot;left&quot;:60,&quot;top&quot;:140,&quot;width&quot;:840}"/>
</p:tagLst>
</file>

<file path=ppt/tags/tag18.xml><?xml version="1.0" encoding="utf-8"?>
<p:tagLst xmlns:p="http://schemas.openxmlformats.org/presentationml/2006/main">
  <p:tag name="KSO_WM_DIAGRAM_VIRTUALLY_FRAME" val="{&quot;height&quot;:360,&quot;left&quot;:60,&quot;top&quot;:140,&quot;width&quot;:840}"/>
</p:tagLst>
</file>

<file path=ppt/tags/tag19.xml><?xml version="1.0" encoding="utf-8"?>
<p:tagLst xmlns:p="http://schemas.openxmlformats.org/presentationml/2006/main">
  <p:tag name="KSO_WM_DIAGRAM_VIRTUALLY_FRAME" val="{&quot;height&quot;:360,&quot;left&quot;:60,&quot;top&quot;:140,&quot;width&quot;:840}"/>
</p:tagLst>
</file>

<file path=ppt/tags/tag20.xml><?xml version="1.0" encoding="utf-8"?>
<p:tagLst xmlns:p="http://schemas.openxmlformats.org/presentationml/2006/main">
  <p:tag name="KSO_WM_DIAGRAM_VIRTUALLY_FRAME" val="{&quot;height&quot;:360,&quot;left&quot;:60,&quot;top&quot;:140,&quot;width&quot;:840}"/>
</p:tagLst>
</file>

<file path=ppt/tags/tag21.xml><?xml version="1.0" encoding="utf-8"?>
<p:tagLst xmlns:p="http://schemas.openxmlformats.org/presentationml/2006/main">
  <p:tag name="KSO_WM_DIAGRAM_VIRTUALLY_FRAME" val="{&quot;height&quot;:360,&quot;left&quot;:60,&quot;top&quot;:140,&quot;width&quot;:840}"/>
</p:tagLst>
</file>

<file path=ppt/tags/tag22.xml><?xml version="1.0" encoding="utf-8"?>
<p:tagLst xmlns:p="http://schemas.openxmlformats.org/presentationml/2006/main">
  <p:tag name="KSO_WM_DIAGRAM_VIRTUALLY_FRAME" val="{&quot;height&quot;:360,&quot;left&quot;:60,&quot;top&quot;:140,&quot;width&quot;:840}"/>
</p:tagLst>
</file>

<file path=ppt/tags/tag23.xml><?xml version="1.0" encoding="utf-8"?>
<p:tagLst xmlns:p="http://schemas.openxmlformats.org/presentationml/2006/main">
  <p:tag name="KSO_WM_DIAGRAM_VIRTUALLY_FRAME" val="{&quot;height&quot;:360,&quot;left&quot;:60,&quot;top&quot;:140,&quot;width&quot;:840}"/>
</p:tagLst>
</file>

<file path=ppt/tags/tag24.xml><?xml version="1.0" encoding="utf-8"?>
<p:tagLst xmlns:p="http://schemas.openxmlformats.org/presentationml/2006/main">
  <p:tag name="KSO_WM_DIAGRAM_VIRTUALLY_FRAME" val="{&quot;height&quot;:360,&quot;left&quot;:60,&quot;top&quot;:140,&quot;width&quot;:840}"/>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DIAGRAM_VIRTUALLY_FRAME" val="{&quot;height&quot;:296,&quot;left&quot;:60,&quot;top&quot;:140,&quot;width&quot;:557.25}"/>
</p:tagLst>
</file>

<file path=ppt/tags/tag27.xml><?xml version="1.0" encoding="utf-8"?>
<p:tagLst xmlns:p="http://schemas.openxmlformats.org/presentationml/2006/main">
  <p:tag name="KSO_WM_DIAGRAM_VIRTUALLY_FRAME" val="{&quot;height&quot;:296,&quot;left&quot;:60,&quot;top&quot;:140,&quot;width&quot;:557.25}"/>
</p:tagLst>
</file>

<file path=ppt/tags/tag28.xml><?xml version="1.0" encoding="utf-8"?>
<p:tagLst xmlns:p="http://schemas.openxmlformats.org/presentationml/2006/main">
  <p:tag name="KSO_WM_DIAGRAM_VIRTUALLY_FRAME" val="{&quot;height&quot;:296,&quot;left&quot;:60,&quot;top&quot;:140,&quot;width&quot;:557.25}"/>
</p:tagLst>
</file>

<file path=ppt/tags/tag29.xml><?xml version="1.0" encoding="utf-8"?>
<p:tagLst xmlns:p="http://schemas.openxmlformats.org/presentationml/2006/main">
  <p:tag name="KSO_WM_DIAGRAM_VIRTUALLY_FRAME" val="{&quot;height&quot;:296,&quot;left&quot;:60,&quot;top&quot;:140,&quot;width&quot;:557.25}"/>
</p:tagLst>
</file>

<file path=ppt/tags/tag30.xml><?xml version="1.0" encoding="utf-8"?>
<p:tagLst xmlns:p="http://schemas.openxmlformats.org/presentationml/2006/main">
  <p:tag name="KSO_WM_DIAGRAM_VIRTUALLY_FRAME" val="{&quot;height&quot;:296,&quot;left&quot;:60,&quot;top&quot;:140,&quot;width&quot;:557.25}"/>
</p:tagLst>
</file>

<file path=ppt/tags/tag31.xml><?xml version="1.0" encoding="utf-8"?>
<p:tagLst xmlns:p="http://schemas.openxmlformats.org/presentationml/2006/main">
  <p:tag name="KSO_WM_DIAGRAM_VIRTUALLY_FRAME" val="{&quot;height&quot;:296,&quot;left&quot;:60,&quot;top&quot;:140,&quot;width&quot;:557.25}"/>
</p:tagLst>
</file>

<file path=ppt/tags/tag32.xml><?xml version="1.0" encoding="utf-8"?>
<p:tagLst xmlns:p="http://schemas.openxmlformats.org/presentationml/2006/main">
  <p:tag name="KSO_WM_DIAGRAM_VIRTUALLY_FRAME" val="{&quot;height&quot;:296,&quot;left&quot;:60,&quot;top&quot;:140,&quot;width&quot;:557.25}"/>
</p:tagLst>
</file>

<file path=ppt/tags/tag33.xml><?xml version="1.0" encoding="utf-8"?>
<p:tagLst xmlns:p="http://schemas.openxmlformats.org/presentationml/2006/main">
  <p:tag name="KSO_WM_DIAGRAM_VIRTUALLY_FRAME" val="{&quot;height&quot;:296,&quot;left&quot;:60,&quot;top&quot;:140,&quot;width&quot;:557.25}"/>
</p:tagLst>
</file>

<file path=ppt/tags/tag34.xml><?xml version="1.0" encoding="utf-8"?>
<p:tagLst xmlns:p="http://schemas.openxmlformats.org/presentationml/2006/main">
  <p:tag name="KSO_WM_DIAGRAM_VIRTUALLY_FRAME" val="{&quot;height&quot;:296,&quot;left&quot;:60,&quot;top&quot;:140,&quot;width&quot;:557.25}"/>
</p:tagLst>
</file>

<file path=ppt/tags/tag35.xml><?xml version="1.0" encoding="utf-8"?>
<p:tagLst xmlns:p="http://schemas.openxmlformats.org/presentationml/2006/main">
  <p:tag name="KSO_WM_DIAGRAM_VIRTUALLY_FRAME" val="{&quot;height&quot;:296,&quot;left&quot;:60,&quot;top&quot;:140,&quot;width&quot;:557.25}"/>
</p:tagLst>
</file>

<file path=ppt/tags/tag36.xml><?xml version="1.0" encoding="utf-8"?>
<p:tagLst xmlns:p="http://schemas.openxmlformats.org/presentationml/2006/main">
  <p:tag name="KSO_WM_DIAGRAM_VIRTUALLY_FRAME" val="{&quot;height&quot;:296,&quot;left&quot;:60,&quot;top&quot;:140,&quot;width&quot;:557.25}"/>
</p:tagLst>
</file>

<file path=ppt/tags/tag37.xml><?xml version="1.0" encoding="utf-8"?>
<p:tagLst xmlns:p="http://schemas.openxmlformats.org/presentationml/2006/main">
  <p:tag name="KSO_WM_DIAGRAM_VIRTUALLY_FRAME" val="{&quot;height&quot;:296,&quot;left&quot;:60,&quot;top&quot;:140,&quot;width&quot;:557.25}"/>
</p:tagLst>
</file>

<file path=ppt/tags/tag38.xml><?xml version="1.0" encoding="utf-8"?>
<p:tagLst xmlns:p="http://schemas.openxmlformats.org/presentationml/2006/main">
  <p:tag name="KSO_WM_DIAGRAM_VIRTUALLY_FRAME" val="{&quot;height&quot;:296,&quot;left&quot;:60,&quot;top&quot;:140,&quot;width&quot;:557.25}"/>
</p:tagLst>
</file>

<file path=ppt/tags/tag39.xml><?xml version="1.0" encoding="utf-8"?>
<p:tagLst xmlns:p="http://schemas.openxmlformats.org/presentationml/2006/main">
  <p:tag name="KSO_WM_DIAGRAM_VIRTUALLY_FRAME" val="{&quot;height&quot;:296,&quot;left&quot;:60,&quot;top&quot;:140,&quot;width&quot;:557.25}"/>
</p:tagLst>
</file>

<file path=ppt/tags/tag40.xml><?xml version="1.0" encoding="utf-8"?>
<p:tagLst xmlns:p="http://schemas.openxmlformats.org/presentationml/2006/main">
  <p:tag name="KSO_WM_UNIT_PIC_EFFECT" val="1"/>
</p:tagLst>
</file>

<file path=ppt/tags/tag4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8538_1*i*1"/>
  <p:tag name="KSO_WM_TEMPLATE_CATEGORY" val="custom"/>
  <p:tag name="KSO_WM_TEMPLATE_INDEX" val="20238538"/>
  <p:tag name="KSO_WM_UNIT_LAYERLEVEL" val="1"/>
  <p:tag name="KSO_WM_TAG_VERSION" val="3.0"/>
  <p:tag name="KSO_WM_UNIT_PIC_EFFECT" val="1"/>
</p:tagLst>
</file>

<file path=ppt/tags/tag4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8538_1*i*2"/>
  <p:tag name="KSO_WM_TEMPLATE_CATEGORY" val="custom"/>
  <p:tag name="KSO_WM_TEMPLATE_INDEX" val="20238538"/>
  <p:tag name="KSO_WM_UNIT_LAYERLEVEL" val="1"/>
  <p:tag name="KSO_WM_TAG_VERSION" val="3.0"/>
  <p:tag name="KSO_WM_UNIT_PIC_EFFECT" val="1"/>
</p:tagLst>
</file>

<file path=ppt/tags/tag43.xml><?xml version="1.0" encoding="utf-8"?>
<p:tagLst xmlns:p="http://schemas.openxmlformats.org/presentationml/2006/main">
  <p:tag name="KSO_WM_BEAUTIFY_FLAG" val="#wm#"/>
  <p:tag name="KSO_WM_UNIT_VALUE" val="2216*2216"/>
  <p:tag name="KSO_WM_UNIT_HIGHLIGHT" val="0"/>
  <p:tag name="KSO_WM_UNIT_COMPATIBLE" val="0"/>
  <p:tag name="KSO_WM_UNIT_DIAGRAM_ISNUMVISUAL" val="0"/>
  <p:tag name="KSO_WM_UNIT_DIAGRAM_ISREFERUNIT" val="0"/>
  <p:tag name="KSO_WM_UNIT_TYPE" val="d"/>
  <p:tag name="KSO_WM_UNIT_INDEX" val="1"/>
  <p:tag name="KSO_WM_UNIT_ID" val="custom20238538_1*d*1"/>
  <p:tag name="KSO_WM_TEMPLATE_CATEGORY" val="custom"/>
  <p:tag name="KSO_WM_TEMPLATE_INDEX" val="20238538"/>
  <p:tag name="KSO_WM_UNIT_LAYERLEVEL" val="1"/>
  <p:tag name="KSO_WM_TAG_VERSION" val="3.0"/>
  <p:tag name="KSO_WM_UNIT_PIC_EFFECT" val="1"/>
</p:tagLst>
</file>

<file path=ppt/tags/tag4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custom20238538_1*i*3"/>
  <p:tag name="KSO_WM_TEMPLATE_CATEGORY" val="custom"/>
  <p:tag name="KSO_WM_TEMPLATE_INDEX" val="20238538"/>
  <p:tag name="KSO_WM_UNIT_LAYERLEVEL" val="1"/>
  <p:tag name="KSO_WM_TAG_VERSION" val="3.0"/>
  <p:tag name="KSO_WM_UNIT_PIC_EFFECT" val="1"/>
</p:tagLst>
</file>

<file path=ppt/tags/tag45.xml><?xml version="1.0" encoding="utf-8"?>
<p:tagLst xmlns:p="http://schemas.openxmlformats.org/presentationml/2006/main">
  <p:tag name="KSO_WM_DIAGRAM_VIRTUALLY_FRAME" val="{&quot;height&quot;:360,&quot;left&quot;:60,&quot;top&quot;:120,&quot;width&quot;:845}"/>
</p:tagLst>
</file>

<file path=ppt/tags/tag46.xml><?xml version="1.0" encoding="utf-8"?>
<p:tagLst xmlns:p="http://schemas.openxmlformats.org/presentationml/2006/main">
  <p:tag name="KSO_WM_DIAGRAM_VIRTUALLY_FRAME" val="{&quot;height&quot;:360,&quot;left&quot;:60,&quot;top&quot;:120,&quot;width&quot;:845}"/>
</p:tagLst>
</file>

<file path=ppt/tags/tag47.xml><?xml version="1.0" encoding="utf-8"?>
<p:tagLst xmlns:p="http://schemas.openxmlformats.org/presentationml/2006/main">
  <p:tag name="KSO_WM_DIAGRAM_VIRTUALLY_FRAME" val="{&quot;height&quot;:360,&quot;left&quot;:60,&quot;top&quot;:120,&quot;width&quot;:845}"/>
</p:tagLst>
</file>

<file path=ppt/tags/tag48.xml><?xml version="1.0" encoding="utf-8"?>
<p:tagLst xmlns:p="http://schemas.openxmlformats.org/presentationml/2006/main">
  <p:tag name="KSO_WM_DIAGRAM_VIRTUALLY_FRAME" val="{&quot;height&quot;:360,&quot;left&quot;:60,&quot;top&quot;:120,&quot;width&quot;:845}"/>
</p:tagLst>
</file>

<file path=ppt/tags/tag49.xml><?xml version="1.0" encoding="utf-8"?>
<p:tagLst xmlns:p="http://schemas.openxmlformats.org/presentationml/2006/main">
  <p:tag name="KSO_WM_DIAGRAM_VIRTUALLY_FRAME" val="{&quot;height&quot;:360,&quot;left&quot;:60,&quot;top&quot;:120,&quot;width&quot;:845}"/>
</p:tagLst>
</file>

<file path=ppt/tags/tag50.xml><?xml version="1.0" encoding="utf-8"?>
<p:tagLst xmlns:p="http://schemas.openxmlformats.org/presentationml/2006/main">
  <p:tag name="KSO_WM_DIAGRAM_VIRTUALLY_FRAME" val="{&quot;height&quot;:360,&quot;left&quot;:60,&quot;top&quot;:120,&quot;width&quot;:845}"/>
</p:tagLst>
</file>

<file path=ppt/tags/tag51.xml><?xml version="1.0" encoding="utf-8"?>
<p:tagLst xmlns:p="http://schemas.openxmlformats.org/presentationml/2006/main">
  <p:tag name="KSO_WM_DIAGRAM_VIRTUALLY_FRAME" val="{&quot;height&quot;:360,&quot;left&quot;:60,&quot;top&quot;:120,&quot;width&quot;:845}"/>
</p:tagLst>
</file>

<file path=ppt/tags/tag52.xml><?xml version="1.0" encoding="utf-8"?>
<p:tagLst xmlns:p="http://schemas.openxmlformats.org/presentationml/2006/main">
  <p:tag name="KSO_WM_DIAGRAM_VIRTUALLY_FRAME" val="{&quot;height&quot;:360,&quot;left&quot;:60,&quot;top&quot;:120,&quot;width&quot;:845}"/>
</p:tagLst>
</file>

<file path=ppt/tags/tag53.xml><?xml version="1.0" encoding="utf-8"?>
<p:tagLst xmlns:p="http://schemas.openxmlformats.org/presentationml/2006/main">
  <p:tag name="KSO_WM_DIAGRAM_VIRTUALLY_FRAME" val="{&quot;height&quot;:360,&quot;left&quot;:60,&quot;top&quot;:120,&quot;width&quot;:845}"/>
</p:tagLst>
</file>

<file path=ppt/tags/tag54.xml><?xml version="1.0" encoding="utf-8"?>
<p:tagLst xmlns:p="http://schemas.openxmlformats.org/presentationml/2006/main">
  <p:tag name="KSO_WM_DIAGRAM_VIRTUALLY_FRAME" val="{&quot;height&quot;:360,&quot;left&quot;:60,&quot;top&quot;:120,&quot;width&quot;:845}"/>
</p:tagLst>
</file>

<file path=ppt/tags/tag55.xml><?xml version="1.0" encoding="utf-8"?>
<p:tagLst xmlns:p="http://schemas.openxmlformats.org/presentationml/2006/main">
  <p:tag name="KSO_WM_DIAGRAM_VIRTUALLY_FRAME" val="{&quot;height&quot;:360,&quot;left&quot;:60,&quot;top&quot;:120,&quot;width&quot;:845}"/>
</p:tagLst>
</file>

<file path=ppt/tags/tag56.xml><?xml version="1.0" encoding="utf-8"?>
<p:tagLst xmlns:p="http://schemas.openxmlformats.org/presentationml/2006/main">
  <p:tag name="KSO_WM_DIAGRAM_VIRTUALLY_FRAME" val="{&quot;height&quot;:360,&quot;left&quot;:60,&quot;top&quot;:120,&quot;width&quot;:845}"/>
</p:tagLst>
</file>

<file path=ppt/tags/tag57.xml><?xml version="1.0" encoding="utf-8"?>
<p:tagLst xmlns:p="http://schemas.openxmlformats.org/presentationml/2006/main">
  <p:tag name="KSO_WM_DIAGRAM_VIRTUALLY_FRAME" val="{&quot;height&quot;:360,&quot;left&quot;:60,&quot;top&quot;:120,&quot;width&quot;:845}"/>
</p:tagLst>
</file>

<file path=ppt/tags/tag58.xml><?xml version="1.0" encoding="utf-8"?>
<p:tagLst xmlns:p="http://schemas.openxmlformats.org/presentationml/2006/main">
  <p:tag name="KSO_WM_DIAGRAM_VIRTUALLY_FRAME" val="{&quot;height&quot;:360,&quot;left&quot;:60,&quot;top&quot;:120,&quot;width&quot;:845}"/>
</p:tagLst>
</file>

<file path=ppt/tags/tag59.xml><?xml version="1.0" encoding="utf-8"?>
<p:tagLst xmlns:p="http://schemas.openxmlformats.org/presentationml/2006/main">
  <p:tag name="KSO_WM_DIAGRAM_VIRTUALLY_FRAME" val="{&quot;height&quot;:360,&quot;left&quot;:60,&quot;top&quot;:120,&quot;width&quot;:845}"/>
</p:tagLst>
</file>

<file path=ppt/tags/tag60.xml><?xml version="1.0" encoding="utf-8"?>
<p:tagLst xmlns:p="http://schemas.openxmlformats.org/presentationml/2006/main">
  <p:tag name="KSO_WM_DIAGRAM_VIRTUALLY_FRAME" val="{&quot;height&quot;:360,&quot;left&quot;:60,&quot;top&quot;:120,&quot;width&quot;:845}"/>
</p:tagLst>
</file>

<file path=ppt/tags/tag61.xml><?xml version="1.0" encoding="utf-8"?>
<p:tagLst xmlns:p="http://schemas.openxmlformats.org/presentationml/2006/main">
  <p:tag name="KSO_WM_DIAGRAM_VIRTUALLY_FRAME" val="{&quot;height&quot;:360,&quot;left&quot;:60,&quot;top&quot;:120,&quot;width&quot;:845}"/>
</p:tagLst>
</file>

<file path=ppt/tags/tag62.xml><?xml version="1.0" encoding="utf-8"?>
<p:tagLst xmlns:p="http://schemas.openxmlformats.org/presentationml/2006/main">
  <p:tag name="KSO_WM_DIAGRAM_VIRTUALLY_FRAME" val="{&quot;height&quot;:360,&quot;left&quot;:60,&quot;top&quot;:120,&quot;width&quot;:845}"/>
</p:tagLst>
</file>

<file path=ppt/tags/tag63.xml><?xml version="1.0" encoding="utf-8"?>
<p:tagLst xmlns:p="http://schemas.openxmlformats.org/presentationml/2006/main">
  <p:tag name="KSO_WM_DIAGRAM_VIRTUALLY_FRAME" val="{&quot;height&quot;:360,&quot;left&quot;:60,&quot;top&quot;:120,&quot;width&quot;:845}"/>
</p:tagLst>
</file>

<file path=ppt/tags/tag64.xml><?xml version="1.0" encoding="utf-8"?>
<p:tagLst xmlns:p="http://schemas.openxmlformats.org/presentationml/2006/main">
  <p:tag name="KSO_WM_DIAGRAM_VIRTUALLY_FRAME" val="{&quot;height&quot;:200.95,&quot;left&quot;:60,&quot;top&quot;:130,&quot;width&quot;:860}"/>
</p:tagLst>
</file>

<file path=ppt/tags/tag65.xml><?xml version="1.0" encoding="utf-8"?>
<p:tagLst xmlns:p="http://schemas.openxmlformats.org/presentationml/2006/main">
  <p:tag name="KSO_WM_DIAGRAM_VIRTUALLY_FRAME" val="{&quot;height&quot;:200.95,&quot;left&quot;:60,&quot;top&quot;:130,&quot;width&quot;:860}"/>
</p:tagLst>
</file>

<file path=ppt/tags/tag66.xml><?xml version="1.0" encoding="utf-8"?>
<p:tagLst xmlns:p="http://schemas.openxmlformats.org/presentationml/2006/main">
  <p:tag name="KSO_WM_DIAGRAM_VIRTUALLY_FRAME" val="{&quot;height&quot;:200.95,&quot;left&quot;:60,&quot;top&quot;:130,&quot;width&quot;:860}"/>
</p:tagLst>
</file>

<file path=ppt/tags/tag67.xml><?xml version="1.0" encoding="utf-8"?>
<p:tagLst xmlns:p="http://schemas.openxmlformats.org/presentationml/2006/main">
  <p:tag name="KSO_WM_DIAGRAM_VIRTUALLY_FRAME" val="{&quot;height&quot;:200.95,&quot;left&quot;:60,&quot;top&quot;:130,&quot;width&quot;:860}"/>
</p:tagLst>
</file>

<file path=ppt/tags/tag68.xml><?xml version="1.0" encoding="utf-8"?>
<p:tagLst xmlns:p="http://schemas.openxmlformats.org/presentationml/2006/main">
  <p:tag name="KSO_WM_DIAGRAM_VIRTUALLY_FRAME" val="{&quot;height&quot;:200.95,&quot;left&quot;:60,&quot;top&quot;:130,&quot;width&quot;:860}"/>
</p:tagLst>
</file>

<file path=ppt/tags/tag69.xml><?xml version="1.0" encoding="utf-8"?>
<p:tagLst xmlns:p="http://schemas.openxmlformats.org/presentationml/2006/main">
  <p:tag name="KSO_WM_DIAGRAM_VIRTUALLY_FRAME" val="{&quot;height&quot;:200.95,&quot;left&quot;:60,&quot;top&quot;:130,&quot;width&quot;:860}"/>
</p:tagLst>
</file>

<file path=ppt/tags/tag70.xml><?xml version="1.0" encoding="utf-8"?>
<p:tagLst xmlns:p="http://schemas.openxmlformats.org/presentationml/2006/main">
  <p:tag name="KSO_WM_DIAGRAM_VIRTUALLY_FRAME" val="{&quot;height&quot;:200.95,&quot;left&quot;:60,&quot;top&quot;:130,&quot;width&quot;:860}"/>
</p:tagLst>
</file>

<file path=ppt/tags/tag71.xml><?xml version="1.0" encoding="utf-8"?>
<p:tagLst xmlns:p="http://schemas.openxmlformats.org/presentationml/2006/main">
  <p:tag name="KSO_WM_DIAGRAM_VIRTUALLY_FRAME" val="{&quot;height&quot;:200.95,&quot;left&quot;:60,&quot;top&quot;:130,&quot;width&quot;:860}"/>
</p:tagLst>
</file>

<file path=ppt/tags/tag72.xml><?xml version="1.0" encoding="utf-8"?>
<p:tagLst xmlns:p="http://schemas.openxmlformats.org/presentationml/2006/main">
  <p:tag name="KSO_WM_DIAGRAM_VIRTUALLY_FRAME" val="{&quot;height&quot;:200.95,&quot;left&quot;:60,&quot;top&quot;:130,&quot;width&quot;:860}"/>
</p:tagLst>
</file>

<file path=ppt/tags/tag73.xml><?xml version="1.0" encoding="utf-8"?>
<p:tagLst xmlns:p="http://schemas.openxmlformats.org/presentationml/2006/main">
  <p:tag name="KSO_WM_DIAGRAM_VIRTUALLY_FRAME" val="{&quot;height&quot;:200.95,&quot;left&quot;:60,&quot;top&quot;:130,&quot;width&quot;:860}"/>
</p:tagLst>
</file>

<file path=ppt/tags/tag74.xml><?xml version="1.0" encoding="utf-8"?>
<p:tagLst xmlns:p="http://schemas.openxmlformats.org/presentationml/2006/main">
  <p:tag name="KSO_WM_DIAGRAM_VIRTUALLY_FRAME" val="{&quot;height&quot;:200.95,&quot;left&quot;:60,&quot;top&quot;:130,&quot;width&quot;:860}"/>
</p:tagLst>
</file>

<file path=ppt/tags/tag75.xml><?xml version="1.0" encoding="utf-8"?>
<p:tagLst xmlns:p="http://schemas.openxmlformats.org/presentationml/2006/main">
  <p:tag name="KSO_WM_DIAGRAM_VIRTUALLY_FRAME" val="{&quot;height&quot;:200.95,&quot;left&quot;:60,&quot;top&quot;:130,&quot;width&quot;:860}"/>
</p:tagLst>
</file>

<file path=ppt/tags/tag76.xml><?xml version="1.0" encoding="utf-8"?>
<p:tagLst xmlns:p="http://schemas.openxmlformats.org/presentationml/2006/main">
  <p:tag name="KSO_WM_DIAGRAM_VIRTUALLY_FRAME" val="{&quot;height&quot;:200.95,&quot;left&quot;:60,&quot;top&quot;:130,&quot;width&quot;:860}"/>
</p:tagLst>
</file>

<file path=ppt/tags/tag77.xml><?xml version="1.0" encoding="utf-8"?>
<p:tagLst xmlns:p="http://schemas.openxmlformats.org/presentationml/2006/main">
  <p:tag name="KSO_WM_DIAGRAM_VIRTUALLY_FRAME" val="{&quot;height&quot;:200.95,&quot;left&quot;:60,&quot;top&quot;:130,&quot;width&quot;:860}"/>
</p:tagLst>
</file>

<file path=ppt/tags/tag78.xml><?xml version="1.0" encoding="utf-8"?>
<p:tagLst xmlns:p="http://schemas.openxmlformats.org/presentationml/2006/main">
  <p:tag name="KSO_WM_DIAGRAM_VIRTUALLY_FRAME" val="{&quot;height&quot;:200.95,&quot;left&quot;:60,&quot;top&quot;:130,&quot;width&quot;:860}"/>
</p:tagLst>
</file>

<file path=ppt/tags/tag79.xml><?xml version="1.0" encoding="utf-8"?>
<p:tagLst xmlns:p="http://schemas.openxmlformats.org/presentationml/2006/main">
  <p:tag name="KSO_WM_DIAGRAM_VIRTUALLY_FRAME" val="{&quot;height&quot;:200.95,&quot;left&quot;:60,&quot;top&quot;:130,&quot;width&quot;:860}"/>
</p:tagLst>
</file>

<file path=ppt/tags/tag80.xml><?xml version="1.0" encoding="utf-8"?>
<p:tagLst xmlns:p="http://schemas.openxmlformats.org/presentationml/2006/main">
  <p:tag name="KSO_WM_DIAGRAM_VIRTUALLY_FRAME" val="{&quot;height&quot;:200.95,&quot;left&quot;:60,&quot;top&quot;:130,&quot;width&quot;:860}"/>
</p:tagLst>
</file>

<file path=ppt/tags/tag81.xml><?xml version="1.0" encoding="utf-8"?>
<p:tagLst xmlns:p="http://schemas.openxmlformats.org/presentationml/2006/main">
  <p:tag name="KSO_WM_DIAGRAM_VIRTUALLY_FRAME" val="{&quot;height&quot;:200.95,&quot;left&quot;:60,&quot;top&quot;:130,&quot;width&quot;:860}"/>
</p:tagLst>
</file>

<file path=ppt/tags/tag82.xml><?xml version="1.0" encoding="utf-8"?>
<p:tagLst xmlns:p="http://schemas.openxmlformats.org/presentationml/2006/main">
  <p:tag name="KSO_WM_DIAGRAM_VIRTUALLY_FRAME" val="{&quot;height&quot;:200.95,&quot;left&quot;:60,&quot;top&quot;:130,&quot;width&quot;:860}"/>
</p:tagLst>
</file>

<file path=ppt/tags/tag83.xml><?xml version="1.0" encoding="utf-8"?>
<p:tagLst xmlns:p="http://schemas.openxmlformats.org/presentationml/2006/main">
  <p:tag name="KSO_WM_DIAGRAM_VIRTUALLY_FRAME" val="{&quot;height&quot;:200.95,&quot;left&quot;:60,&quot;top&quot;:130,&quot;width&quot;:860}"/>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DIAGRAM_VIRTUALLY_FRAME" val="{&quot;height&quot;:296,&quot;left&quot;:60,&quot;top&quot;:140,&quot;width&quot;:557.25}"/>
</p:tagLst>
</file>

<file path=ppt/tags/tag86.xml><?xml version="1.0" encoding="utf-8"?>
<p:tagLst xmlns:p="http://schemas.openxmlformats.org/presentationml/2006/main">
  <p:tag name="KSO_WM_DIAGRAM_VIRTUALLY_FRAME" val="{&quot;height&quot;:345.7,&quot;left&quot;:60,&quot;top&quot;:158.3,&quot;width&quot;:840}"/>
</p:tagLst>
</file>

<file path=ppt/tags/tag87.xml><?xml version="1.0" encoding="utf-8"?>
<p:tagLst xmlns:p="http://schemas.openxmlformats.org/presentationml/2006/main">
  <p:tag name="KSO_WM_DIAGRAM_VIRTUALLY_FRAME" val="{&quot;height&quot;:345.7,&quot;left&quot;:60,&quot;top&quot;:158.3,&quot;width&quot;:840}"/>
</p:tagLst>
</file>

<file path=ppt/tags/tag88.xml><?xml version="1.0" encoding="utf-8"?>
<p:tagLst xmlns:p="http://schemas.openxmlformats.org/presentationml/2006/main">
  <p:tag name="KSO_WM_DIAGRAM_VIRTUALLY_FRAME" val="{&quot;height&quot;:345.7,&quot;left&quot;:60,&quot;top&quot;:158.3,&quot;width&quot;:840}"/>
</p:tagLst>
</file>

<file path=ppt/tags/tag89.xml><?xml version="1.0" encoding="utf-8"?>
<p:tagLst xmlns:p="http://schemas.openxmlformats.org/presentationml/2006/main">
  <p:tag name="KSO_WM_DIAGRAM_VIRTUALLY_FRAME" val="{&quot;height&quot;:345.7,&quot;left&quot;:60,&quot;top&quot;:158.3,&quot;width&quot;:840}"/>
</p:tagLst>
</file>

<file path=ppt/tags/tag90.xml><?xml version="1.0" encoding="utf-8"?>
<p:tagLst xmlns:p="http://schemas.openxmlformats.org/presentationml/2006/main">
  <p:tag name="KSO_WM_DIAGRAM_VIRTUALLY_FRAME" val="{&quot;height&quot;:345.7,&quot;left&quot;:60,&quot;top&quot;:158.3,&quot;width&quot;:840}"/>
</p:tagLst>
</file>

<file path=ppt/tags/tag91.xml><?xml version="1.0" encoding="utf-8"?>
<p:tagLst xmlns:p="http://schemas.openxmlformats.org/presentationml/2006/main">
  <p:tag name="KSO_WM_DIAGRAM_VIRTUALLY_FRAME" val="{&quot;height&quot;:345.7,&quot;left&quot;:60,&quot;top&quot;:158.3,&quot;width&quot;:840}"/>
</p:tagLst>
</file>

<file path=ppt/tags/tag92.xml><?xml version="1.0" encoding="utf-8"?>
<p:tagLst xmlns:p="http://schemas.openxmlformats.org/presentationml/2006/main">
  <p:tag name="KSO_WM_DIAGRAM_VIRTUALLY_FRAME" val="{&quot;height&quot;:345.7,&quot;left&quot;:60,&quot;top&quot;:158.3,&quot;width&quot;:840}"/>
</p:tagLst>
</file>

<file path=ppt/tags/tag93.xml><?xml version="1.0" encoding="utf-8"?>
<p:tagLst xmlns:p="http://schemas.openxmlformats.org/presentationml/2006/main">
  <p:tag name="KSO_WM_DIAGRAM_VIRTUALLY_FRAME" val="{&quot;height&quot;:345.7,&quot;left&quot;:60,&quot;top&quot;:158.3,&quot;width&quot;:840}"/>
</p:tagLst>
</file>

<file path=ppt/tags/tag94.xml><?xml version="1.0" encoding="utf-8"?>
<p:tagLst xmlns:p="http://schemas.openxmlformats.org/presentationml/2006/main">
  <p:tag name="KSO_WM_DIAGRAM_VIRTUALLY_FRAME" val="{&quot;height&quot;:345.7,&quot;left&quot;:60,&quot;top&quot;:158.3,&quot;width&quot;:840}"/>
</p:tagLst>
</file>

<file path=ppt/tags/tag95.xml><?xml version="1.0" encoding="utf-8"?>
<p:tagLst xmlns:p="http://schemas.openxmlformats.org/presentationml/2006/main">
  <p:tag name="KSO_WM_DIAGRAM_VIRTUALLY_FRAME" val="{&quot;height&quot;:345.7,&quot;left&quot;:60,&quot;top&quot;:158.3,&quot;width&quot;:840}"/>
</p:tagLst>
</file>

<file path=ppt/tags/tag96.xml><?xml version="1.0" encoding="utf-8"?>
<p:tagLst xmlns:p="http://schemas.openxmlformats.org/presentationml/2006/main">
  <p:tag name="KSO_WM_DIAGRAM_VIRTUALLY_FRAME" val="{&quot;height&quot;:345.7,&quot;left&quot;:60,&quot;top&quot;:158.3,&quot;width&quot;:840}"/>
</p:tagLst>
</file>

<file path=ppt/tags/tag97.xml><?xml version="1.0" encoding="utf-8"?>
<p:tagLst xmlns:p="http://schemas.openxmlformats.org/presentationml/2006/main">
  <p:tag name="KSO_WM_DIAGRAM_VIRTUALLY_FRAME" val="{&quot;height&quot;:345.7,&quot;left&quot;:60,&quot;top&quot;:158.3,&quot;width&quot;:840}"/>
</p:tagLst>
</file>

<file path=ppt/tags/tag98.xml><?xml version="1.0" encoding="utf-8"?>
<p:tagLst xmlns:p="http://schemas.openxmlformats.org/presentationml/2006/main">
  <p:tag name="KSO_WM_DIAGRAM_VIRTUALLY_FRAME" val="{&quot;height&quot;:345.7,&quot;left&quot;:60,&quot;top&quot;:158.3,&quot;width&quot;:840}"/>
</p:tagLst>
</file>

<file path=ppt/tags/tag99.xml><?xml version="1.0" encoding="utf-8"?>
<p:tagLst xmlns:p="http://schemas.openxmlformats.org/presentationml/2006/main">
  <p:tag name="KSO_WM_DIAGRAM_VIRTUALLY_FRAME" val="{&quot;height&quot;:345.7,&quot;left&quot;:60,&quot;top&quot;:158.3,&quot;width&quot;:840}"/>
</p:tagLst>
</file>

<file path=ppt/tags/tag100.xml><?xml version="1.0" encoding="utf-8"?>
<p:tagLst xmlns:p="http://schemas.openxmlformats.org/presentationml/2006/main">
  <p:tag name="KSO_WM_DIAGRAM_VIRTUALLY_FRAME" val="{&quot;height&quot;:345.7,&quot;left&quot;:60,&quot;top&quot;:158.3,&quot;width&quot;:840}"/>
</p:tagLst>
</file>

<file path=ppt/tags/tag101.xml><?xml version="1.0" encoding="utf-8"?>
<p:tagLst xmlns:p="http://schemas.openxmlformats.org/presentationml/2006/main">
  <p:tag name="KSO_WM_DIAGRAM_VIRTUALLY_FRAME" val="{&quot;height&quot;:345.7,&quot;left&quot;:60,&quot;top&quot;:158.3,&quot;width&quot;:840}"/>
</p:tagLst>
</file>

<file path=ppt/tags/tag102.xml><?xml version="1.0" encoding="utf-8"?>
<p:tagLst xmlns:p="http://schemas.openxmlformats.org/presentationml/2006/main">
  <p:tag name="KSO_WM_DIAGRAM_VIRTUALLY_FRAME" val="{&quot;height&quot;:345.7,&quot;left&quot;:60,&quot;top&quot;:158.3,&quot;width&quot;:840}"/>
</p:tagLst>
</file>

<file path=ppt/tags/tag103.xml><?xml version="1.0" encoding="utf-8"?>
<p:tagLst xmlns:p="http://schemas.openxmlformats.org/presentationml/2006/main">
  <p:tag name="KSO_WM_DIAGRAM_VIRTUALLY_FRAME" val="{&quot;height&quot;:345.7,&quot;left&quot;:60,&quot;top&quot;:158.3,&quot;width&quot;:840}"/>
</p:tagLst>
</file>

<file path=ppt/tags/tag104.xml><?xml version="1.0" encoding="utf-8"?>
<p:tagLst xmlns:p="http://schemas.openxmlformats.org/presentationml/2006/main">
  <p:tag name="KSO_WM_DIAGRAM_VIRTUALLY_FRAME" val="{&quot;height&quot;:322.9,&quot;left&quot;:60,&quot;top&quot;:140,&quot;width&quot;:838}"/>
</p:tagLst>
</file>

<file path=ppt/tags/tag105.xml><?xml version="1.0" encoding="utf-8"?>
<p:tagLst xmlns:p="http://schemas.openxmlformats.org/presentationml/2006/main">
  <p:tag name="KSO_WM_DIAGRAM_VIRTUALLY_FRAME" val="{&quot;height&quot;:322.9,&quot;left&quot;:60,&quot;top&quot;:140,&quot;width&quot;:838}"/>
</p:tagLst>
</file>

<file path=ppt/tags/tag106.xml><?xml version="1.0" encoding="utf-8"?>
<p:tagLst xmlns:p="http://schemas.openxmlformats.org/presentationml/2006/main">
  <p:tag name="KSO_WM_DIAGRAM_VIRTUALLY_FRAME" val="{&quot;height&quot;:322.9,&quot;left&quot;:60,&quot;top&quot;:140,&quot;width&quot;:838}"/>
</p:tagLst>
</file>

<file path=ppt/tags/tag107.xml><?xml version="1.0" encoding="utf-8"?>
<p:tagLst xmlns:p="http://schemas.openxmlformats.org/presentationml/2006/main">
  <p:tag name="KSO_WM_DIAGRAM_VIRTUALLY_FRAME" val="{&quot;height&quot;:322.9,&quot;left&quot;:60,&quot;top&quot;:140,&quot;width&quot;:838}"/>
</p:tagLst>
</file>

<file path=ppt/tags/tag108.xml><?xml version="1.0" encoding="utf-8"?>
<p:tagLst xmlns:p="http://schemas.openxmlformats.org/presentationml/2006/main">
  <p:tag name="KSO_WM_DIAGRAM_VIRTUALLY_FRAME" val="{&quot;height&quot;:322.9,&quot;left&quot;:60,&quot;top&quot;:140,&quot;width&quot;:838}"/>
</p:tagLst>
</file>

<file path=ppt/tags/tag109.xml><?xml version="1.0" encoding="utf-8"?>
<p:tagLst xmlns:p="http://schemas.openxmlformats.org/presentationml/2006/main">
  <p:tag name="KSO_WM_DIAGRAM_VIRTUALLY_FRAME" val="{&quot;height&quot;:322.9,&quot;left&quot;:60,&quot;top&quot;:140,&quot;width&quot;:838}"/>
</p:tagLst>
</file>

<file path=ppt/tags/tag110.xml><?xml version="1.0" encoding="utf-8"?>
<p:tagLst xmlns:p="http://schemas.openxmlformats.org/presentationml/2006/main">
  <p:tag name="KSO_WM_DIAGRAM_VIRTUALLY_FRAME" val="{&quot;height&quot;:322.9,&quot;left&quot;:60,&quot;top&quot;:140,&quot;width&quot;:838}"/>
</p:tagLst>
</file>

<file path=ppt/tags/tag111.xml><?xml version="1.0" encoding="utf-8"?>
<p:tagLst xmlns:p="http://schemas.openxmlformats.org/presentationml/2006/main">
  <p:tag name="KSO_WM_DIAGRAM_VIRTUALLY_FRAME" val="{&quot;height&quot;:322.9,&quot;left&quot;:60,&quot;top&quot;:140,&quot;width&quot;:838}"/>
</p:tagLst>
</file>

<file path=ppt/tags/tag112.xml><?xml version="1.0" encoding="utf-8"?>
<p:tagLst xmlns:p="http://schemas.openxmlformats.org/presentationml/2006/main">
  <p:tag name="KSO_WM_DIAGRAM_VIRTUALLY_FRAME" val="{&quot;height&quot;:322.9,&quot;left&quot;:60,&quot;top&quot;:140,&quot;width&quot;:838}"/>
</p:tagLst>
</file>

<file path=ppt/tags/tag113.xml><?xml version="1.0" encoding="utf-8"?>
<p:tagLst xmlns:p="http://schemas.openxmlformats.org/presentationml/2006/main">
  <p:tag name="KSO_WM_DIAGRAM_VIRTUALLY_FRAME" val="{&quot;height&quot;:322.9,&quot;left&quot;:60,&quot;top&quot;:140,&quot;width&quot;:838}"/>
</p:tagLst>
</file>

<file path=ppt/tags/tag114.xml><?xml version="1.0" encoding="utf-8"?>
<p:tagLst xmlns:p="http://schemas.openxmlformats.org/presentationml/2006/main">
  <p:tag name="KSO_WM_DIAGRAM_VIRTUALLY_FRAME" val="{&quot;height&quot;:322.9,&quot;left&quot;:60,&quot;top&quot;:140,&quot;width&quot;:838}"/>
</p:tagLst>
</file>

<file path=ppt/tags/tag115.xml><?xml version="1.0" encoding="utf-8"?>
<p:tagLst xmlns:p="http://schemas.openxmlformats.org/presentationml/2006/main">
  <p:tag name="KSO_WM_DIAGRAM_VIRTUALLY_FRAME" val="{&quot;height&quot;:322.9,&quot;left&quot;:60,&quot;top&quot;:140,&quot;width&quot;:838}"/>
</p:tagLst>
</file>

<file path=ppt/tags/tag116.xml><?xml version="1.0" encoding="utf-8"?>
<p:tagLst xmlns:p="http://schemas.openxmlformats.org/presentationml/2006/main">
  <p:tag name="KSO_WM_DIAGRAM_VIRTUALLY_FRAME" val="{&quot;height&quot;:322.9,&quot;left&quot;:60,&quot;top&quot;:140,&quot;width&quot;:838}"/>
</p:tagLst>
</file>

<file path=ppt/tags/tag117.xml><?xml version="1.0" encoding="utf-8"?>
<p:tagLst xmlns:p="http://schemas.openxmlformats.org/presentationml/2006/main">
  <p:tag name="KSO_WM_DIAGRAM_VIRTUALLY_FRAME" val="{&quot;height&quot;:322.9,&quot;left&quot;:60,&quot;top&quot;:140,&quot;width&quot;:838}"/>
</p:tagLst>
</file>

<file path=ppt/tags/tag118.xml><?xml version="1.0" encoding="utf-8"?>
<p:tagLst xmlns:p="http://schemas.openxmlformats.org/presentationml/2006/main">
  <p:tag name="KSO_WM_DIAGRAM_VIRTUALLY_FRAME" val="{&quot;height&quot;:322.9,&quot;left&quot;:60,&quot;top&quot;:140,&quot;width&quot;:838}"/>
</p:tagLst>
</file>

<file path=ppt/tags/tag119.xml><?xml version="1.0" encoding="utf-8"?>
<p:tagLst xmlns:p="http://schemas.openxmlformats.org/presentationml/2006/main">
  <p:tag name="KSO_WM_DIAGRAM_VIRTUALLY_FRAME" val="{&quot;height&quot;:175,&quot;left&quot;:60,&quot;top&quot;:180,&quot;width&quot;:850}"/>
</p:tagLst>
</file>

<file path=ppt/tags/tag120.xml><?xml version="1.0" encoding="utf-8"?>
<p:tagLst xmlns:p="http://schemas.openxmlformats.org/presentationml/2006/main">
  <p:tag name="KSO_WM_DIAGRAM_VIRTUALLY_FRAME" val="{&quot;height&quot;:175,&quot;left&quot;:60,&quot;top&quot;:180,&quot;width&quot;:850}"/>
</p:tagLst>
</file>

<file path=ppt/tags/tag121.xml><?xml version="1.0" encoding="utf-8"?>
<p:tagLst xmlns:p="http://schemas.openxmlformats.org/presentationml/2006/main">
  <p:tag name="KSO_WM_DIAGRAM_VIRTUALLY_FRAME" val="{&quot;height&quot;:175,&quot;left&quot;:60,&quot;top&quot;:180,&quot;width&quot;:850}"/>
</p:tagLst>
</file>

<file path=ppt/tags/tag122.xml><?xml version="1.0" encoding="utf-8"?>
<p:tagLst xmlns:p="http://schemas.openxmlformats.org/presentationml/2006/main">
  <p:tag name="KSO_WM_DIAGRAM_VIRTUALLY_FRAME" val="{&quot;height&quot;:175,&quot;left&quot;:60,&quot;top&quot;:180,&quot;width&quot;:850}"/>
</p:tagLst>
</file>

<file path=ppt/tags/tag123.xml><?xml version="1.0" encoding="utf-8"?>
<p:tagLst xmlns:p="http://schemas.openxmlformats.org/presentationml/2006/main">
  <p:tag name="KSO_WM_DIAGRAM_VIRTUALLY_FRAME" val="{&quot;height&quot;:175,&quot;left&quot;:60,&quot;top&quot;:180,&quot;width&quot;:850}"/>
</p:tagLst>
</file>

<file path=ppt/tags/tag124.xml><?xml version="1.0" encoding="utf-8"?>
<p:tagLst xmlns:p="http://schemas.openxmlformats.org/presentationml/2006/main">
  <p:tag name="KSO_WM_DIAGRAM_VIRTUALLY_FRAME" val="{&quot;height&quot;:175,&quot;left&quot;:60,&quot;top&quot;:180,&quot;width&quot;:850}"/>
</p:tagLst>
</file>

<file path=ppt/tags/tag125.xml><?xml version="1.0" encoding="utf-8"?>
<p:tagLst xmlns:p="http://schemas.openxmlformats.org/presentationml/2006/main">
  <p:tag name="KSO_WM_DIAGRAM_VIRTUALLY_FRAME" val="{&quot;height&quot;:175,&quot;left&quot;:60,&quot;top&quot;:180,&quot;width&quot;:850}"/>
</p:tagLst>
</file>

<file path=ppt/tags/tag126.xml><?xml version="1.0" encoding="utf-8"?>
<p:tagLst xmlns:p="http://schemas.openxmlformats.org/presentationml/2006/main">
  <p:tag name="KSO_WM_DIAGRAM_VIRTUALLY_FRAME" val="{&quot;height&quot;:245,&quot;left&quot;:60,&quot;top&quot;:170,&quot;width&quot;:840}"/>
</p:tagLst>
</file>

<file path=ppt/tags/tag127.xml><?xml version="1.0" encoding="utf-8"?>
<p:tagLst xmlns:p="http://schemas.openxmlformats.org/presentationml/2006/main">
  <p:tag name="KSO_WM_DIAGRAM_VIRTUALLY_FRAME" val="{&quot;height&quot;:245,&quot;left&quot;:60,&quot;top&quot;:170,&quot;width&quot;:840}"/>
</p:tagLst>
</file>

<file path=ppt/tags/tag128.xml><?xml version="1.0" encoding="utf-8"?>
<p:tagLst xmlns:p="http://schemas.openxmlformats.org/presentationml/2006/main">
  <p:tag name="KSO_WM_DIAGRAM_VIRTUALLY_FRAME" val="{&quot;height&quot;:245,&quot;left&quot;:60,&quot;top&quot;:170,&quot;width&quot;:840}"/>
</p:tagLst>
</file>

<file path=ppt/tags/tag129.xml><?xml version="1.0" encoding="utf-8"?>
<p:tagLst xmlns:p="http://schemas.openxmlformats.org/presentationml/2006/main">
  <p:tag name="KSO_WM_DIAGRAM_VIRTUALLY_FRAME" val="{&quot;height&quot;:245,&quot;left&quot;:60,&quot;top&quot;:170,&quot;width&quot;:840}"/>
</p:tagLst>
</file>

<file path=ppt/tags/tag130.xml><?xml version="1.0" encoding="utf-8"?>
<p:tagLst xmlns:p="http://schemas.openxmlformats.org/presentationml/2006/main">
  <p:tag name="KSO_WM_DIAGRAM_VIRTUALLY_FRAME" val="{&quot;height&quot;:245,&quot;left&quot;:60,&quot;top&quot;:170,&quot;width&quot;:840}"/>
</p:tagLst>
</file>

<file path=ppt/tags/tag131.xml><?xml version="1.0" encoding="utf-8"?>
<p:tagLst xmlns:p="http://schemas.openxmlformats.org/presentationml/2006/main">
  <p:tag name="KSO_WM_DIAGRAM_VIRTUALLY_FRAME" val="{&quot;height&quot;:245,&quot;left&quot;:60,&quot;top&quot;:170,&quot;width&quot;:840}"/>
</p:tagLst>
</file>

<file path=ppt/tags/tag132.xml><?xml version="1.0" encoding="utf-8"?>
<p:tagLst xmlns:p="http://schemas.openxmlformats.org/presentationml/2006/main">
  <p:tag name="KSO_WM_DIAGRAM_VIRTUALLY_FRAME" val="{&quot;height&quot;:245,&quot;left&quot;:60,&quot;top&quot;:170,&quot;width&quot;:840}"/>
</p:tagLst>
</file>

<file path=ppt/tags/tag133.xml><?xml version="1.0" encoding="utf-8"?>
<p:tagLst xmlns:p="http://schemas.openxmlformats.org/presentationml/2006/main">
  <p:tag name="KSO_WM_DIAGRAM_VIRTUALLY_FRAME" val="{&quot;height&quot;:245,&quot;left&quot;:60,&quot;top&quot;:170,&quot;width&quot;:840}"/>
</p:tagLst>
</file>

<file path=ppt/tags/tag134.xml><?xml version="1.0" encoding="utf-8"?>
<p:tagLst xmlns:p="http://schemas.openxmlformats.org/presentationml/2006/main">
  <p:tag name="KSO_WM_DIAGRAM_VIRTUALLY_FRAME" val="{&quot;height&quot;:245,&quot;left&quot;:60,&quot;top&quot;:170,&quot;width&quot;:840}"/>
</p:tagLst>
</file>

<file path=ppt/tags/tag135.xml><?xml version="1.0" encoding="utf-8"?>
<p:tagLst xmlns:p="http://schemas.openxmlformats.org/presentationml/2006/main">
  <p:tag name="KSO_WM_DIAGRAM_VIRTUALLY_FRAME" val="{&quot;height&quot;:245,&quot;left&quot;:60,&quot;top&quot;:170,&quot;width&quot;:840}"/>
</p:tagLst>
</file>

<file path=ppt/tags/tag136.xml><?xml version="1.0" encoding="utf-8"?>
<p:tagLst xmlns:p="http://schemas.openxmlformats.org/presentationml/2006/main">
  <p:tag name="KSO_WM_DIAGRAM_VIRTUALLY_FRAME" val="{&quot;height&quot;:245,&quot;left&quot;:60,&quot;top&quot;:170,&quot;width&quot;:840}"/>
</p:tagLst>
</file>

<file path=ppt/tags/tag137.xml><?xml version="1.0" encoding="utf-8"?>
<p:tagLst xmlns:p="http://schemas.openxmlformats.org/presentationml/2006/main">
  <p:tag name="KSO_WM_DIAGRAM_VIRTUALLY_FRAME" val="{&quot;height&quot;:245,&quot;left&quot;:60,&quot;top&quot;:170,&quot;width&quot;:840}"/>
</p:tagLst>
</file>

<file path=ppt/tags/tag138.xml><?xml version="1.0" encoding="utf-8"?>
<p:tagLst xmlns:p="http://schemas.openxmlformats.org/presentationml/2006/main">
  <p:tag name="KSO_WM_DIAGRAM_VIRTUALLY_FRAME" val="{&quot;height&quot;:245,&quot;left&quot;:60,&quot;top&quot;:170,&quot;width&quot;:840}"/>
</p:tagLst>
</file>

<file path=ppt/tags/tag139.xml><?xml version="1.0" encoding="utf-8"?>
<p:tagLst xmlns:p="http://schemas.openxmlformats.org/presentationml/2006/main">
  <p:tag name="KSO_WM_DIAGRAM_VIRTUALLY_FRAME" val="{&quot;height&quot;:245,&quot;left&quot;:60,&quot;top&quot;:170,&quot;width&quot;:840}"/>
</p:tagLst>
</file>

<file path=ppt/tags/tag140.xml><?xml version="1.0" encoding="utf-8"?>
<p:tagLst xmlns:p="http://schemas.openxmlformats.org/presentationml/2006/main">
  <p:tag name="KSO_WM_DIAGRAM_VIRTUALLY_FRAME" val="{&quot;height&quot;:245,&quot;left&quot;:60,&quot;top&quot;:170,&quot;width&quot;:840}"/>
</p:tagLst>
</file>

<file path=ppt/tags/tag141.xml><?xml version="1.0" encoding="utf-8"?>
<p:tagLst xmlns:p="http://schemas.openxmlformats.org/presentationml/2006/main">
  <p:tag name="KSO_WM_DIAGRAM_VIRTUALLY_FRAME" val="{&quot;height&quot;:245,&quot;left&quot;:60,&quot;top&quot;:170,&quot;width&quot;:840}"/>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DIAGRAM_VIRTUALLY_FRAME" val="{&quot;height&quot;:296,&quot;left&quot;:60,&quot;top&quot;:140,&quot;width&quot;:557.25}"/>
</p:tagLst>
</file>

<file path=ppt/tags/tag144.xml><?xml version="1.0" encoding="utf-8"?>
<p:tagLst xmlns:p="http://schemas.openxmlformats.org/presentationml/2006/main">
  <p:tag name="KSO_WM_DIAGRAM_VIRTUALLY_FRAME" val="{&quot;height&quot;:370,&quot;left&quot;:60,&quot;top&quot;:130,&quot;width&quot;:840}"/>
</p:tagLst>
</file>

<file path=ppt/tags/tag145.xml><?xml version="1.0" encoding="utf-8"?>
<p:tagLst xmlns:p="http://schemas.openxmlformats.org/presentationml/2006/main">
  <p:tag name="KSO_WM_DIAGRAM_VIRTUALLY_FRAME" val="{&quot;height&quot;:370,&quot;left&quot;:60,&quot;top&quot;:130,&quot;width&quot;:840}"/>
</p:tagLst>
</file>

<file path=ppt/tags/tag146.xml><?xml version="1.0" encoding="utf-8"?>
<p:tagLst xmlns:p="http://schemas.openxmlformats.org/presentationml/2006/main">
  <p:tag name="KSO_WM_DIAGRAM_VIRTUALLY_FRAME" val="{&quot;height&quot;:370,&quot;left&quot;:60,&quot;top&quot;:130,&quot;width&quot;:840}"/>
</p:tagLst>
</file>

<file path=ppt/tags/tag147.xml><?xml version="1.0" encoding="utf-8"?>
<p:tagLst xmlns:p="http://schemas.openxmlformats.org/presentationml/2006/main">
  <p:tag name="KSO_WM_DIAGRAM_VIRTUALLY_FRAME" val="{&quot;height&quot;:370,&quot;left&quot;:60,&quot;top&quot;:130,&quot;width&quot;:840}"/>
</p:tagLst>
</file>

<file path=ppt/tags/tag148.xml><?xml version="1.0" encoding="utf-8"?>
<p:tagLst xmlns:p="http://schemas.openxmlformats.org/presentationml/2006/main">
  <p:tag name="KSO_WM_DIAGRAM_VIRTUALLY_FRAME" val="{&quot;height&quot;:370,&quot;left&quot;:60,&quot;top&quot;:130,&quot;width&quot;:840}"/>
</p:tagLst>
</file>

<file path=ppt/tags/tag149.xml><?xml version="1.0" encoding="utf-8"?>
<p:tagLst xmlns:p="http://schemas.openxmlformats.org/presentationml/2006/main">
  <p:tag name="KSO_WM_DIAGRAM_VIRTUALLY_FRAME" val="{&quot;height&quot;:370,&quot;left&quot;:60,&quot;top&quot;:130,&quot;width&quot;:840}"/>
</p:tagLst>
</file>

<file path=ppt/tags/tag150.xml><?xml version="1.0" encoding="utf-8"?>
<p:tagLst xmlns:p="http://schemas.openxmlformats.org/presentationml/2006/main">
  <p:tag name="KSO_WM_DIAGRAM_VIRTUALLY_FRAME" val="{&quot;height&quot;:370,&quot;left&quot;:60,&quot;top&quot;:130,&quot;width&quot;:840}"/>
</p:tagLst>
</file>

<file path=ppt/tags/tag151.xml><?xml version="1.0" encoding="utf-8"?>
<p:tagLst xmlns:p="http://schemas.openxmlformats.org/presentationml/2006/main">
  <p:tag name="KSO_WM_DIAGRAM_VIRTUALLY_FRAME" val="{&quot;height&quot;:370,&quot;left&quot;:60,&quot;top&quot;:130,&quot;width&quot;:840}"/>
</p:tagLst>
</file>

<file path=ppt/tags/tag152.xml><?xml version="1.0" encoding="utf-8"?>
<p:tagLst xmlns:p="http://schemas.openxmlformats.org/presentationml/2006/main">
  <p:tag name="KSO_WM_DIAGRAM_VIRTUALLY_FRAME" val="{&quot;height&quot;:370,&quot;left&quot;:60,&quot;top&quot;:130,&quot;width&quot;:840}"/>
</p:tagLst>
</file>

<file path=ppt/tags/tag153.xml><?xml version="1.0" encoding="utf-8"?>
<p:tagLst xmlns:p="http://schemas.openxmlformats.org/presentationml/2006/main">
  <p:tag name="KSO_WM_DIAGRAM_VIRTUALLY_FRAME" val="{&quot;height&quot;:370,&quot;left&quot;:60,&quot;top&quot;:130,&quot;width&quot;:840}"/>
</p:tagLst>
</file>

<file path=ppt/tags/tag154.xml><?xml version="1.0" encoding="utf-8"?>
<p:tagLst xmlns:p="http://schemas.openxmlformats.org/presentationml/2006/main">
  <p:tag name="KSO_WM_DIAGRAM_VIRTUALLY_FRAME" val="{&quot;height&quot;:370,&quot;left&quot;:60,&quot;top&quot;:130,&quot;width&quot;:840}"/>
</p:tagLst>
</file>

<file path=ppt/tags/tag155.xml><?xml version="1.0" encoding="utf-8"?>
<p:tagLst xmlns:p="http://schemas.openxmlformats.org/presentationml/2006/main">
  <p:tag name="KSO_WM_DIAGRAM_VIRTUALLY_FRAME" val="{&quot;height&quot;:370,&quot;left&quot;:60,&quot;top&quot;:130,&quot;width&quot;:840}"/>
</p:tagLst>
</file>

<file path=ppt/tags/tag156.xml><?xml version="1.0" encoding="utf-8"?>
<p:tagLst xmlns:p="http://schemas.openxmlformats.org/presentationml/2006/main">
  <p:tag name="KSO_WM_DIAGRAM_VIRTUALLY_FRAME" val="{&quot;height&quot;:370,&quot;left&quot;:60,&quot;top&quot;:130,&quot;width&quot;:840}"/>
</p:tagLst>
</file>

<file path=ppt/tags/tag157.xml><?xml version="1.0" encoding="utf-8"?>
<p:tagLst xmlns:p="http://schemas.openxmlformats.org/presentationml/2006/main">
  <p:tag name="KSO_WM_DIAGRAM_VIRTUALLY_FRAME" val="{&quot;height&quot;:370,&quot;left&quot;:60,&quot;top&quot;:130,&quot;width&quot;:840}"/>
</p:tagLst>
</file>

<file path=ppt/tags/tag158.xml><?xml version="1.0" encoding="utf-8"?>
<p:tagLst xmlns:p="http://schemas.openxmlformats.org/presentationml/2006/main">
  <p:tag name="KSO_WM_DIAGRAM_VIRTUALLY_FRAME" val="{&quot;height&quot;:370,&quot;left&quot;:60,&quot;top&quot;:130,&quot;width&quot;:840}"/>
</p:tagLst>
</file>

<file path=ppt/tags/tag159.xml><?xml version="1.0" encoding="utf-8"?>
<p:tagLst xmlns:p="http://schemas.openxmlformats.org/presentationml/2006/main">
  <p:tag name="KSO_WM_DIAGRAM_VIRTUALLY_FRAME" val="{&quot;height&quot;:370,&quot;left&quot;:60,&quot;top&quot;:130,&quot;width&quot;:840}"/>
</p:tagLst>
</file>

<file path=ppt/tags/tag160.xml><?xml version="1.0" encoding="utf-8"?>
<p:tagLst xmlns:p="http://schemas.openxmlformats.org/presentationml/2006/main">
  <p:tag name="KSO_WM_DIAGRAM_VIRTUALLY_FRAME" val="{&quot;height&quot;:370,&quot;left&quot;:60,&quot;top&quot;:130,&quot;width&quot;:840}"/>
</p:tagLst>
</file>

<file path=ppt/tags/tag161.xml><?xml version="1.0" encoding="utf-8"?>
<p:tagLst xmlns:p="http://schemas.openxmlformats.org/presentationml/2006/main">
  <p:tag name="KSO_WM_DIAGRAM_VIRTUALLY_FRAME" val="{&quot;height&quot;:370,&quot;left&quot;:60,&quot;top&quot;:130,&quot;width&quot;:840}"/>
</p:tagLst>
</file>

<file path=ppt/tags/tag162.xml><?xml version="1.0" encoding="utf-8"?>
<p:tagLst xmlns:p="http://schemas.openxmlformats.org/presentationml/2006/main">
  <p:tag name="KSO_WM_DIAGRAM_VIRTUALLY_FRAME" val="{&quot;height&quot;:370,&quot;left&quot;:60,&quot;top&quot;:130,&quot;width&quot;:840}"/>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DIAGRAM_VIRTUALLY_FRAME" val="{&quot;height&quot;:296,&quot;left&quot;:60,&quot;top&quot;:140,&quot;width&quot;:557.25}"/>
</p:tagLst>
</file>

<file path=ppt/tags/tag165.xml><?xml version="1.0" encoding="utf-8"?>
<p:tagLst xmlns:p="http://schemas.openxmlformats.org/presentationml/2006/main">
  <p:tag name="KSO_WM_DIAGRAM_VIRTUALLY_FRAME" val="{&quot;height&quot;:340,&quot;left&quot;:60,&quot;top&quot;:130,&quot;width&quot;:840}"/>
</p:tagLst>
</file>

<file path=ppt/tags/tag166.xml><?xml version="1.0" encoding="utf-8"?>
<p:tagLst xmlns:p="http://schemas.openxmlformats.org/presentationml/2006/main">
  <p:tag name="KSO_WM_DIAGRAM_VIRTUALLY_FRAME" val="{&quot;height&quot;:340,&quot;left&quot;:60,&quot;top&quot;:130,&quot;width&quot;:840}"/>
</p:tagLst>
</file>

<file path=ppt/tags/tag167.xml><?xml version="1.0" encoding="utf-8"?>
<p:tagLst xmlns:p="http://schemas.openxmlformats.org/presentationml/2006/main">
  <p:tag name="KSO_WM_DIAGRAM_VIRTUALLY_FRAME" val="{&quot;height&quot;:340,&quot;left&quot;:60,&quot;top&quot;:130,&quot;width&quot;:840}"/>
</p:tagLst>
</file>

<file path=ppt/tags/tag168.xml><?xml version="1.0" encoding="utf-8"?>
<p:tagLst xmlns:p="http://schemas.openxmlformats.org/presentationml/2006/main">
  <p:tag name="KSO_WM_DIAGRAM_VIRTUALLY_FRAME" val="{&quot;height&quot;:340,&quot;left&quot;:60,&quot;top&quot;:130,&quot;width&quot;:840}"/>
</p:tagLst>
</file>

<file path=ppt/tags/tag169.xml><?xml version="1.0" encoding="utf-8"?>
<p:tagLst xmlns:p="http://schemas.openxmlformats.org/presentationml/2006/main">
  <p:tag name="KSO_WM_DIAGRAM_VIRTUALLY_FRAME" val="{&quot;height&quot;:340,&quot;left&quot;:60,&quot;top&quot;:130,&quot;width&quot;:840}"/>
</p:tagLst>
</file>

<file path=ppt/tags/tag170.xml><?xml version="1.0" encoding="utf-8"?>
<p:tagLst xmlns:p="http://schemas.openxmlformats.org/presentationml/2006/main">
  <p:tag name="KSO_WM_DIAGRAM_VIRTUALLY_FRAME" val="{&quot;height&quot;:340,&quot;left&quot;:60,&quot;top&quot;:130,&quot;width&quot;:840}"/>
</p:tagLst>
</file>

<file path=ppt/tags/tag171.xml><?xml version="1.0" encoding="utf-8"?>
<p:tagLst xmlns:p="http://schemas.openxmlformats.org/presentationml/2006/main">
  <p:tag name="KSO_WM_DIAGRAM_VIRTUALLY_FRAME" val="{&quot;height&quot;:340,&quot;left&quot;:60,&quot;top&quot;:130,&quot;width&quot;:840}"/>
</p:tagLst>
</file>

<file path=ppt/tags/tag172.xml><?xml version="1.0" encoding="utf-8"?>
<p:tagLst xmlns:p="http://schemas.openxmlformats.org/presentationml/2006/main">
  <p:tag name="KSO_WM_DIAGRAM_VIRTUALLY_FRAME" val="{&quot;height&quot;:340,&quot;left&quot;:60,&quot;top&quot;:130,&quot;width&quot;:840}"/>
</p:tagLst>
</file>

<file path=ppt/tags/tag173.xml><?xml version="1.0" encoding="utf-8"?>
<p:tagLst xmlns:p="http://schemas.openxmlformats.org/presentationml/2006/main">
  <p:tag name="KSO_WM_DIAGRAM_VIRTUALLY_FRAME" val="{&quot;height&quot;:340,&quot;left&quot;:60,&quot;top&quot;:130,&quot;width&quot;:840}"/>
</p:tagLst>
</file>

<file path=ppt/tags/tag174.xml><?xml version="1.0" encoding="utf-8"?>
<p:tagLst xmlns:p="http://schemas.openxmlformats.org/presentationml/2006/main">
  <p:tag name="KSO_WM_DIAGRAM_VIRTUALLY_FRAME" val="{&quot;height&quot;:340,&quot;left&quot;:60,&quot;top&quot;:130,&quot;width&quot;:840}"/>
</p:tagLst>
</file>

<file path=ppt/tags/tag175.xml><?xml version="1.0" encoding="utf-8"?>
<p:tagLst xmlns:p="http://schemas.openxmlformats.org/presentationml/2006/main">
  <p:tag name="KSO_WM_DIAGRAM_VIRTUALLY_FRAME" val="{&quot;height&quot;:340,&quot;left&quot;:60,&quot;top&quot;:130,&quot;width&quot;:840}"/>
</p:tagLst>
</file>

<file path=ppt/tags/tag176.xml><?xml version="1.0" encoding="utf-8"?>
<p:tagLst xmlns:p="http://schemas.openxmlformats.org/presentationml/2006/main">
  <p:tag name="KSO_WM_DIAGRAM_VIRTUALLY_FRAME" val="{&quot;height&quot;:340,&quot;left&quot;:60,&quot;top&quot;:130,&quot;width&quot;:840}"/>
</p:tagLst>
</file>

<file path=ppt/tags/tag177.xml><?xml version="1.0" encoding="utf-8"?>
<p:tagLst xmlns:p="http://schemas.openxmlformats.org/presentationml/2006/main">
  <p:tag name="KSO_WM_DIAGRAM_VIRTUALLY_FRAME" val="{&quot;height&quot;:370,&quot;left&quot;:60,&quot;top&quot;:130,&quot;width&quot;:840}"/>
</p:tagLst>
</file>

<file path=ppt/tags/tag178.xml><?xml version="1.0" encoding="utf-8"?>
<p:tagLst xmlns:p="http://schemas.openxmlformats.org/presentationml/2006/main">
  <p:tag name="KSO_WM_DIAGRAM_VIRTUALLY_FRAME" val="{&quot;height&quot;:370,&quot;left&quot;:60,&quot;top&quot;:130,&quot;width&quot;:840}"/>
</p:tagLst>
</file>

<file path=ppt/tags/tag179.xml><?xml version="1.0" encoding="utf-8"?>
<p:tagLst xmlns:p="http://schemas.openxmlformats.org/presentationml/2006/main">
  <p:tag name="KSO_WM_DIAGRAM_VIRTUALLY_FRAME" val="{&quot;height&quot;:370,&quot;left&quot;:60,&quot;top&quot;:130,&quot;width&quot;:840}"/>
</p:tagLst>
</file>

<file path=ppt/tags/tag180.xml><?xml version="1.0" encoding="utf-8"?>
<p:tagLst xmlns:p="http://schemas.openxmlformats.org/presentationml/2006/main">
  <p:tag name="KSO_WM_DIAGRAM_VIRTUALLY_FRAME" val="{&quot;height&quot;:370,&quot;left&quot;:60,&quot;top&quot;:130,&quot;width&quot;:840}"/>
</p:tagLst>
</file>

<file path=ppt/tags/tag181.xml><?xml version="1.0" encoding="utf-8"?>
<p:tagLst xmlns:p="http://schemas.openxmlformats.org/presentationml/2006/main">
  <p:tag name="KSO_WM_DIAGRAM_VIRTUALLY_FRAME" val="{&quot;height&quot;:370,&quot;left&quot;:60,&quot;top&quot;:130,&quot;width&quot;:840}"/>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DIAGRAM_VIRTUALLY_FRAME" val="{&quot;height&quot;:296,&quot;left&quot;:60,&quot;top&quot;:140,&quot;width&quot;:557.25}"/>
</p:tagLst>
</file>

<file path=ppt/tags/tag184.xml><?xml version="1.0" encoding="utf-8"?>
<p:tagLst xmlns:p="http://schemas.openxmlformats.org/presentationml/2006/main">
  <p:tag name="KSO_WM_DIAGRAM_VIRTUALLY_FRAME" val="{&quot;height&quot;:290,&quot;left&quot;:490,&quot;top&quot;:175,&quot;width&quot;:430}"/>
</p:tagLst>
</file>

<file path=ppt/tags/tag185.xml><?xml version="1.0" encoding="utf-8"?>
<p:tagLst xmlns:p="http://schemas.openxmlformats.org/presentationml/2006/main">
  <p:tag name="KSO_WM_DIAGRAM_VIRTUALLY_FRAME" val="{&quot;height&quot;:290,&quot;left&quot;:490,&quot;top&quot;:175,&quot;width&quot;:430}"/>
</p:tagLst>
</file>

<file path=ppt/tags/tag186.xml><?xml version="1.0" encoding="utf-8"?>
<p:tagLst xmlns:p="http://schemas.openxmlformats.org/presentationml/2006/main">
  <p:tag name="KSO_WM_DIAGRAM_VIRTUALLY_FRAME" val="{&quot;height&quot;:290,&quot;left&quot;:490,&quot;top&quot;:175,&quot;width&quot;:430}"/>
</p:tagLst>
</file>

<file path=ppt/tags/tag187.xml><?xml version="1.0" encoding="utf-8"?>
<p:tagLst xmlns:p="http://schemas.openxmlformats.org/presentationml/2006/main">
  <p:tag name="KSO_WM_DIAGRAM_VIRTUALLY_FRAME" val="{&quot;height&quot;:290,&quot;left&quot;:490,&quot;top&quot;:175,&quot;width&quot;:430}"/>
</p:tagLst>
</file>

<file path=ppt/tags/tag188.xml><?xml version="1.0" encoding="utf-8"?>
<p:tagLst xmlns:p="http://schemas.openxmlformats.org/presentationml/2006/main">
  <p:tag name="KSO_WM_DIAGRAM_VIRTUALLY_FRAME" val="{&quot;height&quot;:290,&quot;left&quot;:490,&quot;top&quot;:175,&quot;width&quot;:430}"/>
</p:tagLst>
</file>

<file path=ppt/tags/tag189.xml><?xml version="1.0" encoding="utf-8"?>
<p:tagLst xmlns:p="http://schemas.openxmlformats.org/presentationml/2006/main">
  <p:tag name="KSO_WM_DIAGRAM_VIRTUALLY_FRAME" val="{&quot;height&quot;:290,&quot;left&quot;:490,&quot;top&quot;:175,&quot;width&quot;:430}"/>
</p:tagLst>
</file>

<file path=ppt/tags/tag190.xml><?xml version="1.0" encoding="utf-8"?>
<p:tagLst xmlns:p="http://schemas.openxmlformats.org/presentationml/2006/main">
  <p:tag name="KSO_WM_DIAGRAM_VIRTUALLY_FRAME" val="{&quot;height&quot;:290,&quot;left&quot;:490,&quot;top&quot;:175,&quot;width&quot;:430}"/>
</p:tagLst>
</file>

<file path=ppt/tags/tag191.xml><?xml version="1.0" encoding="utf-8"?>
<p:tagLst xmlns:p="http://schemas.openxmlformats.org/presentationml/2006/main">
  <p:tag name="KSO_WM_DIAGRAM_VIRTUALLY_FRAME" val="{&quot;height&quot;:290,&quot;left&quot;:490,&quot;top&quot;:175,&quot;width&quot;:430}"/>
</p:tagLst>
</file>

<file path=ppt/tags/tag192.xml><?xml version="1.0" encoding="utf-8"?>
<p:tagLst xmlns:p="http://schemas.openxmlformats.org/presentationml/2006/main">
  <p:tag name="KSO_WM_DIAGRAM_VIRTUALLY_FRAME" val="{&quot;height&quot;:290,&quot;left&quot;:490,&quot;top&quot;:175,&quot;width&quot;:430}"/>
</p:tagLst>
</file>

<file path=ppt/tags/tag193.xml><?xml version="1.0" encoding="utf-8"?>
<p:tagLst xmlns:p="http://schemas.openxmlformats.org/presentationml/2006/main">
  <p:tag name="KSO_WM_DIAGRAM_VIRTUALLY_FRAME" val="{&quot;height&quot;:290,&quot;left&quot;:490,&quot;top&quot;:175,&quot;width&quot;:430}"/>
</p:tagLst>
</file>

<file path=ppt/tags/tag194.xml><?xml version="1.0" encoding="utf-8"?>
<p:tagLst xmlns:p="http://schemas.openxmlformats.org/presentationml/2006/main">
  <p:tag name="KSO_WM_DIAGRAM_VIRTUALLY_FRAME" val="{&quot;height&quot;:290,&quot;left&quot;:490,&quot;top&quot;:175,&quot;width&quot;:430}"/>
</p:tagLst>
</file>

<file path=ppt/tags/tag195.xml><?xml version="1.0" encoding="utf-8"?>
<p:tagLst xmlns:p="http://schemas.openxmlformats.org/presentationml/2006/main">
  <p:tag name="KSO_WM_DIAGRAM_VIRTUALLY_FRAME" val="{&quot;height&quot;:290,&quot;left&quot;:490,&quot;top&quot;:175,&quot;width&quot;:430}"/>
</p:tagLst>
</file>

<file path=ppt/tags/tag196.xml><?xml version="1.0" encoding="utf-8"?>
<p:tagLst xmlns:p="http://schemas.openxmlformats.org/presentationml/2006/main">
  <p:tag name="KSO_WM_DIAGRAM_VIRTUALLY_FRAME" val="{&quot;height&quot;:290,&quot;left&quot;:490,&quot;top&quot;:175,&quot;width&quot;:430}"/>
</p:tagLst>
</file>

<file path=ppt/tags/tag197.xml><?xml version="1.0" encoding="utf-8"?>
<p:tagLst xmlns:p="http://schemas.openxmlformats.org/presentationml/2006/main">
  <p:tag name="KSO_WM_DIAGRAM_VIRTUALLY_FRAME" val="{&quot;height&quot;:290,&quot;left&quot;:490,&quot;top&quot;:175,&quot;width&quot;:430}"/>
</p:tagLst>
</file>

<file path=ppt/tags/tag198.xml><?xml version="1.0" encoding="utf-8"?>
<p:tagLst xmlns:p="http://schemas.openxmlformats.org/presentationml/2006/main">
  <p:tag name="KSO_WM_DIAGRAM_VIRTUALLY_FRAME" val="{&quot;height&quot;:290,&quot;left&quot;:490,&quot;top&quot;:175,&quot;width&quot;:430}"/>
</p:tagLst>
</file>

<file path=ppt/tags/tag199.xml><?xml version="1.0" encoding="utf-8"?>
<p:tagLst xmlns:p="http://schemas.openxmlformats.org/presentationml/2006/main">
  <p:tag name="KSO_WM_DIAGRAM_VIRTUALLY_FRAME" val="{&quot;height&quot;:290,&quot;left&quot;:490,&quot;top&quot;:175,&quot;width&quot;:430}"/>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DIAGRAM_VIRTUALLY_FRAME" val="{&quot;height&quot;:296,&quot;left&quot;:60,&quot;top&quot;:140,&quot;width&quot;:557.25}"/>
</p:tagLst>
</file>

<file path=ppt/tags/tag207.xml><?xml version="1.0" encoding="utf-8"?>
<p:tagLst xmlns:p="http://schemas.openxmlformats.org/presentationml/2006/main">
  <p:tag name="commondata" val="eyJoZGlkIjoiOGYwOTUwMDQ1MzdlMDdmYWMxMjFkOWQ2NDQwNjA4ODYifQ=="/>
  <p:tag name="resource_record_key" val="{&quot;8&quot;:[4697266,2047550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2.xml.rels><?xml version="1.0" encoding="UTF-8" standalone="yes"?>
<Relationships xmlns="http://schemas.openxmlformats.org/package/2006/relationships"><Relationship Id="rId1" Type="http://schemas.openxmlformats.org/officeDocument/2006/relationships/customXmlProps" Target="itemProps203.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204.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205.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206.xml"/></Relationships>
</file>

<file path=customXml/item1.xml><?xml version="1.0" encoding="utf-8"?>
<s:customData xmlns="http://www.wps.cn/officeDocument/2013/wpsCustomData" xmlns:s="http://www.wps.cn/officeDocument/2013/wpsCustomData">
  <extobjs>
    <extobj name="F35B0BEE-F18A-47BB-8FCB-E00DA2F2635D-1">
      <extobjdata type="F35B0BEE-F18A-47BB-8FCB-E00DA2F2635D" data="ewoJIkRlc2lnbklkIiA6ICIxNzBmZDIzOS1mNDA5LTRmY2MtOGNiYS1kNmM4ODdiY2UzOTIiCn0K"/>
    </extobj>
  </extobjs>
</s:customData>
</file>

<file path=customXml/item2.xml>��
</file>

<file path=customXml/item3.xml>��
</file>

<file path=customXml/item4.xml>��
</file>

<file path=customXml/item5.xml>��
</file>

<file path=customXml/itemProps202.xml><?xml version="1.0" encoding="utf-8"?>
<ds:datastoreItem xmlns:ds="http://schemas.openxmlformats.org/officeDocument/2006/customXml" ds:itemID="s:customData">
  <ds:schemaRefs>
    <ds:schemaRef ds:uri="http://www.wps.cn/officeDocument/2013/wpsCustomData"/>
  </ds:schemaRefs>
</ds:datastoreItem>
</file>

<file path=customXml/itemProps203.xml><?xml version="1.0" encoding="utf-8"?>
<ds:datastoreItem xmlns:ds="http://schemas.openxmlformats.org/officeDocument/2006/customXml" ds:itemID="{cd78c68d-33b1-4bc4-a72e-d0514624f1f6}">
  <ds:schemaRefs/>
</ds:datastoreItem>
</file>

<file path=customXml/itemProps204.xml><?xml version="1.0" encoding="utf-8"?>
<ds:datastoreItem xmlns:ds="http://schemas.openxmlformats.org/officeDocument/2006/customXml" ds:itemID="{99455094-5ef7-4e9e-8349-3c93fc239404}">
  <ds:schemaRefs/>
</ds:datastoreItem>
</file>

<file path=customXml/itemProps205.xml><?xml version="1.0" encoding="utf-8"?>
<ds:datastoreItem xmlns:ds="http://schemas.openxmlformats.org/officeDocument/2006/customXml" ds:itemID="{4723350a-4215-4408-9647-47fc87775f7d}">
  <ds:schemaRefs/>
</ds:datastoreItem>
</file>

<file path=customXml/itemProps206.xml><?xml version="1.0" encoding="utf-8"?>
<ds:datastoreItem xmlns:ds="http://schemas.openxmlformats.org/officeDocument/2006/customXml" ds:itemID="{52d73fa5-c67c-4b54-8f87-c71941cfdd12}">
  <ds:schemaRefs/>
</ds:datastoreItem>
</file>

<file path=docProps/app.xml><?xml version="1.0" encoding="utf-8"?>
<Properties xmlns="http://schemas.openxmlformats.org/officeDocument/2006/extended-properties" xmlns:vt="http://schemas.openxmlformats.org/officeDocument/2006/docPropsVTypes">
  <TotalTime>0</TotalTime>
  <Words>6533</Words>
  <Application>WPS 演示</Application>
  <PresentationFormat/>
  <Paragraphs>392</Paragraphs>
  <Slides>27</Slides>
  <Notes>0</Notes>
  <HiddenSlides>0</HiddenSlides>
  <MMClips>0</MMClips>
  <ScaleCrop>false</ScaleCrop>
  <HeadingPairs>
    <vt:vector size="6" baseType="variant">
      <vt:variant>
        <vt:lpstr>已用的字体</vt:lpstr>
      </vt:variant>
      <vt:variant>
        <vt:i4>10</vt:i4>
      </vt:variant>
      <vt:variant>
        <vt:lpstr>主题</vt:lpstr>
      </vt:variant>
      <vt:variant>
        <vt:i4>9</vt:i4>
      </vt:variant>
      <vt:variant>
        <vt:lpstr>幻灯片标题</vt:lpstr>
      </vt:variant>
      <vt:variant>
        <vt:i4>27</vt:i4>
      </vt:variant>
    </vt:vector>
  </HeadingPairs>
  <TitlesOfParts>
    <vt:vector size="46" baseType="lpstr">
      <vt:lpstr>Arial</vt:lpstr>
      <vt:lpstr>宋体</vt:lpstr>
      <vt:lpstr>Wingdings</vt:lpstr>
      <vt:lpstr>Arial</vt:lpstr>
      <vt:lpstr>微软雅黑</vt:lpstr>
      <vt:lpstr>Noto Sans SC</vt:lpstr>
      <vt:lpstr>思源黑体 Regular</vt:lpstr>
      <vt:lpstr>Arial Unicode MS</vt:lpstr>
      <vt:lpstr>MS PGothic</vt:lpstr>
      <vt:lpstr>黑体</vt:lpstr>
      <vt:lpstr>Office 主题​​</vt:lpstr>
      <vt:lpstr>默认主题</vt:lpstr>
      <vt:lpstr>1_默认主题</vt:lpstr>
      <vt:lpstr>3_默认主题</vt:lpstr>
      <vt:lpstr>4_默认主题</vt:lpstr>
      <vt:lpstr>5_默认主题</vt:lpstr>
      <vt:lpstr>6_默认主题</vt:lpstr>
      <vt:lpstr>7_默认主题</vt:lpstr>
      <vt:lpstr>8_默认主题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明眸°　Suns</cp:lastModifiedBy>
  <cp:revision>23</cp:revision>
  <dcterms:created xsi:type="dcterms:W3CDTF">2026-08-11T15:04:00Z</dcterms:created>
  <dcterms:modified xsi:type="dcterms:W3CDTF">2026-08-12T06:44:54Z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{"Label":"1","ContentProducer":"001191110102MACQD9K64010000","ProduceID":"7672781655090531535","ReservedCode1":"","ContentPropagator":"","PropagateID":"","ReservedCode2":""}</vt:lpwstr>
  </property>
  <property fmtid="{D5CDD505-2E9C-101B-9397-08002B2CF9AE}" pid="3" name="KSOProductBuildVer">
    <vt:lpwstr>2052-12.1.0.17133</vt:lpwstr>
  </property>
  <property fmtid="{D5CDD505-2E9C-101B-9397-08002B2CF9AE}" pid="4" name="ICV">
    <vt:lpwstr>9CF7B2AB9FEF4CA2A734DC4A6110EB9A_13</vt:lpwstr>
  </property>
</Properties>
</file>